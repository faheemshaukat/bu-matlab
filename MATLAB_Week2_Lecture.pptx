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recap: last week we covered the MATLAB desktop, variables, and basic math syntax. This week is the true foundation of MATLAB — vectors and matrices. Keep pace: break at 3:20, labs from 3:58, wrap up exactly at 4:30.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MATLAB, every variable is inherently an array. If an array has only a single row, it's a row vector; a single column makes it a column vector; multiple rows and columns make it a 2D matrix. The total number of elements is always rows multiplied by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don't need to manually specify data types. Numerical values are automatically 'double' precision (8 bytes/element); text in single quotes becomes a 'char' array. Variable names must start with a letter, contain no spaces, and are case-sensitive.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Enclose values in square brackets. Spaces or commas form a horizontal row vector; semicolons form a vertical column vector. The prime transpose operator converts a row vector into a column vector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'1:4' generates numbers from 1 to 4. A second colon defines a custom step size: '1:10:100' starts at 1 and steps by 10. Negative step values generate decreasing sequences, such as '10:-2:0'.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spaces and semicolons inside square brackets to build a 2D matrix: spaces separate row elements, semicolons move to the next row. magic(N) automatically generates an N-by-N matrix where every row, column, and main diagonal sums to the same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does MATLAB map a 2D grid into 1D memory? Column-Major Order: it stores the entire first column top-to-bottom, then the second column, and so on. For a 3x2 matrix, memory stores 1, 3, 5 first, then 2, 4, 6. This explains how linear indexing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two ways to access a matrix element. Subscript indexing A(row, col) is the most intuitive — A(1,1) is the top-left element. Linear indexing A(k) uses a single index that counts straight down the first column, then the second, following column-major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standalone colon inside indexing parentheses means 'all'. A(:, 2) selects all rows in column 2, extracting the entire second column. A(1, :) selects row 1 across all columns, extracting the entire first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index ranges with the colon operator to extract a sub-matrix block. A(2:3, 1:2) extracts rows 2-3 across columns 1-2. The 'end' keyword dynamically identifies the last row or column, so A(2:end, 2:end) extracts everything from row/col 2 onward.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modify specific elements by assigning new values to a sub-matrix index, but the dimensions on both sides of the equals sign must match exactly. Assigning a value beyond current matrix dimensions automatically expands the matrix and zero-pads all new unassigned cells.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10-minute break, 3:20 PM to 3:30 PM. Resume promptly at 3:30 with file data initialization (textread, xlsread, imread, .mat).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direct assignment and keyboard input, the third way to initialize variables is reading external files. textread() loads a numeric text file into MATLAB. If the file contains words, add the '%s' format specifier so MATLAB parses the characters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import spreadsheet data using xlsread(), specifying the file name and cell range like 'C4:C19'. Once imported, these columns become standard MATLAB vectors you can plot immediately with plot(V, 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MATLAB processes images and audio as numerical matrices too. imread() loads a photo into a pixel intensity matrix, viewable with imshow(). waveread() imports audio as a waveform vector. save()/load() store and restore entire workspace variable sets via .mat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well logging, measurements like gamma ray or resistivity are recorded at regular depth steps. We store this as a 2D matrix: Column 1 = depth, Column 2 = log reading. Colon indexing extracts columns as vectors or slices rows to isolate a target reservoir 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2D seismic record is a matrix where each column is one geophone trace and each row is a time sample. seismic_data(:, 5) extracts the entire reflection trace for geophone 5. seismic_data(1:50, :) slices the early travel-time arrival window across all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 a 4x4 matrix with values 1-16. Extract Row 3, Column 2 using subscript indexing, then the same element via linear indexing A(7) — counting down column 1 (1,5,9,13), then column 2 (2,6,10), reaching index 7 at value 10. Finally modify element (4,4) to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a 4x4 magic square using magic(4), extract its central 2x2 block into a new variable, then overwrite those central cells in the original matrix with zeros. Make sure the replacement block matches the target sub-matrix's dimensions.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voltage and current columns from an Excel spreadsheet using xlsread(), then generate a labeled plot. This is the exact workflow used to load and plot well logs and seismic profiles.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Arrays are the core data structure in MATLAB. We mastered creating vectors and matrices, referencing elements via subscript and linear column-major indexing, slicing sub-matrices, and initializing variables from external data files. Complete Labs 1-3. Next week: matrix algebra, concatenation, and element-by-element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71A33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40080"/>
            <a:ext cx="1463040" cy="14630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9A227"/>
            </a:solidFill>
            <a:prstDash val="solid"/>
          </a:ln>
        </p:spPr>
      </p:sp>
      <p:pic>
        <p:nvPicPr>
          <p:cNvPr id="4" name="Image 0" descr="/home/claude/bahri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795528"/>
            <a:ext cx="1152144" cy="1152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514600" y="7772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514600" y="117043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Earth &amp; Environmental Sciences (Geophysics)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 321 / GEL 321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with MATLAB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Vectors, Matrices, Array Indexing &amp; File Data Initialization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22960" y="539496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12335A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55321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Dr. Faheem Shaukat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7D4E3"/>
                </a:solidFill>
              </a:rPr>
              <a:t>Visiting Faculty Member — Department of Software Engineering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2200" y="5394960"/>
            <a:ext cx="5166360" cy="1143000"/>
          </a:xfrm>
          <a:prstGeom prst="roundRect">
            <a:avLst>
              <a:gd name="adj" fmla="val 9600"/>
            </a:avLst>
          </a:prstGeom>
          <a:solidFill>
            <a:srgbClr val="12335A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55321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A227"/>
                </a:solidFill>
              </a:rPr>
              <a:t>From Scalars to Arrays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C7D4E3"/>
                </a:solidFill>
              </a:rPr>
              <a:t>Vectors, matrices, indexing &amp; importing real geophysics datasets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2:30 PM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Today’s 2-Hour Class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2:30–4:30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43484"/>
          </a:xfrm>
          <a:prstGeom prst="roundRect">
            <a:avLst>
              <a:gd name="adj" fmla="val 16495"/>
            </a:avLst>
          </a:prstGeom>
          <a:solidFill>
            <a:srgbClr val="E9EE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14630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2:30 PM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554480"/>
            <a:ext cx="72237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&amp; What Are Arrays?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92640" y="1554480"/>
            <a:ext cx="1737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71116"/>
            <a:ext cx="11064240" cy="443484"/>
          </a:xfrm>
          <a:prstGeom prst="roundRect">
            <a:avLst>
              <a:gd name="adj" fmla="val 16495"/>
            </a:avLst>
          </a:prstGeom>
          <a:solidFill>
            <a:srgbClr val="E9EE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071116"/>
            <a:ext cx="14630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2:40 PM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071116"/>
            <a:ext cx="72237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Vectors &amp; Sequences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2071116"/>
            <a:ext cx="1737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587752"/>
            <a:ext cx="11064240" cy="443484"/>
          </a:xfrm>
          <a:prstGeom prst="roundRect">
            <a:avLst>
              <a:gd name="adj" fmla="val 16495"/>
            </a:avLst>
          </a:prstGeom>
          <a:solidFill>
            <a:srgbClr val="E9EE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587752"/>
            <a:ext cx="14630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2:50 PM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2587752"/>
            <a:ext cx="72237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Matrices &amp; Memory Layout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2587752"/>
            <a:ext cx="1737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104388"/>
            <a:ext cx="11064240" cy="443484"/>
          </a:xfrm>
          <a:prstGeom prst="roundRect">
            <a:avLst>
              <a:gd name="adj" fmla="val 16495"/>
            </a:avLst>
          </a:prstGeom>
          <a:solidFill>
            <a:srgbClr val="E9EE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104388"/>
            <a:ext cx="14630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3:00 PM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104388"/>
            <a:ext cx="72237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Sub-Matrix Slicing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3104388"/>
            <a:ext cx="1737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621024"/>
            <a:ext cx="11064240" cy="443484"/>
          </a:xfrm>
          <a:prstGeom prst="roundRect">
            <a:avLst>
              <a:gd name="adj" fmla="val 16495"/>
            </a:avLst>
          </a:prstGeom>
          <a:solidFill>
            <a:srgbClr val="FCEFC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3621024"/>
            <a:ext cx="14630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3:20 PM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3621024"/>
            <a:ext cx="72237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BREAK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3621024"/>
            <a:ext cx="1737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137660"/>
            <a:ext cx="11064240" cy="443484"/>
          </a:xfrm>
          <a:prstGeom prst="roundRect">
            <a:avLst>
              <a:gd name="adj" fmla="val 16495"/>
            </a:avLst>
          </a:prstGeom>
          <a:solidFill>
            <a:srgbClr val="E9EEF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137660"/>
            <a:ext cx="14630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3:30 PM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377440" y="4137660"/>
            <a:ext cx="72237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External Data Files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4137660"/>
            <a:ext cx="1737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654296"/>
            <a:ext cx="11064240" cy="443484"/>
          </a:xfrm>
          <a:prstGeom prst="roundRect">
            <a:avLst>
              <a:gd name="adj" fmla="val 16495"/>
            </a:avLst>
          </a:prstGeom>
          <a:solidFill>
            <a:srgbClr val="E9EEF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4654296"/>
            <a:ext cx="14630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3:46 PM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377440" y="4654296"/>
            <a:ext cx="72237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Geophysics Applications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4654296"/>
            <a:ext cx="1737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170932"/>
            <a:ext cx="11064240" cy="443484"/>
          </a:xfrm>
          <a:prstGeom prst="roundRect">
            <a:avLst>
              <a:gd name="adj" fmla="val 16495"/>
            </a:avLst>
          </a:prstGeom>
          <a:solidFill>
            <a:srgbClr val="E9EEF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170932"/>
            <a:ext cx="14630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3:58 PM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377440" y="5170932"/>
            <a:ext cx="72237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 1, 2 &amp; 3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692640" y="5170932"/>
            <a:ext cx="1737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min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5687568"/>
            <a:ext cx="11064240" cy="443484"/>
          </a:xfrm>
          <a:prstGeom prst="roundRect">
            <a:avLst>
              <a:gd name="adj" fmla="val 16495"/>
            </a:avLst>
          </a:prstGeom>
          <a:solidFill>
            <a:srgbClr val="E9EEF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77240" y="5687568"/>
            <a:ext cx="14630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4:24 PM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2377440" y="5687568"/>
            <a:ext cx="72237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Summary &amp; Deliverables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692640" y="5687568"/>
            <a:ext cx="1737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101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Array? Vectors &amp; Matrices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2:33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is the foundational data unit in every MATLAB program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is data organized into rows and columns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Vector: 1 row × n columns (1-D)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Vector: m rows × 1 column (1-D)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m rows × n columns (2-D)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elements = Rows × Columns (a 3×3 matrix has 9 elements)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43900" y="18745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439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258300" y="2377440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2651760"/>
            <a:ext cx="4160520" cy="438912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78040" y="265176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(1-D)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78040" y="3172968"/>
            <a:ext cx="1988820" cy="502920"/>
          </a:xfrm>
          <a:prstGeom prst="roundRect">
            <a:avLst>
              <a:gd name="adj" fmla="val 14545"/>
            </a:avLst>
          </a:prstGeom>
          <a:solidFill>
            <a:srgbClr val="DCE6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78040" y="3172968"/>
            <a:ext cx="1988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 1×n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49740" y="3172968"/>
            <a:ext cx="1988820" cy="502920"/>
          </a:xfrm>
          <a:prstGeom prst="roundRect">
            <a:avLst>
              <a:gd name="adj" fmla="val 14545"/>
            </a:avLst>
          </a:prstGeom>
          <a:solidFill>
            <a:srgbClr val="DCE6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49740" y="3172968"/>
            <a:ext cx="1988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 m×1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78040" y="3931920"/>
            <a:ext cx="4160520" cy="438912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39319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(2-D)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78040" y="4453128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F3E7C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44531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rows × n columns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56235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= Rows × Columns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101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Naming Rules &amp; Data Storage Classes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2:36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region of memory that stores an array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begin with a letter, then letters/numbers/underscores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blank spaces allowed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63 characters are significant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Case-sensitive: a and A are two different variables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2148840"/>
          </a:xfrm>
          <a:prstGeom prst="roundRect">
            <a:avLst>
              <a:gd name="adj" fmla="val 5106"/>
            </a:avLst>
          </a:prstGeom>
          <a:solidFill>
            <a:srgbClr val="E4F1EA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7373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2148840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 to any numerical value — 8 bytes per element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3977640"/>
            <a:ext cx="4709160" cy="2148840"/>
          </a:xfrm>
          <a:prstGeom prst="roundRect">
            <a:avLst>
              <a:gd name="adj" fmla="val 5106"/>
            </a:avLst>
          </a:prstGeom>
          <a:solidFill>
            <a:srgbClr val="FCEFCB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41148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452628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when text is enclosed in single quotes '...'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Constructing Row &amp; Column Vectors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2:40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or commas → move to next column (row vector)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Semicolons → drop to next row (column vector)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prime operator ' transposes a row into a column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783080"/>
            <a:ext cx="4251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 = [9 21 22 23]   % row vector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= [9, 21, 22, 23] % same, with commas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 = [1; 2; 3; 4]   % column vector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= r1'            % transpose r1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Sequences with the Colon Operator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2:45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start:end — unit increments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start:step:end — custom step size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step — counts down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Impractical to type hundreds of values by hand — use the colon operator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783080"/>
            <a:ext cx="4251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= 1:4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[1 2 3 4]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= 1:10:100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[1 11 21 ... 91]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= 10:-2:0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[10 8 6 4 2 0]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MATRICES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2D Matrices &amp; Special Matrix Generators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2:50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separate columns; semicolons separate rows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magic(N) generates an N×N magic square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row, column &amp; diagonal sums to the same value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03820" y="192024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03820" y="192024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81060" y="192024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81060" y="192024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258300" y="192024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58300" y="192024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35540" y="192024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35540" y="192024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03820" y="269748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03820" y="269748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81060" y="269748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81060" y="269748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258300" y="269748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58300" y="269748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35540" y="269748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35540" y="269748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03820" y="347472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03820" y="347472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481060" y="347472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81060" y="347472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258300" y="347472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58300" y="347472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035540" y="347472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35540" y="347472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03820" y="425196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03820" y="425196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81060" y="425196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81060" y="425196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258300" y="425196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258300" y="425196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035540" y="425196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035540" y="425196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5166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magic(4)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54864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row, column &amp; diagonal = 34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MATLAB Stores Matrices in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2:55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computer memory is linear (1-D)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uses Column-Major Order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Column 1 top-to-bottom, then Column 2, and so on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Contrasts with C/C++, which use Row-Major order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1874520"/>
            <a:ext cx="630936" cy="63093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52360" y="1874520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630936" cy="63093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874520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52360" y="2560320"/>
            <a:ext cx="630936" cy="63093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2560320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2560320"/>
            <a:ext cx="630936" cy="63093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2560320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0" y="3246120"/>
            <a:ext cx="630936" cy="63093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3246120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3246120"/>
            <a:ext cx="630936" cy="63093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0" y="3246120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3434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stored as 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4663440"/>
            <a:ext cx="656844" cy="656844"/>
          </a:xfrm>
          <a:prstGeom prst="rect">
            <a:avLst/>
          </a:prstGeom>
          <a:solidFill>
            <a:srgbClr val="F3E7C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78040" y="4663440"/>
            <a:ext cx="656844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71460" y="4663440"/>
            <a:ext cx="656844" cy="656844"/>
          </a:xfrm>
          <a:prstGeom prst="rect">
            <a:avLst/>
          </a:prstGeom>
          <a:solidFill>
            <a:srgbClr val="F3E7C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71460" y="4663440"/>
            <a:ext cx="656844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64880" y="4663440"/>
            <a:ext cx="656844" cy="656844"/>
          </a:xfrm>
          <a:prstGeom prst="rect">
            <a:avLst/>
          </a:prstGeom>
          <a:solidFill>
            <a:srgbClr val="F3E7C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64880" y="4663440"/>
            <a:ext cx="656844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258300" y="4663440"/>
            <a:ext cx="656844" cy="656844"/>
          </a:xfrm>
          <a:prstGeom prst="rect">
            <a:avLst/>
          </a:prstGeom>
          <a:solidFill>
            <a:srgbClr val="F3E7C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58300" y="4663440"/>
            <a:ext cx="656844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951720" y="4663440"/>
            <a:ext cx="656844" cy="656844"/>
          </a:xfrm>
          <a:prstGeom prst="rect">
            <a:avLst/>
          </a:prstGeom>
          <a:solidFill>
            <a:srgbClr val="F3E7C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51720" y="4663440"/>
            <a:ext cx="656844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645140" y="4663440"/>
            <a:ext cx="656844" cy="656844"/>
          </a:xfrm>
          <a:prstGeom prst="rect">
            <a:avLst/>
          </a:prstGeom>
          <a:solidFill>
            <a:srgbClr val="F3E7C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645140" y="4663440"/>
            <a:ext cx="656844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 vs. Linear Indexing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3:00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4526280"/>
          </a:xfrm>
          <a:prstGeom prst="roundRect">
            <a:avLst>
              <a:gd name="adj" fmla="val 2424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1-Based Indexing — MATLAB always starts counting at 1 (not 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2377440"/>
            <a:ext cx="932688" cy="932688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237744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43230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83464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377440"/>
            <a:ext cx="932688" cy="932688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51760" y="237744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43230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(1,2)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83464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3383280"/>
            <a:ext cx="932688" cy="932688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0" y="338328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43814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(2,1)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38404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51760" y="3383280"/>
            <a:ext cx="932688" cy="932688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51760" y="338328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343814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(2,2)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38404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0" y="4389120"/>
            <a:ext cx="932688" cy="932688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45920" y="43891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444398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(3,1)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645920" y="48463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51760" y="4389120"/>
            <a:ext cx="932688" cy="932688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51760" y="43891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444398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(3,2)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651760" y="48463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A(row, col)  —  e.g. A(2,1) = 3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84048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A(k) linear  —  counts down columns  —  e.g. A(2) = 3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3×2 matrix: A(1)=(1,1), A(2)=(2,1), A(3)=(3,1), A(4)=(1,2) …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Referencing Entire Rows &amp; Columns with :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3:06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A(:, 2)  — all rows, column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02536" y="2194560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02536" y="219456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24328" y="2194560"/>
            <a:ext cx="576072" cy="576072"/>
          </a:xfrm>
          <a:prstGeom prst="rect">
            <a:avLst/>
          </a:prstGeom>
          <a:solidFill>
            <a:srgbClr val="C9A2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24328" y="219456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2194560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219456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67912" y="2194560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19456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02536" y="2816352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02536" y="281635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24328" y="2816352"/>
            <a:ext cx="576072" cy="576072"/>
          </a:xfrm>
          <a:prstGeom prst="rect">
            <a:avLst/>
          </a:prstGeom>
          <a:solidFill>
            <a:srgbClr val="C9A2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24328" y="281635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2816352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6120" y="281635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67912" y="2816352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67912" y="281635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02536" y="3438144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02536" y="3438144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24328" y="3438144"/>
            <a:ext cx="576072" cy="576072"/>
          </a:xfrm>
          <a:prstGeom prst="rect">
            <a:avLst/>
          </a:prstGeom>
          <a:solidFill>
            <a:srgbClr val="C9A2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24328" y="3438144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46120" y="3438144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46120" y="3438144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867912" y="3438144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67912" y="3438144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002536" y="4059936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002536" y="4059936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624328" y="4059936"/>
            <a:ext cx="576072" cy="576072"/>
          </a:xfrm>
          <a:prstGeom prst="rect">
            <a:avLst/>
          </a:prstGeom>
          <a:solidFill>
            <a:srgbClr val="C9A2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24328" y="4059936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46120" y="4059936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46120" y="4059936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867912" y="4059936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867912" y="4059936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17920" y="16002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A(1, :)  — row 1, all columns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671816" y="2194560"/>
            <a:ext cx="576072" cy="576072"/>
          </a:xfrm>
          <a:prstGeom prst="rect">
            <a:avLst/>
          </a:prstGeom>
          <a:solidFill>
            <a:srgbClr val="C9A2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71816" y="219456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293608" y="2194560"/>
            <a:ext cx="576072" cy="576072"/>
          </a:xfrm>
          <a:prstGeom prst="rect">
            <a:avLst/>
          </a:prstGeom>
          <a:solidFill>
            <a:srgbClr val="C9A2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93608" y="219456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915400" y="2194560"/>
            <a:ext cx="576072" cy="576072"/>
          </a:xfrm>
          <a:prstGeom prst="rect">
            <a:avLst/>
          </a:prstGeom>
          <a:solidFill>
            <a:srgbClr val="C9A2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915400" y="219456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537192" y="2194560"/>
            <a:ext cx="576072" cy="576072"/>
          </a:xfrm>
          <a:prstGeom prst="rect">
            <a:avLst/>
          </a:prstGeom>
          <a:solidFill>
            <a:srgbClr val="C9A2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537192" y="219456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671816" y="2816352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71816" y="281635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293608" y="2816352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293608" y="281635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915400" y="2816352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915400" y="281635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537192" y="2816352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537192" y="281635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671816" y="3438144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671816" y="3438144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8293608" y="3438144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93608" y="3438144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915400" y="3438144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915400" y="3438144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9537192" y="3438144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537192" y="3438144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7671816" y="4059936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671816" y="4059936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8293608" y="4059936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293608" y="4059936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8915400" y="4059936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915400" y="4059936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9537192" y="4059936"/>
            <a:ext cx="576072" cy="576072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537192" y="4059936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Sub-Matrices &amp; The end Keyword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3:10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A(2:3, 1:2) — rows 2 to 3, columns 1 to 2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A([1 4], :) — non-contiguous rows 1 and 4, all columns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dynamically references the last valid index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A(2:end, 2:end) — from row/col 2 to the last row/col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03820" y="192024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03820" y="192024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81060" y="192024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81060" y="192024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258300" y="192024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58300" y="192024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35540" y="192024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35540" y="192024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03820" y="2697480"/>
            <a:ext cx="722376" cy="722376"/>
          </a:xfrm>
          <a:prstGeom prst="rect">
            <a:avLst/>
          </a:prstGeom>
          <a:solidFill>
            <a:srgbClr val="C9A2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03820" y="269748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81060" y="2697480"/>
            <a:ext cx="722376" cy="722376"/>
          </a:xfrm>
          <a:prstGeom prst="rect">
            <a:avLst/>
          </a:prstGeom>
          <a:solidFill>
            <a:srgbClr val="C9A2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81060" y="269748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258300" y="269748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58300" y="269748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35540" y="269748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35540" y="269748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03820" y="3474720"/>
            <a:ext cx="722376" cy="722376"/>
          </a:xfrm>
          <a:prstGeom prst="rect">
            <a:avLst/>
          </a:prstGeom>
          <a:solidFill>
            <a:srgbClr val="C9A2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03820" y="347472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481060" y="3474720"/>
            <a:ext cx="722376" cy="722376"/>
          </a:xfrm>
          <a:prstGeom prst="rect">
            <a:avLst/>
          </a:prstGeom>
          <a:solidFill>
            <a:srgbClr val="C9A2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81060" y="347472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258300" y="347472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58300" y="347472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035540" y="347472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35540" y="347472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03820" y="425196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03820" y="425196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81060" y="425196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81060" y="425196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258300" y="425196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258300" y="425196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035540" y="4251960"/>
            <a:ext cx="722376" cy="722376"/>
          </a:xfrm>
          <a:prstGeom prst="rect">
            <a:avLst/>
          </a:prstGeom>
          <a:solidFill>
            <a:srgbClr val="DCE6F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035540" y="4251960"/>
            <a:ext cx="7223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5166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 = A(2:3, 1:2)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Sub-Matrices &amp; Dynamic Expansion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3:15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new values directly to a sub-matrix index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on both sides of = must match exactly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beyond current size auto-expands the matrix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unassigned positions are zero-padded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783080"/>
            <a:ext cx="4251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Overwrite without deleting others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A(1:2, 3:4) = [20 21; 22 23]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Beyond current size -&gt; expands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A(4, 5) = 20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matrix grows to 4x5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new cells = 0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3:20 PM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192024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3:30 PM — we'll pick up with importing external data files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DATA INITIALIZATION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Text Files with textread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3:30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initialize variables: direct assignment, keyboard input, or reading files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textread() loads numeric text files into an array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%s specifier to parse text/word files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783080"/>
            <a:ext cx="4251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Numeric text file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= textread('hello1.txt');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Text / word file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= textread('hello2.txt', '%s');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DATA INITIALIZATION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Spreadsheets (xlsread) &amp; Plotting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3:35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60320" cy="3977640"/>
          </a:xfrm>
          <a:prstGeom prst="roundRect">
            <a:avLst>
              <a:gd name="adj" fmla="val 4286"/>
            </a:avLst>
          </a:prstGeom>
          <a:solidFill>
            <a:srgbClr val="0B2545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74520"/>
            <a:ext cx="2286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diode.xls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874520"/>
            <a:ext cx="274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560320" cy="3977640"/>
          </a:xfrm>
          <a:prstGeom prst="roundRect">
            <a:avLst>
              <a:gd name="adj" fmla="val 4286"/>
            </a:avLst>
          </a:prstGeom>
          <a:solidFill>
            <a:srgbClr val="1C7293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874520"/>
            <a:ext cx="2286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xlsread()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C4:C19 / D4:D19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874520"/>
            <a:ext cx="274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2560320" cy="3977640"/>
          </a:xfrm>
          <a:prstGeom prst="roundRect">
            <a:avLst>
              <a:gd name="adj" fmla="val 4286"/>
            </a:avLst>
          </a:prstGeom>
          <a:solidFill>
            <a:srgbClr val="3D7EA6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874520"/>
            <a:ext cx="2286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Vectors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V, 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1874520"/>
            <a:ext cx="274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052560" y="1874520"/>
            <a:ext cx="2560320" cy="3977640"/>
          </a:xfrm>
          <a:prstGeom prst="roundRect">
            <a:avLst>
              <a:gd name="adj" fmla="val 4286"/>
            </a:avLst>
          </a:prstGeom>
          <a:solidFill>
            <a:srgbClr val="C9A227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720" y="1874520"/>
            <a:ext cx="2286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plot(V, I)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V-I Curve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DATA INITIALIZATION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Images, Audio &amp; Workspace Files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3:41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05200" cy="4526280"/>
          </a:xfrm>
          <a:prstGeom prst="roundRect">
            <a:avLst>
              <a:gd name="adj" fmla="val 313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imread('image1.jpg')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9748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imshow(img)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8160" y="1600200"/>
            <a:ext cx="3505200" cy="4526280"/>
          </a:xfrm>
          <a:prstGeom prst="roundRect">
            <a:avLst>
              <a:gd name="adj" fmla="val 313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1040" y="178308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11040" y="228600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waveread('audio.wav')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11040" y="269748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waveplay(speech)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600200"/>
            <a:ext cx="3505200" cy="4526280"/>
          </a:xfrm>
          <a:prstGeom prst="roundRect">
            <a:avLst>
              <a:gd name="adj" fmla="val 313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0560" y="178308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(.mat)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90560" y="228600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save('f1.mat')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90560" y="269748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load('f1.mat')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GEOPHYSICS APPLICATION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Well-Log Data Arrays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3:46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measurements stored as a 2D matrix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depth levels, Columns = log channels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1 = Depth (m), Column 2 = Gamma Ray (API)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783080"/>
            <a:ext cx="4251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 = well_log(:, 1);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gamma_ray = well_log(:, 2);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Isolate reservoir interval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reservoir_zone = ...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well_log(150:300, :);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GEOPHYSICS APPLICATION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Seismic Trace Arrays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3:52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matrix S(t, ch): rows = time samples, columns = trace channels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= one geophone's reflection trace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early rows to isolate the first-break arrival window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783080"/>
            <a:ext cx="4251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trace_5 = seismic_data(:, 5);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full waveform, channel 5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first_breaks = ...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seismic_data(1:50, :);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% early travel-time window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1: Matrix Construction &amp; Indexing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3:58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4×4 matrix A using numbers 1 to 16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Row 3, Column 2 using subscript indexing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7th element using linear indexing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Row 4, Column 4 to 100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783080"/>
            <a:ext cx="4251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clc; clear;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 2 3 4; 5 6 7 8; ...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9 10 11 12; 13 14 15 16]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val_sub = A(3, 2)   % -&gt; 10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val_lin = A(7)      % -&gt; 10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A(4, 4) = 100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2: Sub-Matrix Slicing &amp; Overwriting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4:07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4×4 magic square with magic(4)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inner 2×2 sub-matrix (rows 2-3, cols 2-3)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that inner block with zeros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783080"/>
            <a:ext cx="4251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clc; clear;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magic(4)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 = M(2:3, 2:3)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M(2:3, 2:3) = [0 0; 0 0]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3: Importing Excel Data &amp; Plotting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4:16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Voltage &amp; Current columns from diode.xls</a:t>
            </a:r>
            <a:endParaRPr lang="en-US" sz="17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 versus V with labeled axes and a title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071A33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783080"/>
            <a:ext cx="4251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clc; clear; close all;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xlsread('diode.xls','C4:C19');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xlsread('diode.xls','D4:D19');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plot(V, I)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xlabel('Voltage (V)');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ylabel('Current (A)');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title('Diode V-I Curve'); grid on;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Summary &amp; Lab Deliverables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34295" y="3657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65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4:24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795528"/>
          </a:xfrm>
          <a:prstGeom prst="roundRect">
            <a:avLst>
              <a:gd name="adj" fmla="val 11494"/>
            </a:avLst>
          </a:prstGeom>
          <a:solidFill>
            <a:srgbClr val="12335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796796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967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600200"/>
            <a:ext cx="10149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MATLAB's fundamental data structure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11064240" cy="795528"/>
          </a:xfrm>
          <a:prstGeom prst="roundRect">
            <a:avLst>
              <a:gd name="adj" fmla="val 11494"/>
            </a:avLst>
          </a:prstGeom>
          <a:solidFill>
            <a:srgbClr val="12335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702052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7020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05456"/>
            <a:ext cx="10149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subscript A(r,c) or linear A(k) indexing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410712"/>
            <a:ext cx="11064240" cy="795528"/>
          </a:xfrm>
          <a:prstGeom prst="roundRect">
            <a:avLst>
              <a:gd name="adj" fmla="val 11494"/>
            </a:avLst>
          </a:prstGeom>
          <a:solidFill>
            <a:srgbClr val="1233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607308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6073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410712"/>
            <a:ext cx="10149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sub-matrices with colon ranges or end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11064240" cy="795528"/>
          </a:xfrm>
          <a:prstGeom prst="roundRect">
            <a:avLst>
              <a:gd name="adj" fmla="val 11494"/>
            </a:avLst>
          </a:prstGeom>
          <a:solidFill>
            <a:srgbClr val="12335A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4512564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45125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315968"/>
            <a:ext cx="10149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external data with textread, xlsread, imread, .mat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221224"/>
            <a:ext cx="11064240" cy="795528"/>
          </a:xfrm>
          <a:prstGeom prst="roundRect">
            <a:avLst>
              <a:gd name="adj" fmla="val 11494"/>
            </a:avLst>
          </a:prstGeom>
          <a:solidFill>
            <a:srgbClr val="12335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54178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54178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221224"/>
            <a:ext cx="10149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Labs 1, 2 &amp; 3 — next week: Matrix Operations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2026-09-10T20:17:06Z</dcterms:created>
  <dcterms:modified xsi:type="dcterms:W3CDTF">2026-09-10T20:17:06Z</dcterms:modified>
</cp:coreProperties>
</file>