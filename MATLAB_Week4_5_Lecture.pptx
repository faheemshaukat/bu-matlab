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18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Fast-paced single session covering: output formatting (format/disp/fprintf/sprintf), full 2-D plotting toolkit (styling, annotations, overlays, log scales, specialized plot types, subplots), logical constructs (relational/logical operators, masking, helper functions), and geophysics applications tying it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Omitting the semicolon prints the result. format controls only how numbers are SHOWN in the Command Window, never their actual stored precision. format short (the default) shows 4 decimals; format long shows 15; format short e uses scientific notation; format rat approximates as a fraction; format + shows only the sign, useful for scanning large matrices for sign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disp() is the simplest display — just the value, no variable-name header. fprintf() embeds numbers inside a formatted text string using conversion specifiers like %f (decimal), %d (integer), %e (exponential), %g (compact). sprintf() uses identical specifiers but returns the formatted text as a string variable instead of printing it — useful for building labels or filenames.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Width/precision modifiers give publication-quality formatted output. %.2f rounds to 2 decimals. A leading + forces the sign to show on positive numbers. The number before the decimal in %12.2f sets the TOTAL field width (12 characters), right-padding with spaces to align columns in a report; a leading 0 (%012.2f) pads with zeros instead of spaces. These are verified outputs — run them yourself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plot(x,y) is the workhorse 2-D plotting command; x and y must have identical length. A fine colon step or linspace gives a smooth-looking curve. The single most common beginner error: writing x^2 instead of x.^2 when x is a vector — without the dot, MATLAB attempts true matrix exponentiation (which requires a square matrix) and throws a dimension error, instead of squaring each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LineSpec string packs color, marker shape, and line style into one compact argument, in any order. 'r--*' plots in red with a dashed line and an asterisk at every data point. This table is worth memorizing — it is used constantly from here on to make multi-curve geophysics plots visually distinguishable.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needs a title and labeled axes WITH UNITS — this is non-negotiable in scientific reporting. grid on adds gridlines that make reading values off the plot much easier. Starting every script with clc; clear; close all; clears the Command Window, wipes old variables, and closes stray figure windows, so each run starts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hold on, each new plot() call ERASES the previous curve — the most common plotting mistake. hold on fixes this. Alternatively, plot(x,y1,x,y2) draws both in one call with automatic distinct colors. legend() must list labels in plotting order, and its 'Location'/'Orientation' name-value pairs give full control over where the legend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axes compress small values near the origin when data spans several orders of magnitude — e.g. a frequency spectrum from 1 Hz to 10,000 Hz. semilogx/semilogy put ONE axis on a log scale; loglog puts BOTH on a log scale. This is standard for frequency spectra and electrical resistivity sounding curves in geophysics.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has over 20 specialized 2-D plot types. stem() suits discretely sampled digital signals. stairs() draws blocky step profiles, ideal for stratigraphic or interval logs. bar()/barh() build category comparisons. pie() shows percentage composition. polar() plots radial distance against an angle in radians — useful for azimuthal survey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subplot(rows, cols, index) arranges several related plots in one figure window, read left-to-right then top-to-bottom — useful for comparing multiple seismic traces or well logs side by side. xlim/ylim zoom into a specific range without altering the underlying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relational operator, applied to a vector or matrix, checks each element independently and returns a logical array the same size — this is verified directly above for A=[1 10;5 12]. The classic beginner mix-up: single = assigns a value (x=5), double == tests equality (x==5) — using the wrong one is a very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standard truth table for AND, OR and NOT. &amp; and | work element-by-element on arrays of any size and are what you use for data filtering. &amp;&amp; and || only accept a single scalar logical value and are reserved for if-condition short-circuit evaluation — e.g. if a&gt;0 &amp;&amp; b&gt;0, where the second test is skipped once the first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Logical indexing avoids loops entirely: build a mask once with relational/logical operators, then use it to extract (data(mask)) or modify (data(~mask)=NaN) in one line. This exact raw-gravity example — a sensor error code -999 and an overflow 9999 — is a realistic field-data cleaning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find() returns WHERE a condition holds (the index positions), not the values. any()/all() summarize a condition across a whole vector — useful as a quick pass/fail check before deeper analysis. isempty() checks whether a variable holds no data at all ([]), often used to guard against processing an empty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Seismic trace: time on x, amplitude on y, a damped oscillation mimicking a real seismic arrival dying out — the canonical plot(x,y)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everything meets: Part C's logical mask identifies outliers, find() reports their positions, and Part B's hold on + distinct marker + legend displays them clearly on the same figure as the raw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 logs break the usual convention: depth on the y-axis but increasing DOWNWARD, matching how a geologist reads a log against the borehole. set(gca,'YDir','reverse') is the one line that flips MATLAB's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realistic end-to-end cleanup: a physically implausible range (&lt;1000 or &gt;5000 m/s) flags the -999 error code and the 9999 overflow at positions 3 and 5, fprintf reports it as a summary line, NaN marks them, and mean(...,'omitnan') computes the correct average of 2325 m/s from the 4 valid readings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chains every idea from today: a logical mask (Part C) isolates valid readings, fprintf (Part A) reports a formatted summary, and the plotting toolkit (Part B) — inverted y-axis, labels, grid — displays the cleaned log exactly as a geophysicist would expect to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output formatting (format/disp/fprintf/sprintf), the full 2-D plotting toolkit, relational/logical operators with the array-vs-scalar distinction, and loop-free data cleaning via logical indexing and find/any/all/isempty. Submit both lab scripts. Next week: flow control with if/elseif/else/switch for rock lithology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640080"/>
            <a:ext cx="1463040" cy="14630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ahri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79552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777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321 / GEL 321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272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with MATLAB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39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— Output Formatting, 2-D Plotting &amp; Logical Constructs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CLO-2: Control structures &amp; logical/relational operators   •   CLO-3: 2-D/3-D plotting &amp; visualization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5394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51560" y="5532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Dr. Faheem Shaukat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7D4E3"/>
                </a:solidFill>
              </a:rPr>
              <a:t>Visiting Faculty Member — Department of Software Engineering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0" y="53949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00800" y="5532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227"/>
                </a:solidFill>
              </a:rPr>
              <a:t>From Decisions to Pictures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7D4E3"/>
                </a:solidFill>
              </a:rPr>
              <a:t>Format output like an engineer, plot like a geophysicist, filter like a scientist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 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1-Hour Plan — Fast, Full Coverage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2:30–3:30 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76656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685800" y="160020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2:33 – 2:46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600200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Output formatting — format, disp, fprintf, sprintf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60020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7685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2:46 – 3:08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276856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2-D plotting — plot, styling, annotations, hold on, log scale, specialized plots, subplot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27685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11064240" cy="676656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85800" y="295351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3:08 – 3:23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953512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Logical constructs — relational/logical ops, masking, find/any/all/isempty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295351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3016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3:23 – 3:29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630168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D: Geophysics applications — seismic, gravity, well-log, outlier cleanup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363016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11064240" cy="676656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3:29 – 3:30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4306824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lab + wrap-up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30682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absorbs the postponed Week 4 topic (formatting &amp; plotting) together with Week 5's planned topic (logical constructs) — the pace is brisk, so the full code on every slide is also your take-home reference.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OUTPUT FORMATTING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format Command: Controlling Display Precision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2:33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semicolon at line end -&gt; MATLAB prints the result to the Command Window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changes only the DISPLAY — not the stored 64-bit precision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effect for the rest of the session, until changed again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1420978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537960" y="1417320"/>
            <a:ext cx="1420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8938" y="1417320"/>
            <a:ext cx="2334463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7958938" y="1417320"/>
            <a:ext cx="233446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93401" y="1417320"/>
            <a:ext cx="1319479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10293401" y="1417320"/>
            <a:ext cx="131947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displayed 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2225040"/>
            <a:ext cx="142097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583680" y="2225040"/>
            <a:ext cx="132953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short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8938" y="2225040"/>
            <a:ext cx="233446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8004658" y="2225040"/>
            <a:ext cx="224302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4 decimal places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93401" y="2225040"/>
            <a:ext cx="1319479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10339121" y="2225040"/>
            <a:ext cx="122803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3032760"/>
            <a:ext cx="142097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583680" y="3032760"/>
            <a:ext cx="132953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long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8938" y="3032760"/>
            <a:ext cx="2334463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8004658" y="3032760"/>
            <a:ext cx="224302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Fixed-point, 15 decimals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293401" y="3032760"/>
            <a:ext cx="1319479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10339121" y="3032760"/>
            <a:ext cx="122803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3.141592653589793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3840480"/>
            <a:ext cx="142097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6583680" y="3840480"/>
            <a:ext cx="132953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short 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58938" y="3840480"/>
            <a:ext cx="233446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8004658" y="3840480"/>
            <a:ext cx="224302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93401" y="3840480"/>
            <a:ext cx="1319479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10339121" y="3840480"/>
            <a:ext cx="122803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3.1416e+00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4648200"/>
            <a:ext cx="142097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6583680" y="4648200"/>
            <a:ext cx="132953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rat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58938" y="4648200"/>
            <a:ext cx="2334463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32"/>
          <p:cNvSpPr txBox="1"/>
          <p:nvPr/>
        </p:nvSpPr>
        <p:spPr>
          <a:xfrm>
            <a:off x="8004658" y="4648200"/>
            <a:ext cx="224302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fraction approx.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293401" y="4648200"/>
            <a:ext cx="1319479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 txBox="1"/>
          <p:nvPr/>
        </p:nvSpPr>
        <p:spPr>
          <a:xfrm>
            <a:off x="10339121" y="4648200"/>
            <a:ext cx="122803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355/113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7960" y="5455920"/>
            <a:ext cx="142097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6583680" y="5455920"/>
            <a:ext cx="132953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+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58938" y="5455920"/>
            <a:ext cx="233446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 txBox="1"/>
          <p:nvPr/>
        </p:nvSpPr>
        <p:spPr>
          <a:xfrm>
            <a:off x="8004658" y="5455920"/>
            <a:ext cx="224302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only (+, -, or blank)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293401" y="5455920"/>
            <a:ext cx="1319479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 txBox="1"/>
          <p:nvPr/>
        </p:nvSpPr>
        <p:spPr>
          <a:xfrm>
            <a:off x="10339121" y="5455920"/>
            <a:ext cx="122803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OUTPUT FORMATTING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disp, fprintf &amp; sprintf — Three Ways to Show 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2:37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disp(x) — prints a variable/string cleanly, no name, no '='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fprintf(...) — writes FORMATTED text + numbers to the screen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sprintf(...) — SAME formatting rules as fprintf, but SAVES the result into a string variable instead of printing it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1623974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537960" y="1417320"/>
            <a:ext cx="162397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61934" y="1417320"/>
            <a:ext cx="3450946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8161934" y="1417320"/>
            <a:ext cx="345094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225040"/>
            <a:ext cx="162397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6583680" y="2225040"/>
            <a:ext cx="153253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1934" y="2225040"/>
            <a:ext cx="345094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8207654" y="2225040"/>
            <a:ext cx="335950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decimal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3032760"/>
            <a:ext cx="162397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6583680" y="3032760"/>
            <a:ext cx="153253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  or  %i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61934" y="3032760"/>
            <a:ext cx="345094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8207654" y="3032760"/>
            <a:ext cx="335950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value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3840480"/>
            <a:ext cx="162397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583680" y="3840480"/>
            <a:ext cx="153253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61934" y="3840480"/>
            <a:ext cx="345094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8207654" y="3840480"/>
            <a:ext cx="335950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notation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4648200"/>
            <a:ext cx="162397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6583680" y="4648200"/>
            <a:ext cx="153253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61934" y="4648200"/>
            <a:ext cx="345094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8207654" y="4648200"/>
            <a:ext cx="335950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Compact: shorter of %f / %e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5455920"/>
            <a:ext cx="162397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583680" y="5455920"/>
            <a:ext cx="153253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61934" y="5455920"/>
            <a:ext cx="345094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8207654" y="5455920"/>
            <a:ext cx="335950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 (next line)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OUTPUT FORMATTING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fprintf Width &amp; Precision Modifiers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2:41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%.2f — restrict to 2 decimal places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%+.2f — force a leading + sign on positives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%12.2f — total field width 12, right-aligned with spaces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%012.2f — same width, but pad with ZEROS instead of spaces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pi * 50;    % a = 157.0796...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fprintf('Default:  %f\n', a);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157.079633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fprintf('2 dp:     %.2f\n', a);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157.08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fprintf('Signed:   %+.2f\n', a);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+157.08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fprintf('Width 12: %12.2f\n', a);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'      157.08'  (6 leading spaces)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fprintf('Zero-pad: %012.2f\n', a);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'000000157.08'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plot(x, y): The Core 2-D Plotting Command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2:46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plot(x, y) needs two vectors of the EXACT SAME length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fine step (0:0.1:10) or linspace(a,b,n) for a smooth curve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use element-wise operators .^  .*  ./ when computing y from x — plain ^ * / will error or multiply matrices instead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0:0.1:10;         % fine step -&gt; smooth curve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x.^2 - 10.*x + 15; % DOT operators required!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y);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Without dots: x^2 tries MATRIX power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on a 1x101 vector -&gt; ERROR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Specifiers: Color + Marker + Style in One String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2:50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plot(x, y, 'line_specifier') — third argument, single-quoted string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color + a marker + a line style in any order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'r--*' = red, dashed line, asterisk markers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1725473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537960" y="1417320"/>
            <a:ext cx="172547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63433" y="1417320"/>
            <a:ext cx="1674724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8263433" y="1417320"/>
            <a:ext cx="167472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38156" y="1417320"/>
            <a:ext cx="1674724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9938156" y="1417320"/>
            <a:ext cx="167472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Style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2225040"/>
            <a:ext cx="172547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583680" y="2225040"/>
            <a:ext cx="163403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'r' red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63433" y="222504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8309153" y="222504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'o' circle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38156" y="222504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9983876" y="222504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'-' solid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3032760"/>
            <a:ext cx="1725473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583680" y="3032760"/>
            <a:ext cx="163403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'g' green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63433" y="3032760"/>
            <a:ext cx="167472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8309153" y="303276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'*' asterisk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38156" y="3032760"/>
            <a:ext cx="167472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9983876" y="303276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'--' dashed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3840480"/>
            <a:ext cx="172547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6583680" y="3840480"/>
            <a:ext cx="163403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'b' blue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63433" y="384048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8309153" y="384048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'+' plus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38156" y="384048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9983876" y="384048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':' dotted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4648200"/>
            <a:ext cx="1725473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6583680" y="4648200"/>
            <a:ext cx="163403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'k' black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3433" y="4648200"/>
            <a:ext cx="167472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32"/>
          <p:cNvSpPr txBox="1"/>
          <p:nvPr/>
        </p:nvSpPr>
        <p:spPr>
          <a:xfrm>
            <a:off x="8309153" y="464820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's' square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38156" y="4648200"/>
            <a:ext cx="1674724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 txBox="1"/>
          <p:nvPr/>
        </p:nvSpPr>
        <p:spPr>
          <a:xfrm>
            <a:off x="9983876" y="464820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'-.' dash-dot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7960" y="5455920"/>
            <a:ext cx="1725473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6583680" y="5455920"/>
            <a:ext cx="163403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'y' yellow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3433" y="545592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 txBox="1"/>
          <p:nvPr/>
        </p:nvSpPr>
        <p:spPr>
          <a:xfrm>
            <a:off x="8309153" y="545592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'^' triangle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38156" y="5455920"/>
            <a:ext cx="1674724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 txBox="1"/>
          <p:nvPr/>
        </p:nvSpPr>
        <p:spPr>
          <a:xfrm>
            <a:off x="9983876" y="5455920"/>
            <a:ext cx="158328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Annotations: title, xlabel, ylabel, grid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2:54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unlabeled plot is an INCOMPLETE answer — always annotate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title('text'), xlabel('text'), ylabel('text') — always include units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on / grid off — toggles background gridlines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 script header: clc; clear; close all;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 close all;  % clean start, every script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0:0.1:6;  y = sin(x);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y, 'b-');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title('Sine Wave Signal');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xlabel('Time (s)'); ylabel('Amplitude');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on;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Overlaying Curves: hold on and legend Placement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2:58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— keeps the current plot while new plot() calls add on top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plot(x,y1,x,y2) — plots multiple series in ONE call (auto-colored)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legend('S1','S2') — labels each curve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legend(...,'Location','northwest') or 'northoutside' + 'Orientation','horizontal' — controls placement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0:0.1:2*pi;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sin(x)); hold on;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cos(x));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legend('Sin','Cos','Location','northwest');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off;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Outside, horizontal legend: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legend('Sin','Cos','Location','northoutside', ...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'Orientation','horizontal');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Logarithmic Axis Scaling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3:01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plot(x,y) — linear scale on both axes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semilogx(x,y) — log scale on X, linear on Y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semilogy(x,y) — linear on X, log scale on Y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loglog(x,y) — log scale on BOTH axes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use: frequency spectra, resistivity sounding curves — data spanning many orders of magnitude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= logspace(0, 4, 50);   % 1 Hz to 10,000 Hz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  = 1 ./ (1 + (freq/500).^2);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loglog(freq, amp);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xlabel('Frequency (Hz)');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ylabel('Amplitude');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title('Frequency Spectrum'); grid on;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Specialized 2-D Plots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3:04 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55418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265541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4058" y="1417320"/>
            <a:ext cx="4425696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04058" y="1417320"/>
            <a:ext cx="442569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629754" y="1417320"/>
            <a:ext cx="3983126" cy="80772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629754" y="1417320"/>
            <a:ext cx="398312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225040"/>
            <a:ext cx="265541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225040"/>
            <a:ext cx="2563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stem(x,y)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04058" y="2225040"/>
            <a:ext cx="442569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49778" y="2225040"/>
            <a:ext cx="433425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vertical lines + markers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629754" y="2225040"/>
            <a:ext cx="398312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75474" y="2225040"/>
            <a:ext cx="389168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sampled signals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032760"/>
            <a:ext cx="265541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94360" y="3032760"/>
            <a:ext cx="2563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stairs(x,y)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4058" y="3032760"/>
            <a:ext cx="442569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249778" y="3032760"/>
            <a:ext cx="433425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Step-shaped (blocky) lines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629754" y="3032760"/>
            <a:ext cx="398312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75474" y="3032760"/>
            <a:ext cx="389168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Stratigraphic / interval data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5541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94360" y="3840480"/>
            <a:ext cx="2563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bar(x,y) / barh(x,y)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04058" y="3840480"/>
            <a:ext cx="442569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249778" y="3840480"/>
            <a:ext cx="433425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/ horizontal bar chart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629754" y="3840480"/>
            <a:ext cx="398312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675474" y="3840480"/>
            <a:ext cx="389168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8640" y="4648200"/>
            <a:ext cx="265541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94360" y="4648200"/>
            <a:ext cx="2563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pie(x)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04058" y="4648200"/>
            <a:ext cx="442569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249778" y="4648200"/>
            <a:ext cx="433425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Percentage-share pie chart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629754" y="4648200"/>
            <a:ext cx="3983126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675474" y="4648200"/>
            <a:ext cx="389168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breakdowns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48640" y="5455920"/>
            <a:ext cx="2655418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94360" y="5455920"/>
            <a:ext cx="25639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polar(theta,rho)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04058" y="5455920"/>
            <a:ext cx="442569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249778" y="5455920"/>
            <a:ext cx="433425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distance vs. angle (radians)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7629754" y="5455920"/>
            <a:ext cx="3983126" cy="807720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675474" y="5455920"/>
            <a:ext cx="3891686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Directional/azimuthal data</a:t>
            </a:r>
            <a:endParaRPr lang="en-US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2-D PLOTTING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subplot() and Axis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3:06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subplot(rows, cols, index) — several small plots in one figure window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xlim([a b]) / ylim([a b]) — control the visible axis range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equal — equal scaling on both axes (important for maps)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text(x, y, 'label') — annotate a specific point on the plot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subplot(2,1,1);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plot(t, seismic1); title('Trace 1'); grid on;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subplot(2,1,2);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plot(t, seismic2); title('Trace 2'); grid on;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xlabel('Time (s)');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xlim([0 1]);  % zoom into first second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LOGICAL CONSTRUCTS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Operators: Yes/No Questions on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3:08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return a LOGICAL array (1s and 0s), never numeric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pitfall: = is ASSIGNMENT; == is EQUALITY TESTING — never confuse them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710489" cy="692331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537960" y="1417320"/>
            <a:ext cx="71048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48449" y="1417320"/>
            <a:ext cx="1623974" cy="692331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7248449" y="1417320"/>
            <a:ext cx="162397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72423" y="1417320"/>
            <a:ext cx="2740457" cy="692331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8872423" y="1417320"/>
            <a:ext cx="274045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A=[1 10;5 12]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2109651"/>
            <a:ext cx="710489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583680" y="2109651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48449" y="2109651"/>
            <a:ext cx="1623974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7294169" y="2109651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72423" y="2109651"/>
            <a:ext cx="2740457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8918143" y="2109651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A&lt;10 -&gt; [1 0;1 0]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2801983"/>
            <a:ext cx="710489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583680" y="2801983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48449" y="2801983"/>
            <a:ext cx="1623974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7294169" y="2801983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72423" y="2801983"/>
            <a:ext cx="2740457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8918143" y="2801983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A&lt;=10 -&gt; [1 1;1 0]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3494314"/>
            <a:ext cx="710489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6583680" y="3494314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48449" y="3494314"/>
            <a:ext cx="1623974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7294169" y="3494314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72423" y="3494314"/>
            <a:ext cx="2740457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8918143" y="3494314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A&gt;5 -&gt; [0 1;0 1]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4186646"/>
            <a:ext cx="710489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6583680" y="4186646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48449" y="4186646"/>
            <a:ext cx="1623974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32"/>
          <p:cNvSpPr txBox="1"/>
          <p:nvPr/>
        </p:nvSpPr>
        <p:spPr>
          <a:xfrm>
            <a:off x="7294169" y="4186646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72423" y="4186646"/>
            <a:ext cx="2740457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 txBox="1"/>
          <p:nvPr/>
        </p:nvSpPr>
        <p:spPr>
          <a:xfrm>
            <a:off x="8918143" y="4186646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A&gt;=5 -&gt; [0 1;1 1]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7960" y="4878977"/>
            <a:ext cx="710489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6583680" y="4878977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48449" y="4878977"/>
            <a:ext cx="1623974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 txBox="1"/>
          <p:nvPr/>
        </p:nvSpPr>
        <p:spPr>
          <a:xfrm>
            <a:off x="7294169" y="4878977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872423" y="4878977"/>
            <a:ext cx="2740457" cy="692331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 txBox="1"/>
          <p:nvPr/>
        </p:nvSpPr>
        <p:spPr>
          <a:xfrm>
            <a:off x="8918143" y="4878977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A==10 -&gt; [0 1;0 0]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37960" y="5571309"/>
            <a:ext cx="710489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Text 42"/>
          <p:cNvSpPr txBox="1"/>
          <p:nvPr/>
        </p:nvSpPr>
        <p:spPr>
          <a:xfrm>
            <a:off x="6583680" y="5571309"/>
            <a:ext cx="619049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~=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48449" y="5571309"/>
            <a:ext cx="1623974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6" name="Text 44"/>
          <p:cNvSpPr txBox="1"/>
          <p:nvPr/>
        </p:nvSpPr>
        <p:spPr>
          <a:xfrm>
            <a:off x="7294169" y="5571309"/>
            <a:ext cx="1532534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872423" y="5571309"/>
            <a:ext cx="2740457" cy="692331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8" name="Text 46"/>
          <p:cNvSpPr txBox="1"/>
          <p:nvPr/>
        </p:nvSpPr>
        <p:spPr>
          <a:xfrm>
            <a:off x="8918143" y="5571309"/>
            <a:ext cx="2649017" cy="69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A~=10 -&gt; [1 0;1 1]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LOGICAL CONSTRUCTS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Operators: Combining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3:12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(AND) — true only if BOTH conditions are true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(OR) — true if AT LEAST ONE condition is true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(NOT) — flips true&lt;-&gt;false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| ~ on ARRAYS; use &amp;&amp; || only for SCALAR if-conditions (short-circuit)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1014984" cy="969264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537960" y="1417320"/>
            <a:ext cx="1014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52944" y="1417320"/>
            <a:ext cx="1014984" cy="969264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7552944" y="1417320"/>
            <a:ext cx="1014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67928" y="1417320"/>
            <a:ext cx="1014984" cy="969264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8567928" y="1417320"/>
            <a:ext cx="1014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82912" y="1417320"/>
            <a:ext cx="1014984" cy="969264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9582912" y="1417320"/>
            <a:ext cx="1014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| 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97896" y="1417320"/>
            <a:ext cx="1014984" cy="969264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10597896" y="1417320"/>
            <a:ext cx="1014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386584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6583680" y="2386584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52944" y="2386584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7598664" y="2386584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67928" y="2386584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8613648" y="2386584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82912" y="2386584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9628632" y="2386584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597896" y="2386584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10643616" y="2386584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3355848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583680" y="3355848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2944" y="3355848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7598664" y="3355848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67928" y="3355848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8613648" y="3355848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82912" y="3355848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32"/>
          <p:cNvSpPr txBox="1"/>
          <p:nvPr/>
        </p:nvSpPr>
        <p:spPr>
          <a:xfrm>
            <a:off x="9628632" y="3355848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97896" y="3355848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 txBox="1"/>
          <p:nvPr/>
        </p:nvSpPr>
        <p:spPr>
          <a:xfrm>
            <a:off x="10643616" y="3355848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7960" y="4325112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6583680" y="4325112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52944" y="4325112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 txBox="1"/>
          <p:nvPr/>
        </p:nvSpPr>
        <p:spPr>
          <a:xfrm>
            <a:off x="7598664" y="4325112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67928" y="4325112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 txBox="1"/>
          <p:nvPr/>
        </p:nvSpPr>
        <p:spPr>
          <a:xfrm>
            <a:off x="8613648" y="4325112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582912" y="4325112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Text 42"/>
          <p:cNvSpPr txBox="1"/>
          <p:nvPr/>
        </p:nvSpPr>
        <p:spPr>
          <a:xfrm>
            <a:off x="9628632" y="4325112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97896" y="4325112"/>
            <a:ext cx="1014984" cy="969264"/>
          </a:xfrm>
          <a:prstGeom prst="rect">
            <a:avLst/>
          </a:prstGeom>
          <a:solidFill>
            <a:srgbClr val="E9EEF4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6" name="Text 44"/>
          <p:cNvSpPr txBox="1"/>
          <p:nvPr/>
        </p:nvSpPr>
        <p:spPr>
          <a:xfrm>
            <a:off x="10643616" y="4325112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37960" y="5294376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8" name="Text 46"/>
          <p:cNvSpPr txBox="1"/>
          <p:nvPr/>
        </p:nvSpPr>
        <p:spPr>
          <a:xfrm>
            <a:off x="6583680" y="5294376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52944" y="5294376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0" name="Text 48"/>
          <p:cNvSpPr txBox="1"/>
          <p:nvPr/>
        </p:nvSpPr>
        <p:spPr>
          <a:xfrm>
            <a:off x="7598664" y="5294376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67928" y="5294376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2" name="Text 50"/>
          <p:cNvSpPr txBox="1"/>
          <p:nvPr/>
        </p:nvSpPr>
        <p:spPr>
          <a:xfrm>
            <a:off x="8613648" y="5294376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582912" y="5294376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4" name="Text 52"/>
          <p:cNvSpPr txBox="1"/>
          <p:nvPr/>
        </p:nvSpPr>
        <p:spPr>
          <a:xfrm>
            <a:off x="9628632" y="5294376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597896" y="5294376"/>
            <a:ext cx="101498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6" name="Text 54"/>
          <p:cNvSpPr txBox="1"/>
          <p:nvPr/>
        </p:nvSpPr>
        <p:spPr>
          <a:xfrm>
            <a:off x="10643616" y="5294376"/>
            <a:ext cx="923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LOGICAL CONSTRUCTS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Indexing &amp; Data Masking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3:16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 logical MASK with relational/logical operators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 the mask inside indexing parentheses: data(mask)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MATLAB extracts/modifies only the elements where mask = 1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~mask inverts it — perfect for replacing bad values with NaN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[980.1 980.3 -999.0 980.2 9999.0 980.4];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valid_mask = (raw &gt;= 970) &amp; (raw &lt;= 990);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raw(valid_mask);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[980.1 980.3 980.2 980.4]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raw(~valid_mask) = NaN;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replaces -999.0 and 9999.0 with NaN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LOGICAL CONSTRUCTS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Helper Functions: find, any, all, isempty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3:19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find(cond) — returns the INDEX positions where cond is true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any(v) — true if AT LEAST ONE element is true/nonzero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all(v) — true only if EVERY element is true/nonzero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isempty(x) — true if x is empty ([]), false otherwise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[4 11 53];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find(A &gt; 20)      % [3]   &lt;- index, not value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any(A &gt; 50)       % 1 (true)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all(A &gt; 0)        % 1 (true, all positive)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all(A &gt; 10)       % 0 (false, 4 is not &gt; 10)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[];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isempty(B)        % 1 (true)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Seismic Waveform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3:23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the x-axis, amplitude on the y-axis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plot(x,y) example from the textbook's plotting chapter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week5_plots/plot_seism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0" y="1508760"/>
            <a:ext cx="4892040" cy="4389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59344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t=linspace(0,2,800); amp=exp(-1.2*t).*sin(2*pi*4*t)+...; plot(t,amp);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Profile — Flagging Combined with Plotting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3:24 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646981" cy="4846320"/>
          </a:xfrm>
          <a:prstGeom prst="roundRect">
            <a:avLst>
              <a:gd name="adj" fmla="val 1968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563624"/>
            <a:ext cx="4244645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mu=mean(grav); sigma=std(grav);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abs(grav-mu) &gt; 2*sigma;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plot(grav,'o-'); hold on;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plot(find(flag), grav(flag), ...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'ro','MarkerSize',8);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legend('readings','flagged');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24221" y="1417320"/>
            <a:ext cx="6188659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week5_plots/plot_gra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15661" y="1508760"/>
            <a:ext cx="6005779" cy="43891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15661" y="5934456"/>
            <a:ext cx="6005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C's masking + Part B's hold on/legend, in one figure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Well-Log Curve — Depth Increases Downward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3:25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10757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convention: depth on the Y-axis, increasing DOWNWARD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set(gca,'YDir','reverse') flips the default direction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47658" y="1417320"/>
            <a:ext cx="3124766" cy="4846320"/>
          </a:xfrm>
          <a:prstGeom prst="roundRect">
            <a:avLst>
              <a:gd name="adj" fmla="val 391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21830" y="1563624"/>
            <a:ext cx="2749426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plot(resistivity, depth);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set(gca,'YDir','reverse');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xlabel('Resistivity (ohm\cdotm)');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ylabel('Depth (m)');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title('Well-Log Curve'); grid on;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01023" y="1417320"/>
            <a:ext cx="2511857" cy="4846320"/>
          </a:xfrm>
          <a:prstGeom prst="roundRect">
            <a:avLst>
              <a:gd name="adj" fmla="val 364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eek5_plots/plot_welll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92463" y="1508760"/>
            <a:ext cx="2328977" cy="4389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92463" y="5934456"/>
            <a:ext cx="23289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runs top-to-bottom, as read against the borehole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 Noisy Velocity Log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3:27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instruments record spikes from poor coupling / power surges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locates bad readings; NaN marks them; mean(...,'omitnan') skips them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= [1800 2200 -999 2500 9999 2800];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find(velocity &lt; 1000 | velocity &gt; 5000);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fprintf('Bad readings at: %s\n', num2str(bad));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Bad readings at: 3  5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velocity(bad) = NaN;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mean_vel = mean(velocity, 'omitnan');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mean_vel = 2325.0 m/s (valid readings only)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CAPSTONE LAB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Clean, Report &amp; Plot a Resistivity Log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3:28 PM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760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Mask valid readings (0 &lt;= R &lt;= 100); extract clean_R &amp; clean_d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fprintf a one-line summary: how many bad readings found</a:t>
            </a:r>
            <a:endParaRPr lang="en-US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Plot clean_R vs. clean_d, invert the y-axis, label &amp; grid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563624"/>
            <a:ext cx="467258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1000:100:1800;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[12 15 -999 22 18 9999 25 30 -500];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(R &gt;= 0) &amp; (R &lt;= 100);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clean_R = R(mask); clean_d = d(mask);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fprintf('%d bad readings removed\n', sum(~mask));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plot(clean_R, clean_d,'g-o');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set(gca,'YDir','reverse'); grid on;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xlabel('Resistivity'); ylabel('Depth (m)');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&amp; 5 Summary &amp; Deliverables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225735" y="32918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25735" y="329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3:29 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94944" y="167335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94944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417320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format/disp/fprintf/sprintf control how numbers &amp; text are displayed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94944" y="264261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694944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386584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plot() + LineSpec + hold on/legend + log scales + specialized plots + subplot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94944" y="361188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694944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355848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ops return logical arrays; &amp; | ~ (array) vs &amp;&amp; || (scalar, if-only)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325112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94944" y="458114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94944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325112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indexing + find/any/all/isempty = loop-free data cleaning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294376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94944" y="555040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694944" y="5550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5294376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week4_plotting_lab.m &amp; week5_logical_cleaning_lab.m — next: if/elseif/switch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6547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&amp; 5  | 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4210</Words>
  <Application>Microsoft Office PowerPoint</Application>
  <PresentationFormat>Widescreen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2</cp:revision>
  <dcterms:created xsi:type="dcterms:W3CDTF">2026-10-01T19:47:26Z</dcterms:created>
  <dcterms:modified xsi:type="dcterms:W3CDTF">2026-10-02T09:13:14Z</dcterms:modified>
</cp:coreProperties>
</file>