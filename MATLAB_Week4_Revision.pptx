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51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1-hour pure revision session — no new topic today. We revisit Weeks 1, 2 and 3, re-running the exact lab activity each week ended on, then walk through Assignment 1's trickiest questions. Week 4 and Week 5 will be combined into one new-topic session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was about getting comfortable in the MATLAB environment: the three main windows, the difference between clc (clears the Command Window display only), clear (deletes variables from the workspace) and close all (closes figure windows). We created simple scalar variables, checked them with whos, and practiced operator precedence — the exponent goes first, then * and / left-to-right, then + and - left-to-right.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the Week 1 lab activity and Assignment 1 Q1–Q2 pattern: students recreate the station_id/depth/velocity/whos/travel_time block from memory, then work the PEMDAS expression by hand BEFORE typing it into MATLAB, to prove they understand precedence rather than just trusting the tool.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built vectors and matrices and introduced the two big indexing tools: an index vector to pick specific positions, and logical indexing to pick by condition — both loop-free. We also covered linear (column-major) indexing on matrices, and file I/O with writematrix/readmatrix, which matters for real field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Week 2 lab / Assignment 1 Q5 pattern. The trap students must re-explain out loud: MATLAB stores matrices column-by-column, so log_data(5) is NOT the 5th value reading left-to-right across row 1 — it wraps into column 2 after column 1's 4 rows are exhausted. This single idea shows up again in the quiz and must be second nature by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covered matrix algebra proper: dimension rules for +/-, the crucial distinction between .* (element-wise) and * (matrix multiplication, order matters), concatenation rules for joining matrices, and solving linear systems with det/inv/backslash — with A\b flagged as the numerically preferred method over inv(A)*b.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rebuild of Week 3 Lab 1: vertical concatenation requires the same number of columns, not rows. Ask a student to predict size(survey) before running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rebuild of Week 3 Lab 2. Confirm every operator here has a dot, and ask what would change (or error) if the dots were removed.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rebuild of Week 3 Lab 3 — the capstone lab that pulled together identity/diagonal matrices, determinant, inverse, and backslash for solving a system, the same operator flagged as preferred in Assignment 1 Q10.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1's three sections map directly onto Weeks 1, 2 and 3 — nothing in it is a surprise if today's revision is solid. Total: 20 marks across 12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Assignment 1 Q8, the single most-missed question historically. Students must be able to explain WHY all three differ — dot-syntax works position-by-position, no-dot * follows the row-times-column rule, and swapping operand order in matrix multiplication changes the answer entirely.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high-value traps from Assignment 1. Q5's linear indexing is column-major, not row-major — a very common source of wrong answers. Q11's C^2 vs C.^2 distinction is the same dot-vs-no-dot idea from Trap #1, now applied to powers instead of multiplication; note that for a DIAGONAL matrix specifically, the two happen to be equal — everywhere else, they are not.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these rapid-fire across the room before revealing the answer panel. This is the same style of question that will appear on the quiz, so a confident answer here is a good predictor of quiz readiness.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being explicit: this was pure revision, no new content today. The next new topic will only begin once Week 4 and Week 5 are combined into a single session. Encourage students to re-run every lab from memory tonight, since that is the best predictor of quiz performance.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071A33"/>
          </a:solidFill>
          <a:ln/>
        </p:spPr>
        <p:txBody>
          <a:bodyPr/>
          <a:lstStyle/>
          <a:p>
            <a:endParaRPr lang="en-US"/>
          </a:p>
        </p:txBody>
      </p:sp>
      <p:sp>
        <p:nvSpPr>
          <p:cNvPr id="3" name="Shape 1"/>
          <p:cNvSpPr/>
          <p:nvPr/>
        </p:nvSpPr>
        <p:spPr>
          <a:xfrm>
            <a:off x="777240" y="640080"/>
            <a:ext cx="1463040" cy="1463040"/>
          </a:xfrm>
          <a:prstGeom prst="ellipse">
            <a:avLst/>
          </a:prstGeom>
          <a:solidFill>
            <a:srgbClr val="FFFFFF"/>
          </a:solidFill>
          <a:ln w="31750">
            <a:solidFill>
              <a:srgbClr val="C9A227"/>
            </a:solidFill>
            <a:prstDash val="solid"/>
          </a:ln>
        </p:spPr>
        <p:txBody>
          <a:bodyPr/>
          <a:lstStyle/>
          <a:p>
            <a:endParaRPr lang="en-US"/>
          </a:p>
        </p:txBody>
      </p:sp>
      <p:pic>
        <p:nvPicPr>
          <p:cNvPr id="4" name="Image 0" descr="/home/claude/bahria_logo.png"/>
          <p:cNvPicPr>
            <a:picLocks noChangeAspect="1"/>
          </p:cNvPicPr>
          <p:nvPr/>
        </p:nvPicPr>
        <p:blipFill>
          <a:blip r:embed="rId3"/>
          <a:stretch>
            <a:fillRect/>
          </a:stretch>
        </p:blipFill>
        <p:spPr>
          <a:xfrm>
            <a:off x="932688" y="795528"/>
            <a:ext cx="1152144" cy="1152144"/>
          </a:xfrm>
          <a:prstGeom prst="rect">
            <a:avLst/>
          </a:prstGeom>
        </p:spPr>
      </p:pic>
      <p:sp>
        <p:nvSpPr>
          <p:cNvPr id="5" name="Text 2"/>
          <p:cNvSpPr txBox="1"/>
          <p:nvPr/>
        </p:nvSpPr>
        <p:spPr>
          <a:xfrm>
            <a:off x="2514600" y="777240"/>
            <a:ext cx="8869680" cy="411480"/>
          </a:xfrm>
          <a:prstGeom prst="rect">
            <a:avLst/>
          </a:prstGeom>
          <a:noFill/>
          <a:ln/>
        </p:spPr>
        <p:txBody>
          <a:bodyPr wrap="square" lIns="0" tIns="0" rIns="0" bIns="0" rtlCol="0" anchor="ctr"/>
          <a:lstStyle/>
          <a:p>
            <a:pPr marL="0" indent="0">
              <a:buNone/>
            </a:pPr>
            <a:r>
              <a:rPr lang="en-US" b="1" kern="0" spc="300" dirty="0">
                <a:solidFill>
                  <a:srgbClr val="C9A227"/>
                </a:solidFill>
                <a:latin typeface="Calibri" pitchFamily="34" charset="0"/>
                <a:ea typeface="Calibri" pitchFamily="34" charset="-122"/>
                <a:cs typeface="Calibri" pitchFamily="34" charset="-120"/>
              </a:rPr>
              <a:t>BAHRIA UNIVERSITY</a:t>
            </a:r>
            <a:endParaRPr lang="en-US" dirty="0"/>
          </a:p>
        </p:txBody>
      </p:sp>
      <p:sp>
        <p:nvSpPr>
          <p:cNvPr id="6" name="Text 3"/>
          <p:cNvSpPr txBox="1"/>
          <p:nvPr/>
        </p:nvSpPr>
        <p:spPr>
          <a:xfrm>
            <a:off x="2514600" y="1170432"/>
            <a:ext cx="8869680" cy="365760"/>
          </a:xfrm>
          <a:prstGeom prst="rect">
            <a:avLst/>
          </a:prstGeom>
          <a:noFill/>
          <a:ln/>
        </p:spPr>
        <p:txBody>
          <a:bodyPr wrap="square" lIns="0" tIns="0" rIns="0" bIns="0" rtlCol="0" anchor="ctr"/>
          <a:lstStyle/>
          <a:p>
            <a:pPr marL="0" indent="0">
              <a:buNone/>
            </a:pPr>
            <a:endParaRPr lang="en-US" sz="1400" dirty="0"/>
          </a:p>
        </p:txBody>
      </p:sp>
      <p:sp>
        <p:nvSpPr>
          <p:cNvPr id="7" name="Text 4"/>
          <p:cNvSpPr txBox="1"/>
          <p:nvPr/>
        </p:nvSpPr>
        <p:spPr>
          <a:xfrm>
            <a:off x="822960" y="2606040"/>
            <a:ext cx="105156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GEO 321</a:t>
            </a:r>
            <a:endParaRPr lang="en-US" sz="4000" dirty="0"/>
          </a:p>
        </p:txBody>
      </p:sp>
      <p:sp>
        <p:nvSpPr>
          <p:cNvPr id="8" name="Text 5"/>
          <p:cNvSpPr txBox="1"/>
          <p:nvPr/>
        </p:nvSpPr>
        <p:spPr>
          <a:xfrm>
            <a:off x="822960" y="3246120"/>
            <a:ext cx="10515600" cy="548640"/>
          </a:xfrm>
          <a:prstGeom prst="rect">
            <a:avLst/>
          </a:prstGeom>
          <a:noFill/>
          <a:ln/>
        </p:spPr>
        <p:txBody>
          <a:bodyPr wrap="square" lIns="0" tIns="0" rIns="0" bIns="0" rtlCol="0" anchor="ctr"/>
          <a:lstStyle/>
          <a:p>
            <a:pPr marL="0" indent="0">
              <a:buNone/>
            </a:pPr>
            <a:r>
              <a:rPr lang="en-US" sz="2600" dirty="0">
                <a:solidFill>
                  <a:srgbClr val="C9A227"/>
                </a:solidFill>
                <a:latin typeface="Cambria" pitchFamily="34" charset="0"/>
                <a:ea typeface="Cambria" pitchFamily="34" charset="-122"/>
                <a:cs typeface="Cambria" pitchFamily="34" charset="-120"/>
              </a:rPr>
              <a:t>Computing with MATLAB</a:t>
            </a:r>
            <a:endParaRPr lang="en-US" sz="2600" dirty="0"/>
          </a:p>
        </p:txBody>
      </p:sp>
      <p:sp>
        <p:nvSpPr>
          <p:cNvPr id="9" name="Text 6"/>
          <p:cNvSpPr txBox="1"/>
          <p:nvPr/>
        </p:nvSpPr>
        <p:spPr>
          <a:xfrm>
            <a:off x="822960" y="3794760"/>
            <a:ext cx="10515600" cy="457200"/>
          </a:xfrm>
          <a:prstGeom prst="rect">
            <a:avLst/>
          </a:prstGeom>
          <a:noFill/>
          <a:ln/>
        </p:spPr>
        <p:txBody>
          <a:bodyPr wrap="square" lIns="0" tIns="0" rIns="0" bIns="0" rtlCol="0" anchor="ctr"/>
          <a:lstStyle/>
          <a:p>
            <a:pPr marL="0" indent="0">
              <a:buNone/>
            </a:pPr>
            <a:r>
              <a:rPr lang="en-US" sz="1550" i="1" dirty="0">
                <a:solidFill>
                  <a:srgbClr val="C7D4E3"/>
                </a:solidFill>
                <a:latin typeface="Calibri" pitchFamily="34" charset="0"/>
                <a:ea typeface="Calibri" pitchFamily="34" charset="-122"/>
                <a:cs typeface="Calibri" pitchFamily="34" charset="-120"/>
              </a:rPr>
              <a:t>Week 4 — Revision Session: Weeks 1–3 &amp; Assignment 1</a:t>
            </a:r>
            <a:endParaRPr lang="en-US" sz="1550" dirty="0"/>
          </a:p>
        </p:txBody>
      </p:sp>
      <p:sp>
        <p:nvSpPr>
          <p:cNvPr id="10" name="Shape 7"/>
          <p:cNvSpPr/>
          <p:nvPr/>
        </p:nvSpPr>
        <p:spPr>
          <a:xfrm>
            <a:off x="822960" y="5394960"/>
            <a:ext cx="5120640" cy="1143000"/>
          </a:xfrm>
          <a:prstGeom prst="roundRect">
            <a:avLst>
              <a:gd name="adj" fmla="val 9600"/>
            </a:avLst>
          </a:prstGeom>
          <a:solidFill>
            <a:srgbClr val="12335A"/>
          </a:solidFill>
          <a:ln w="12700">
            <a:solidFill>
              <a:srgbClr val="D7DEE7"/>
            </a:solidFill>
            <a:prstDash val="solid"/>
          </a:ln>
        </p:spPr>
        <p:txBody>
          <a:bodyPr/>
          <a:lstStyle/>
          <a:p>
            <a:endParaRPr lang="en-US" sz="1600"/>
          </a:p>
        </p:txBody>
      </p:sp>
      <p:sp>
        <p:nvSpPr>
          <p:cNvPr id="11" name="Text 8"/>
          <p:cNvSpPr txBox="1"/>
          <p:nvPr/>
        </p:nvSpPr>
        <p:spPr>
          <a:xfrm>
            <a:off x="1051560" y="5532120"/>
            <a:ext cx="4663440" cy="868680"/>
          </a:xfrm>
          <a:prstGeom prst="rect">
            <a:avLst/>
          </a:prstGeom>
          <a:noFill/>
          <a:ln/>
        </p:spPr>
        <p:txBody>
          <a:bodyPr wrap="square" lIns="0" tIns="0" rIns="0" bIns="0" rtlCol="0" anchor="ctr"/>
          <a:lstStyle/>
          <a:p>
            <a:pPr marL="0" indent="0">
              <a:spcAft>
                <a:spcPts val="200"/>
              </a:spcAft>
              <a:buNone/>
            </a:pPr>
            <a:r>
              <a:rPr lang="en-US" b="1" dirty="0">
                <a:solidFill>
                  <a:srgbClr val="FFFFFF"/>
                </a:solidFill>
              </a:rPr>
              <a:t>Dr. Faheem Shaukat</a:t>
            </a:r>
            <a:endParaRPr lang="en-US" dirty="0"/>
          </a:p>
          <a:p>
            <a:pPr marL="0" indent="0">
              <a:buNone/>
            </a:pPr>
            <a:r>
              <a:rPr lang="en-US" sz="1600" dirty="0">
                <a:solidFill>
                  <a:srgbClr val="C7D4E3"/>
                </a:solidFill>
              </a:rPr>
              <a:t>Visiting Faculty Member — Department of Software Engineering</a:t>
            </a:r>
            <a:endParaRPr lang="en-US" sz="1600" dirty="0"/>
          </a:p>
        </p:txBody>
      </p:sp>
      <p:sp>
        <p:nvSpPr>
          <p:cNvPr id="12" name="Shape 9"/>
          <p:cNvSpPr/>
          <p:nvPr/>
        </p:nvSpPr>
        <p:spPr>
          <a:xfrm>
            <a:off x="6172200" y="5394960"/>
            <a:ext cx="5166360" cy="1143000"/>
          </a:xfrm>
          <a:prstGeom prst="roundRect">
            <a:avLst>
              <a:gd name="adj" fmla="val 9600"/>
            </a:avLst>
          </a:prstGeom>
          <a:solidFill>
            <a:srgbClr val="12335A"/>
          </a:solidFill>
          <a:ln w="12700">
            <a:solidFill>
              <a:srgbClr val="D7DEE7"/>
            </a:solidFill>
            <a:prstDash val="solid"/>
          </a:ln>
        </p:spPr>
        <p:txBody>
          <a:bodyPr/>
          <a:lstStyle/>
          <a:p>
            <a:endParaRPr lang="en-US" sz="1600"/>
          </a:p>
        </p:txBody>
      </p:sp>
      <p:sp>
        <p:nvSpPr>
          <p:cNvPr id="13" name="Text 10"/>
          <p:cNvSpPr txBox="1"/>
          <p:nvPr/>
        </p:nvSpPr>
        <p:spPr>
          <a:xfrm>
            <a:off x="6400800" y="5532120"/>
            <a:ext cx="4709160" cy="868680"/>
          </a:xfrm>
          <a:prstGeom prst="rect">
            <a:avLst/>
          </a:prstGeom>
          <a:noFill/>
          <a:ln/>
        </p:spPr>
        <p:txBody>
          <a:bodyPr wrap="square" lIns="0" tIns="0" rIns="0" bIns="0" rtlCol="0" anchor="ctr"/>
          <a:lstStyle/>
          <a:p>
            <a:pPr marL="0" indent="0">
              <a:spcAft>
                <a:spcPts val="400"/>
              </a:spcAft>
              <a:buNone/>
            </a:pPr>
            <a:r>
              <a:rPr lang="en-US" b="1" dirty="0">
                <a:solidFill>
                  <a:srgbClr val="C9A227"/>
                </a:solidFill>
              </a:rPr>
              <a:t>Consolidating Before We Move Forward</a:t>
            </a:r>
            <a:endParaRPr lang="en-US" dirty="0"/>
          </a:p>
          <a:p>
            <a:pPr marL="0" indent="0">
              <a:buNone/>
            </a:pPr>
            <a:r>
              <a:rPr lang="en-US" sz="1600" dirty="0">
                <a:solidFill>
                  <a:srgbClr val="C7D4E3"/>
                </a:solidFill>
              </a:rPr>
              <a:t>One focused hour: re-run every lab, re-solve Assignment 1's traps</a:t>
            </a:r>
            <a:endParaRPr lang="en-US" sz="1600" dirty="0"/>
          </a:p>
        </p:txBody>
      </p:sp>
      <p:sp>
        <p:nvSpPr>
          <p:cNvPr id="14" name="Shape 11"/>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15" name="Text 12"/>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2:30 PM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SESSION ROADMAP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Today's 1-Hour Revision Plan</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2:30–3:30 PM</a:t>
            </a:r>
            <a:endParaRPr lang="en-US" sz="1150" dirty="0"/>
          </a:p>
        </p:txBody>
      </p:sp>
      <p:sp>
        <p:nvSpPr>
          <p:cNvPr id="6" name="Shape 4"/>
          <p:cNvSpPr/>
          <p:nvPr/>
        </p:nvSpPr>
        <p:spPr>
          <a:xfrm>
            <a:off x="548640" y="1691640"/>
            <a:ext cx="11064240" cy="713232"/>
          </a:xfrm>
          <a:prstGeom prst="rect">
            <a:avLst/>
          </a:prstGeom>
          <a:solidFill>
            <a:srgbClr val="E9EEF4"/>
          </a:solidFill>
          <a:ln/>
        </p:spPr>
        <p:txBody>
          <a:bodyPr/>
          <a:lstStyle/>
          <a:p>
            <a:endParaRPr lang="en-US"/>
          </a:p>
        </p:txBody>
      </p:sp>
      <p:sp>
        <p:nvSpPr>
          <p:cNvPr id="7" name="Text 5"/>
          <p:cNvSpPr txBox="1"/>
          <p:nvPr/>
        </p:nvSpPr>
        <p:spPr>
          <a:xfrm>
            <a:off x="685800" y="1691640"/>
            <a:ext cx="1828800" cy="713232"/>
          </a:xfrm>
          <a:prstGeom prst="rect">
            <a:avLst/>
          </a:prstGeom>
          <a:noFill/>
          <a:ln/>
        </p:spPr>
        <p:txBody>
          <a:bodyPr wrap="square" lIns="0" tIns="0" rIns="0" bIns="0" rtlCol="0" anchor="ctr"/>
          <a:lstStyle/>
          <a:p>
            <a:pPr marL="0" indent="0">
              <a:buNone/>
            </a:pPr>
            <a:r>
              <a:rPr lang="en-US" b="1" dirty="0">
                <a:solidFill>
                  <a:srgbClr val="1C7293"/>
                </a:solidFill>
                <a:latin typeface="Courier New" pitchFamily="34" charset="0"/>
                <a:ea typeface="Courier New" pitchFamily="34" charset="-122"/>
                <a:cs typeface="Courier New" pitchFamily="34" charset="-120"/>
              </a:rPr>
              <a:t>2:30 – 2:33</a:t>
            </a:r>
            <a:endParaRPr lang="en-US" dirty="0"/>
          </a:p>
        </p:txBody>
      </p:sp>
      <p:sp>
        <p:nvSpPr>
          <p:cNvPr id="8" name="Text 6"/>
          <p:cNvSpPr txBox="1"/>
          <p:nvPr/>
        </p:nvSpPr>
        <p:spPr>
          <a:xfrm>
            <a:off x="2606040" y="1691640"/>
            <a:ext cx="7406640" cy="713232"/>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Welcome &amp; roadmap</a:t>
            </a:r>
            <a:endParaRPr lang="en-US" dirty="0"/>
          </a:p>
        </p:txBody>
      </p:sp>
      <p:sp>
        <p:nvSpPr>
          <p:cNvPr id="9" name="Text 7"/>
          <p:cNvSpPr txBox="1"/>
          <p:nvPr/>
        </p:nvSpPr>
        <p:spPr>
          <a:xfrm>
            <a:off x="10058400" y="1691640"/>
            <a:ext cx="1417320" cy="713232"/>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3 min</a:t>
            </a:r>
            <a:endParaRPr lang="en-US" dirty="0"/>
          </a:p>
        </p:txBody>
      </p:sp>
      <p:sp>
        <p:nvSpPr>
          <p:cNvPr id="10" name="Text 8"/>
          <p:cNvSpPr txBox="1"/>
          <p:nvPr/>
        </p:nvSpPr>
        <p:spPr>
          <a:xfrm>
            <a:off x="685800" y="2404872"/>
            <a:ext cx="1828800" cy="713232"/>
          </a:xfrm>
          <a:prstGeom prst="rect">
            <a:avLst/>
          </a:prstGeom>
          <a:noFill/>
          <a:ln/>
        </p:spPr>
        <p:txBody>
          <a:bodyPr wrap="square" lIns="0" tIns="0" rIns="0" bIns="0" rtlCol="0" anchor="ctr"/>
          <a:lstStyle/>
          <a:p>
            <a:pPr marL="0" indent="0">
              <a:buNone/>
            </a:pPr>
            <a:r>
              <a:rPr lang="en-US" b="1" dirty="0">
                <a:solidFill>
                  <a:srgbClr val="1C7293"/>
                </a:solidFill>
                <a:latin typeface="Courier New" pitchFamily="34" charset="0"/>
                <a:ea typeface="Courier New" pitchFamily="34" charset="-122"/>
                <a:cs typeface="Courier New" pitchFamily="34" charset="-120"/>
              </a:rPr>
              <a:t>2:33 – 2:45</a:t>
            </a:r>
            <a:endParaRPr lang="en-US" dirty="0"/>
          </a:p>
        </p:txBody>
      </p:sp>
      <p:sp>
        <p:nvSpPr>
          <p:cNvPr id="11" name="Text 9"/>
          <p:cNvSpPr txBox="1"/>
          <p:nvPr/>
        </p:nvSpPr>
        <p:spPr>
          <a:xfrm>
            <a:off x="2606040" y="2404872"/>
            <a:ext cx="7406640" cy="713232"/>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Week 1 recap + re-run the Week 1 lab</a:t>
            </a:r>
            <a:endParaRPr lang="en-US" dirty="0"/>
          </a:p>
        </p:txBody>
      </p:sp>
      <p:sp>
        <p:nvSpPr>
          <p:cNvPr id="12" name="Text 10"/>
          <p:cNvSpPr txBox="1"/>
          <p:nvPr/>
        </p:nvSpPr>
        <p:spPr>
          <a:xfrm>
            <a:off x="10058400" y="2404872"/>
            <a:ext cx="1417320" cy="713232"/>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12 min</a:t>
            </a:r>
            <a:endParaRPr lang="en-US" dirty="0"/>
          </a:p>
        </p:txBody>
      </p:sp>
      <p:sp>
        <p:nvSpPr>
          <p:cNvPr id="13" name="Shape 11"/>
          <p:cNvSpPr/>
          <p:nvPr/>
        </p:nvSpPr>
        <p:spPr>
          <a:xfrm>
            <a:off x="548640" y="3118104"/>
            <a:ext cx="11064240" cy="713232"/>
          </a:xfrm>
          <a:prstGeom prst="rect">
            <a:avLst/>
          </a:prstGeom>
          <a:solidFill>
            <a:srgbClr val="E9EEF4"/>
          </a:solidFill>
          <a:ln/>
        </p:spPr>
        <p:txBody>
          <a:bodyPr/>
          <a:lstStyle/>
          <a:p>
            <a:endParaRPr lang="en-US"/>
          </a:p>
        </p:txBody>
      </p:sp>
      <p:sp>
        <p:nvSpPr>
          <p:cNvPr id="14" name="Text 12"/>
          <p:cNvSpPr txBox="1"/>
          <p:nvPr/>
        </p:nvSpPr>
        <p:spPr>
          <a:xfrm>
            <a:off x="685800" y="3118104"/>
            <a:ext cx="1828800" cy="713232"/>
          </a:xfrm>
          <a:prstGeom prst="rect">
            <a:avLst/>
          </a:prstGeom>
          <a:noFill/>
          <a:ln/>
        </p:spPr>
        <p:txBody>
          <a:bodyPr wrap="square" lIns="0" tIns="0" rIns="0" bIns="0" rtlCol="0" anchor="ctr"/>
          <a:lstStyle/>
          <a:p>
            <a:pPr marL="0" indent="0">
              <a:buNone/>
            </a:pPr>
            <a:r>
              <a:rPr lang="en-US" b="1" dirty="0">
                <a:solidFill>
                  <a:srgbClr val="1C7293"/>
                </a:solidFill>
                <a:latin typeface="Courier New" pitchFamily="34" charset="0"/>
                <a:ea typeface="Courier New" pitchFamily="34" charset="-122"/>
                <a:cs typeface="Courier New" pitchFamily="34" charset="-120"/>
              </a:rPr>
              <a:t>2:45 – 2:57</a:t>
            </a:r>
            <a:endParaRPr lang="en-US" dirty="0"/>
          </a:p>
        </p:txBody>
      </p:sp>
      <p:sp>
        <p:nvSpPr>
          <p:cNvPr id="15" name="Text 13"/>
          <p:cNvSpPr txBox="1"/>
          <p:nvPr/>
        </p:nvSpPr>
        <p:spPr>
          <a:xfrm>
            <a:off x="2606040" y="3118104"/>
            <a:ext cx="7406640" cy="713232"/>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Week 2 recap + re-run the Week 2 lab</a:t>
            </a:r>
            <a:endParaRPr lang="en-US" dirty="0"/>
          </a:p>
        </p:txBody>
      </p:sp>
      <p:sp>
        <p:nvSpPr>
          <p:cNvPr id="16" name="Text 14"/>
          <p:cNvSpPr txBox="1"/>
          <p:nvPr/>
        </p:nvSpPr>
        <p:spPr>
          <a:xfrm>
            <a:off x="10058400" y="3118104"/>
            <a:ext cx="1417320" cy="713232"/>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12 min</a:t>
            </a:r>
            <a:endParaRPr lang="en-US" dirty="0"/>
          </a:p>
        </p:txBody>
      </p:sp>
      <p:sp>
        <p:nvSpPr>
          <p:cNvPr id="17" name="Text 15"/>
          <p:cNvSpPr txBox="1"/>
          <p:nvPr/>
        </p:nvSpPr>
        <p:spPr>
          <a:xfrm>
            <a:off x="685800" y="3831336"/>
            <a:ext cx="1828800" cy="713232"/>
          </a:xfrm>
          <a:prstGeom prst="rect">
            <a:avLst/>
          </a:prstGeom>
          <a:noFill/>
          <a:ln/>
        </p:spPr>
        <p:txBody>
          <a:bodyPr wrap="square" lIns="0" tIns="0" rIns="0" bIns="0" rtlCol="0" anchor="ctr"/>
          <a:lstStyle/>
          <a:p>
            <a:pPr marL="0" indent="0">
              <a:buNone/>
            </a:pPr>
            <a:r>
              <a:rPr lang="en-US" b="1" dirty="0">
                <a:solidFill>
                  <a:srgbClr val="1C7293"/>
                </a:solidFill>
                <a:latin typeface="Courier New" pitchFamily="34" charset="0"/>
                <a:ea typeface="Courier New" pitchFamily="34" charset="-122"/>
                <a:cs typeface="Courier New" pitchFamily="34" charset="-120"/>
              </a:rPr>
              <a:t>2:57 – 3:12</a:t>
            </a:r>
            <a:endParaRPr lang="en-US" dirty="0"/>
          </a:p>
        </p:txBody>
      </p:sp>
      <p:sp>
        <p:nvSpPr>
          <p:cNvPr id="18" name="Text 16"/>
          <p:cNvSpPr txBox="1"/>
          <p:nvPr/>
        </p:nvSpPr>
        <p:spPr>
          <a:xfrm>
            <a:off x="2606040" y="3831336"/>
            <a:ext cx="7406640" cy="713232"/>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Week 3 recap + re-run Labs 1, 2 &amp; 3</a:t>
            </a:r>
            <a:endParaRPr lang="en-US" dirty="0"/>
          </a:p>
        </p:txBody>
      </p:sp>
      <p:sp>
        <p:nvSpPr>
          <p:cNvPr id="19" name="Text 17"/>
          <p:cNvSpPr txBox="1"/>
          <p:nvPr/>
        </p:nvSpPr>
        <p:spPr>
          <a:xfrm>
            <a:off x="10058400" y="3831336"/>
            <a:ext cx="1417320" cy="713232"/>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15 min</a:t>
            </a:r>
            <a:endParaRPr lang="en-US" dirty="0"/>
          </a:p>
        </p:txBody>
      </p:sp>
      <p:sp>
        <p:nvSpPr>
          <p:cNvPr id="20" name="Shape 18"/>
          <p:cNvSpPr/>
          <p:nvPr/>
        </p:nvSpPr>
        <p:spPr>
          <a:xfrm>
            <a:off x="548640" y="4544568"/>
            <a:ext cx="11064240" cy="713232"/>
          </a:xfrm>
          <a:prstGeom prst="rect">
            <a:avLst/>
          </a:prstGeom>
          <a:solidFill>
            <a:srgbClr val="E9EEF4"/>
          </a:solidFill>
          <a:ln/>
        </p:spPr>
        <p:txBody>
          <a:bodyPr/>
          <a:lstStyle/>
          <a:p>
            <a:endParaRPr lang="en-US"/>
          </a:p>
        </p:txBody>
      </p:sp>
      <p:sp>
        <p:nvSpPr>
          <p:cNvPr id="21" name="Text 19"/>
          <p:cNvSpPr txBox="1"/>
          <p:nvPr/>
        </p:nvSpPr>
        <p:spPr>
          <a:xfrm>
            <a:off x="685800" y="4544568"/>
            <a:ext cx="1828800" cy="713232"/>
          </a:xfrm>
          <a:prstGeom prst="rect">
            <a:avLst/>
          </a:prstGeom>
          <a:noFill/>
          <a:ln/>
        </p:spPr>
        <p:txBody>
          <a:bodyPr wrap="square" lIns="0" tIns="0" rIns="0" bIns="0" rtlCol="0" anchor="ctr"/>
          <a:lstStyle/>
          <a:p>
            <a:pPr marL="0" indent="0">
              <a:buNone/>
            </a:pPr>
            <a:r>
              <a:rPr lang="en-US" b="1" dirty="0">
                <a:solidFill>
                  <a:srgbClr val="1C7293"/>
                </a:solidFill>
                <a:latin typeface="Courier New" pitchFamily="34" charset="0"/>
                <a:ea typeface="Courier New" pitchFamily="34" charset="-122"/>
                <a:cs typeface="Courier New" pitchFamily="34" charset="-120"/>
              </a:rPr>
              <a:t>3:12 – 3:25</a:t>
            </a:r>
            <a:endParaRPr lang="en-US" dirty="0"/>
          </a:p>
        </p:txBody>
      </p:sp>
      <p:sp>
        <p:nvSpPr>
          <p:cNvPr id="22" name="Text 20"/>
          <p:cNvSpPr txBox="1"/>
          <p:nvPr/>
        </p:nvSpPr>
        <p:spPr>
          <a:xfrm>
            <a:off x="2606040" y="4544568"/>
            <a:ext cx="7406640" cy="713232"/>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Assignment 1 walkthrough — the traps that cost marks</a:t>
            </a:r>
            <a:endParaRPr lang="en-US" dirty="0"/>
          </a:p>
        </p:txBody>
      </p:sp>
      <p:sp>
        <p:nvSpPr>
          <p:cNvPr id="23" name="Text 21"/>
          <p:cNvSpPr txBox="1"/>
          <p:nvPr/>
        </p:nvSpPr>
        <p:spPr>
          <a:xfrm>
            <a:off x="10058400" y="4544568"/>
            <a:ext cx="1417320" cy="713232"/>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13 min</a:t>
            </a:r>
            <a:endParaRPr lang="en-US" dirty="0"/>
          </a:p>
        </p:txBody>
      </p:sp>
      <p:sp>
        <p:nvSpPr>
          <p:cNvPr id="24" name="Text 22"/>
          <p:cNvSpPr txBox="1"/>
          <p:nvPr/>
        </p:nvSpPr>
        <p:spPr>
          <a:xfrm>
            <a:off x="685800" y="5257800"/>
            <a:ext cx="1828800" cy="713232"/>
          </a:xfrm>
          <a:prstGeom prst="rect">
            <a:avLst/>
          </a:prstGeom>
          <a:noFill/>
          <a:ln/>
        </p:spPr>
        <p:txBody>
          <a:bodyPr wrap="square" lIns="0" tIns="0" rIns="0" bIns="0" rtlCol="0" anchor="ctr"/>
          <a:lstStyle/>
          <a:p>
            <a:pPr marL="0" indent="0">
              <a:buNone/>
            </a:pPr>
            <a:r>
              <a:rPr lang="en-US" b="1" dirty="0">
                <a:solidFill>
                  <a:srgbClr val="1C7293"/>
                </a:solidFill>
                <a:latin typeface="Courier New" pitchFamily="34" charset="0"/>
                <a:ea typeface="Courier New" pitchFamily="34" charset="-122"/>
                <a:cs typeface="Courier New" pitchFamily="34" charset="-120"/>
              </a:rPr>
              <a:t>3:25 – 3:30</a:t>
            </a:r>
            <a:endParaRPr lang="en-US" dirty="0"/>
          </a:p>
        </p:txBody>
      </p:sp>
      <p:sp>
        <p:nvSpPr>
          <p:cNvPr id="25" name="Text 23"/>
          <p:cNvSpPr txBox="1"/>
          <p:nvPr/>
        </p:nvSpPr>
        <p:spPr>
          <a:xfrm>
            <a:off x="2606040" y="5257800"/>
            <a:ext cx="7406640" cy="713232"/>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Rapid-fire self-check + what's next</a:t>
            </a:r>
            <a:endParaRPr lang="en-US" dirty="0"/>
          </a:p>
        </p:txBody>
      </p:sp>
      <p:sp>
        <p:nvSpPr>
          <p:cNvPr id="26" name="Text 24"/>
          <p:cNvSpPr txBox="1"/>
          <p:nvPr/>
        </p:nvSpPr>
        <p:spPr>
          <a:xfrm>
            <a:off x="10058400" y="5257800"/>
            <a:ext cx="1417320" cy="713232"/>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5 min</a:t>
            </a:r>
            <a:endParaRPr lang="en-US" dirty="0"/>
          </a:p>
        </p:txBody>
      </p:sp>
      <p:sp>
        <p:nvSpPr>
          <p:cNvPr id="27" name="Text 25"/>
          <p:cNvSpPr txBox="1"/>
          <p:nvPr/>
        </p:nvSpPr>
        <p:spPr>
          <a:xfrm>
            <a:off x="548640" y="6108192"/>
            <a:ext cx="11064240" cy="548640"/>
          </a:xfrm>
          <a:prstGeom prst="rect">
            <a:avLst/>
          </a:prstGeom>
          <a:noFill/>
          <a:ln/>
        </p:spPr>
        <p:txBody>
          <a:bodyPr wrap="square" lIns="0" tIns="0" rIns="0" bIns="0" rtlCol="0" anchor="ctr"/>
          <a:lstStyle/>
          <a:p>
            <a:pPr marL="0" indent="0">
              <a:buNone/>
            </a:pPr>
            <a:r>
              <a:rPr lang="en-US" sz="1300" i="1" dirty="0">
                <a:solidFill>
                  <a:srgbClr val="5C6B7A"/>
                </a:solidFill>
                <a:latin typeface="Calibri" pitchFamily="34" charset="0"/>
                <a:ea typeface="Calibri" pitchFamily="34" charset="-122"/>
                <a:cs typeface="Calibri" pitchFamily="34" charset="-120"/>
              </a:rPr>
              <a:t>Goal: by 3:30 PM, every student can independently re-run each week's lab code from memory and knows exactly why Assignment 1's trickiest questions work the way they do.</a:t>
            </a:r>
            <a:endParaRPr lang="en-US" sz="1300" dirty="0"/>
          </a:p>
        </p:txBody>
      </p:sp>
      <p:sp>
        <p:nvSpPr>
          <p:cNvPr id="28" name="Text 26"/>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9" name="Text 27"/>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1 RECAP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Key Ideas from Week 1</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2:33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The MATLAB desktop: Command Window, Workspace, editor</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clc, clear, close all — what each one actually clears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Creating variables and checking them with whos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Operator precedence (PEMDAS): ^  then  * /  (L→R)  then  + −  (L→R)</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disp() vs. just typing a variable name</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station_id = 101;</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depth = 250.5;      % metres</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velocity = 1800;    % m/s</a:t>
            </a:r>
            <a:endParaRPr lang="en-US" dirty="0"/>
          </a:p>
          <a:p>
            <a:pPr marL="0" indent="0">
              <a:spcAft>
                <a:spcPts val="400"/>
              </a:spcAft>
              <a:buNone/>
            </a:pP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whos</a:t>
            </a:r>
            <a:endParaRPr lang="en-US" dirty="0"/>
          </a:p>
          <a:p>
            <a:pPr marL="0" indent="0">
              <a:spcAft>
                <a:spcPts val="400"/>
              </a:spcAft>
              <a:buNone/>
            </a:pP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travel_time = 2*depth/velocity;</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disp(travel_time)</a:t>
            </a:r>
            <a:endParaRPr lang="en-US"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1 — RE-RUNNING THE 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Rebuild It From Memory: Survey Setup</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2:39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Close MATLAB in your head — don't look at old code</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Re-type the variables, run whos, compute travel_time</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Then predict the PEMDAS puzzle BEFORE running it</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Predict first, then run:</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result = 3 + 4^2*2 - (5-1)/2;</a:t>
            </a:r>
            <a:endParaRPr lang="en-US" dirty="0"/>
          </a:p>
          <a:p>
            <a:pPr marL="0" indent="0">
              <a:spcAft>
                <a:spcPts val="400"/>
              </a:spcAft>
              <a:buNone/>
            </a:pP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Step-by-step:</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4^2      = 16</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16*2     = 32</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(5-1)/2  = 2</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3+32-2   = 33</a:t>
            </a:r>
            <a:endParaRPr lang="en-US"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2 RECAP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Key Ideas from Week 2</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2:45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7223B"/>
                </a:solidFill>
                <a:latin typeface="Calibri" pitchFamily="34" charset="0"/>
                <a:ea typeface="Calibri" pitchFamily="34" charset="-122"/>
                <a:cs typeface="Calibri" pitchFamily="34" charset="-120"/>
              </a:rPr>
              <a:t>Row vectors: [a b c] and the colon operator a:step:b</a:t>
            </a:r>
            <a:endParaRPr lang="en-US" sz="1600" dirty="0"/>
          </a:p>
          <a:p>
            <a:pPr marL="228600" indent="-228600">
              <a:spcAft>
                <a:spcPts val="1200"/>
              </a:spcAft>
              <a:buSzPct val="100000"/>
              <a:buChar char="▪"/>
            </a:pPr>
            <a:r>
              <a:rPr lang="en-US" sz="1600" dirty="0">
                <a:solidFill>
                  <a:srgbClr val="17223B"/>
                </a:solidFill>
                <a:latin typeface="Calibri" pitchFamily="34" charset="0"/>
                <a:ea typeface="Calibri" pitchFamily="34" charset="-122"/>
                <a:cs typeface="Calibri" pitchFamily="34" charset="-120"/>
              </a:rPr>
              <a:t>linspace(a,b,n) — same range, exact point COUNT instead of step</a:t>
            </a:r>
            <a:endParaRPr lang="en-US" sz="1600" dirty="0"/>
          </a:p>
          <a:p>
            <a:pPr marL="228600" indent="-228600">
              <a:spcAft>
                <a:spcPts val="1200"/>
              </a:spcAft>
              <a:buSzPct val="100000"/>
              <a:buChar char="▪"/>
            </a:pPr>
            <a:r>
              <a:rPr lang="en-US" sz="1600" dirty="0">
                <a:solidFill>
                  <a:srgbClr val="17223B"/>
                </a:solidFill>
                <a:latin typeface="Calibri" pitchFamily="34" charset="0"/>
                <a:ea typeface="Calibri" pitchFamily="34" charset="-122"/>
                <a:cs typeface="Calibri" pitchFamily="34" charset="-120"/>
              </a:rPr>
              <a:t>Indexing: v(i), an index vector v([2 4 6]), and logical indexing v(v&gt;k)</a:t>
            </a:r>
            <a:endParaRPr lang="en-US" sz="1600" dirty="0"/>
          </a:p>
          <a:p>
            <a:pPr marL="228600" indent="-228600">
              <a:spcAft>
                <a:spcPts val="1200"/>
              </a:spcAft>
              <a:buSzPct val="100000"/>
              <a:buChar char="▪"/>
            </a:pPr>
            <a:r>
              <a:rPr lang="en-US" sz="1600" dirty="0">
                <a:solidFill>
                  <a:srgbClr val="17223B"/>
                </a:solidFill>
                <a:latin typeface="Calibri" pitchFamily="34" charset="0"/>
                <a:ea typeface="Calibri" pitchFamily="34" charset="-122"/>
                <a:cs typeface="Calibri" pitchFamily="34" charset="-120"/>
              </a:rPr>
              <a:t>Matrices: subscripted A(r,c) vs. linear A(k) — column-major order</a:t>
            </a:r>
            <a:endParaRPr lang="en-US" sz="1600" dirty="0"/>
          </a:p>
          <a:p>
            <a:pPr marL="228600" indent="-228600">
              <a:spcAft>
                <a:spcPts val="1200"/>
              </a:spcAft>
              <a:buSzPct val="100000"/>
              <a:buChar char="▪"/>
            </a:pPr>
            <a:r>
              <a:rPr lang="en-US" sz="1600" dirty="0">
                <a:solidFill>
                  <a:srgbClr val="17223B"/>
                </a:solidFill>
                <a:latin typeface="Calibri" pitchFamily="34" charset="0"/>
                <a:ea typeface="Calibri" pitchFamily="34" charset="-122"/>
                <a:cs typeface="Calibri" pitchFamily="34" charset="-120"/>
              </a:rPr>
              <a:t>writematrix / readmatrix for saving and reloading field data</a:t>
            </a:r>
            <a:endParaRPr lang="en-US" sz="16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sz="1600"/>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 = [980.1 979.8 981.5 978.9 ...</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980.7 982.0 979.3];</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high = g(g &gt; 980)      % logical indexing</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g(g &lt; 979) = NaN;      % no loop needed</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writematrix(g,'g.txt');</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g2 = readmatrix('g.txt');</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2 — RE-RUNNING THE 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Rebuild It From Memory: Well-Log Matrix</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2:51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Build a 4x3 log_data matrix (depth samples x logs)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Pull row 3/col 2 by subscript, and the whole 2nd column</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Explain what log_data(5) returns and WHY (column-major)</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sz="1600"/>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log_data = randi(100,4,3);</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log_data(3,2)          % subscripted</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resistivity = log_data(:,2);</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log_data(1,:) = [10 20 30];</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size(log_data), numel(log_data)</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log_data(5)   % linear index -&gt; column-major</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3 RECAP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Key Ideas from Week 3</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2:57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 and − need identical dimensions; scalar + matrix broadcasts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Dot operators .*  ./  .^  act element-by-element</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No-dot * needs matching inner dimensions — and is NOT commutative</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[A B] / [A;B]: horzcat needs same rows, vertcat needs same columns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det(), inv(), and A\b for solving linear systems (A\b is preferred)</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[2 1; 0 3];  B = [1 -1; 2 4];</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A.*B     % element-wise</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A*B      % matrix mult (inner dims match)</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B*A      % different! order matters</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A2 = [4 2; 3 5];  b = [16; 19];</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x = A2 \ b        % preferred over inv(A2)*b</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3 — RE-RUNNING LAB 1</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Rebuild It From Memory: Concatenating Stations</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3:02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Two station matrices, SAME number of columns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Vertically concatenate into one combined dataset</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Verify the combined size with size()</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stationA = [10 2.1; 20 2.3; 30 2.0];</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stationB = [40 1.9; 50 2.2];</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survey = [stationA; stationB]</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[rows, cols] = size(survey)</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rows = 5, cols = 2</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3 — RE-RUNNING LAB 2</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Rebuild It From Memory: Element-Wise Ops</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3:05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Two equal-length reading vectors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Element-wise product, ratio, and squared difference</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No loops — pure vectorized MATLAB</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 = [5.2 5.4 5.1 4.8];</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m = [40.1 40.5 40.3 39.8];</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prod_gm = g .* m</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ratio_gm = g ./ m</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sq_diff = (g - m).^2</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WEEK 3 — RE-RUNNING LAB 3</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Rebuild It From Memory: Matrix Algebra</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3:08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Identity and diagonal matrices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Determinant and inverse of a 2x2 matrix</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Solve a small linear system with backslash</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I3 = eye(3);   D = diag([2 4 6]);</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[4 7; 2 6];</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detA = det(A);   invA = inv(A);</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b = [5; 1];</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x = [1 2; 3 -1] \ b</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ASSIGNMENT 1 WALKTHROUGH</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How Assignment 1 Maps to Weeks 1–3</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3:12 PM</a:t>
            </a:r>
            <a:endParaRPr lang="en-US" sz="1150" dirty="0"/>
          </a:p>
        </p:txBody>
      </p:sp>
      <p:sp>
        <p:nvSpPr>
          <p:cNvPr id="6" name="Shape 4"/>
          <p:cNvSpPr/>
          <p:nvPr/>
        </p:nvSpPr>
        <p:spPr>
          <a:xfrm>
            <a:off x="548640" y="1600200"/>
            <a:ext cx="11064240" cy="1380744"/>
          </a:xfrm>
          <a:prstGeom prst="roundRect">
            <a:avLst>
              <a:gd name="adj" fmla="val 6623"/>
            </a:avLst>
          </a:prstGeom>
          <a:solidFill>
            <a:srgbClr val="E9EEF4"/>
          </a:solidFill>
          <a:ln w="12700">
            <a:solidFill>
              <a:srgbClr val="D7DEE7"/>
            </a:solidFill>
            <a:prstDash val="solid"/>
          </a:ln>
        </p:spPr>
        <p:txBody>
          <a:bodyPr/>
          <a:lstStyle/>
          <a:p>
            <a:endParaRPr lang="en-US"/>
          </a:p>
        </p:txBody>
      </p:sp>
      <p:sp>
        <p:nvSpPr>
          <p:cNvPr id="7" name="Text 5"/>
          <p:cNvSpPr txBox="1"/>
          <p:nvPr/>
        </p:nvSpPr>
        <p:spPr>
          <a:xfrm>
            <a:off x="777240" y="1600200"/>
            <a:ext cx="2377440" cy="1380744"/>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Section A — Q1, Q2</a:t>
            </a:r>
            <a:endParaRPr lang="en-US" dirty="0"/>
          </a:p>
        </p:txBody>
      </p:sp>
      <p:sp>
        <p:nvSpPr>
          <p:cNvPr id="8" name="Text 6"/>
          <p:cNvSpPr txBox="1"/>
          <p:nvPr/>
        </p:nvSpPr>
        <p:spPr>
          <a:xfrm>
            <a:off x="3200400" y="1600200"/>
            <a:ext cx="1371600" cy="1380744"/>
          </a:xfrm>
          <a:prstGeom prst="rect">
            <a:avLst/>
          </a:prstGeom>
          <a:noFill/>
          <a:ln/>
        </p:spPr>
        <p:txBody>
          <a:bodyPr wrap="square" lIns="0" tIns="0" rIns="0" bIns="0" rtlCol="0" anchor="ctr"/>
          <a:lstStyle/>
          <a:p>
            <a:pPr marL="0" indent="0">
              <a:buNone/>
            </a:pPr>
            <a:r>
              <a:rPr lang="en-US" b="1" dirty="0">
                <a:solidFill>
                  <a:srgbClr val="1C7293"/>
                </a:solidFill>
                <a:latin typeface="Calibri" pitchFamily="34" charset="0"/>
                <a:ea typeface="Calibri" pitchFamily="34" charset="-122"/>
                <a:cs typeface="Calibri" pitchFamily="34" charset="-120"/>
              </a:rPr>
              <a:t>Week 1</a:t>
            </a:r>
            <a:endParaRPr lang="en-US" dirty="0"/>
          </a:p>
        </p:txBody>
      </p:sp>
      <p:sp>
        <p:nvSpPr>
          <p:cNvPr id="9" name="Text 7"/>
          <p:cNvSpPr txBox="1"/>
          <p:nvPr/>
        </p:nvSpPr>
        <p:spPr>
          <a:xfrm>
            <a:off x="4663440" y="1600200"/>
            <a:ext cx="5760720" cy="138074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Environment, variables, whos, PEMDAS</a:t>
            </a:r>
            <a:endParaRPr lang="en-US" dirty="0"/>
          </a:p>
        </p:txBody>
      </p:sp>
      <p:sp>
        <p:nvSpPr>
          <p:cNvPr id="10" name="Text 8"/>
          <p:cNvSpPr txBox="1"/>
          <p:nvPr/>
        </p:nvSpPr>
        <p:spPr>
          <a:xfrm>
            <a:off x="10515600" y="1600200"/>
            <a:ext cx="1005840" cy="1380744"/>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4 marks</a:t>
            </a:r>
            <a:endParaRPr lang="en-US" dirty="0"/>
          </a:p>
        </p:txBody>
      </p:sp>
      <p:sp>
        <p:nvSpPr>
          <p:cNvPr id="11" name="Shape 9"/>
          <p:cNvSpPr/>
          <p:nvPr/>
        </p:nvSpPr>
        <p:spPr>
          <a:xfrm>
            <a:off x="548640" y="3108960"/>
            <a:ext cx="11064240" cy="1380744"/>
          </a:xfrm>
          <a:prstGeom prst="roundRect">
            <a:avLst>
              <a:gd name="adj" fmla="val 6623"/>
            </a:avLst>
          </a:prstGeom>
          <a:solidFill>
            <a:srgbClr val="FFFFFF"/>
          </a:solidFill>
          <a:ln w="12700">
            <a:solidFill>
              <a:srgbClr val="D7DEE7"/>
            </a:solidFill>
            <a:prstDash val="solid"/>
          </a:ln>
        </p:spPr>
        <p:txBody>
          <a:bodyPr/>
          <a:lstStyle/>
          <a:p>
            <a:endParaRPr lang="en-US"/>
          </a:p>
        </p:txBody>
      </p:sp>
      <p:sp>
        <p:nvSpPr>
          <p:cNvPr id="12" name="Text 10"/>
          <p:cNvSpPr txBox="1"/>
          <p:nvPr/>
        </p:nvSpPr>
        <p:spPr>
          <a:xfrm>
            <a:off x="777240" y="3108960"/>
            <a:ext cx="2377440" cy="1380744"/>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Section B — Q3–Q6</a:t>
            </a:r>
            <a:endParaRPr lang="en-US" dirty="0"/>
          </a:p>
        </p:txBody>
      </p:sp>
      <p:sp>
        <p:nvSpPr>
          <p:cNvPr id="13" name="Text 11"/>
          <p:cNvSpPr txBox="1"/>
          <p:nvPr/>
        </p:nvSpPr>
        <p:spPr>
          <a:xfrm>
            <a:off x="3200400" y="3108960"/>
            <a:ext cx="1371600" cy="1380744"/>
          </a:xfrm>
          <a:prstGeom prst="rect">
            <a:avLst/>
          </a:prstGeom>
          <a:noFill/>
          <a:ln/>
        </p:spPr>
        <p:txBody>
          <a:bodyPr wrap="square" lIns="0" tIns="0" rIns="0" bIns="0" rtlCol="0" anchor="ctr"/>
          <a:lstStyle/>
          <a:p>
            <a:pPr marL="0" indent="0">
              <a:buNone/>
            </a:pPr>
            <a:r>
              <a:rPr lang="en-US" b="1" dirty="0">
                <a:solidFill>
                  <a:srgbClr val="1C7293"/>
                </a:solidFill>
                <a:latin typeface="Calibri" pitchFamily="34" charset="0"/>
                <a:ea typeface="Calibri" pitchFamily="34" charset="-122"/>
                <a:cs typeface="Calibri" pitchFamily="34" charset="-120"/>
              </a:rPr>
              <a:t>Week 2</a:t>
            </a:r>
            <a:endParaRPr lang="en-US" dirty="0"/>
          </a:p>
        </p:txBody>
      </p:sp>
      <p:sp>
        <p:nvSpPr>
          <p:cNvPr id="14" name="Text 12"/>
          <p:cNvSpPr txBox="1"/>
          <p:nvPr/>
        </p:nvSpPr>
        <p:spPr>
          <a:xfrm>
            <a:off x="4663440" y="3108960"/>
            <a:ext cx="5760720" cy="138074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Vectors, indexing, logical indexing, file I/O</a:t>
            </a:r>
            <a:endParaRPr lang="en-US" dirty="0"/>
          </a:p>
        </p:txBody>
      </p:sp>
      <p:sp>
        <p:nvSpPr>
          <p:cNvPr id="15" name="Text 13"/>
          <p:cNvSpPr txBox="1"/>
          <p:nvPr/>
        </p:nvSpPr>
        <p:spPr>
          <a:xfrm>
            <a:off x="10515600" y="3108960"/>
            <a:ext cx="1005840" cy="1380744"/>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8 marks</a:t>
            </a:r>
            <a:endParaRPr lang="en-US" dirty="0"/>
          </a:p>
        </p:txBody>
      </p:sp>
      <p:sp>
        <p:nvSpPr>
          <p:cNvPr id="16" name="Shape 14"/>
          <p:cNvSpPr/>
          <p:nvPr/>
        </p:nvSpPr>
        <p:spPr>
          <a:xfrm>
            <a:off x="548640" y="4617720"/>
            <a:ext cx="11064240" cy="1380744"/>
          </a:xfrm>
          <a:prstGeom prst="roundRect">
            <a:avLst>
              <a:gd name="adj" fmla="val 6623"/>
            </a:avLst>
          </a:prstGeom>
          <a:solidFill>
            <a:srgbClr val="E9EEF4"/>
          </a:solidFill>
          <a:ln w="12700">
            <a:solidFill>
              <a:srgbClr val="D7DEE7"/>
            </a:solidFill>
            <a:prstDash val="solid"/>
          </a:ln>
        </p:spPr>
        <p:txBody>
          <a:bodyPr/>
          <a:lstStyle/>
          <a:p>
            <a:endParaRPr lang="en-US"/>
          </a:p>
        </p:txBody>
      </p:sp>
      <p:sp>
        <p:nvSpPr>
          <p:cNvPr id="17" name="Text 15"/>
          <p:cNvSpPr txBox="1"/>
          <p:nvPr/>
        </p:nvSpPr>
        <p:spPr>
          <a:xfrm>
            <a:off x="777240" y="4617720"/>
            <a:ext cx="2377440" cy="1380744"/>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Section C — Q7–Q12</a:t>
            </a:r>
            <a:endParaRPr lang="en-US" dirty="0"/>
          </a:p>
        </p:txBody>
      </p:sp>
      <p:sp>
        <p:nvSpPr>
          <p:cNvPr id="18" name="Text 16"/>
          <p:cNvSpPr txBox="1"/>
          <p:nvPr/>
        </p:nvSpPr>
        <p:spPr>
          <a:xfrm>
            <a:off x="3200400" y="4617720"/>
            <a:ext cx="1371600" cy="1380744"/>
          </a:xfrm>
          <a:prstGeom prst="rect">
            <a:avLst/>
          </a:prstGeom>
          <a:noFill/>
          <a:ln/>
        </p:spPr>
        <p:txBody>
          <a:bodyPr wrap="square" lIns="0" tIns="0" rIns="0" bIns="0" rtlCol="0" anchor="ctr"/>
          <a:lstStyle/>
          <a:p>
            <a:pPr marL="0" indent="0">
              <a:buNone/>
            </a:pPr>
            <a:r>
              <a:rPr lang="en-US" b="1" dirty="0">
                <a:solidFill>
                  <a:srgbClr val="1C7293"/>
                </a:solidFill>
                <a:latin typeface="Calibri" pitchFamily="34" charset="0"/>
                <a:ea typeface="Calibri" pitchFamily="34" charset="-122"/>
                <a:cs typeface="Calibri" pitchFamily="34" charset="-120"/>
              </a:rPr>
              <a:t>Week 3</a:t>
            </a:r>
            <a:endParaRPr lang="en-US" dirty="0"/>
          </a:p>
        </p:txBody>
      </p:sp>
      <p:sp>
        <p:nvSpPr>
          <p:cNvPr id="19" name="Text 17"/>
          <p:cNvSpPr txBox="1"/>
          <p:nvPr/>
        </p:nvSpPr>
        <p:spPr>
          <a:xfrm>
            <a:off x="4663440" y="4617720"/>
            <a:ext cx="5760720" cy="138074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 .* vs *, concatenation, det/inv/backslash</a:t>
            </a:r>
            <a:endParaRPr lang="en-US" dirty="0"/>
          </a:p>
        </p:txBody>
      </p:sp>
      <p:sp>
        <p:nvSpPr>
          <p:cNvPr id="20" name="Text 18"/>
          <p:cNvSpPr txBox="1"/>
          <p:nvPr/>
        </p:nvSpPr>
        <p:spPr>
          <a:xfrm>
            <a:off x="10515600" y="4617720"/>
            <a:ext cx="1005840" cy="1380744"/>
          </a:xfrm>
          <a:prstGeom prst="rect">
            <a:avLst/>
          </a:prstGeom>
          <a:noFill/>
          <a:ln/>
        </p:spPr>
        <p:txBody>
          <a:bodyPr wrap="square" lIns="0" tIns="0" rIns="0" bIns="0" rtlCol="0" anchor="ctr"/>
          <a:lstStyle/>
          <a:p>
            <a:pPr marL="0" indent="0" algn="r">
              <a:buNone/>
            </a:pPr>
            <a:r>
              <a:rPr lang="en-US" i="1" dirty="0">
                <a:solidFill>
                  <a:srgbClr val="5C6B7A"/>
                </a:solidFill>
                <a:latin typeface="Calibri" pitchFamily="34" charset="0"/>
                <a:ea typeface="Calibri" pitchFamily="34" charset="-122"/>
                <a:cs typeface="Calibri" pitchFamily="34" charset="-120"/>
              </a:rPr>
              <a:t>8 marks</a:t>
            </a:r>
            <a:endParaRPr lang="en-US" dirty="0"/>
          </a:p>
        </p:txBody>
      </p:sp>
      <p:sp>
        <p:nvSpPr>
          <p:cNvPr id="21" name="Text 19"/>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2" name="Text 20"/>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ASSIGNMENT 1 — TRAP #1</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A.*B, A*B and B*A Are All Different</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3:16 PM</a:t>
            </a:r>
            <a:endParaRPr lang="en-US" sz="1150" dirty="0"/>
          </a:p>
        </p:txBody>
      </p:sp>
      <p:sp>
        <p:nvSpPr>
          <p:cNvPr id="6" name="Shape 4"/>
          <p:cNvSpPr/>
          <p:nvPr/>
        </p:nvSpPr>
        <p:spPr>
          <a:xfrm>
            <a:off x="548640" y="1600200"/>
            <a:ext cx="53949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7" name="Shape 5"/>
          <p:cNvSpPr/>
          <p:nvPr/>
        </p:nvSpPr>
        <p:spPr>
          <a:xfrm>
            <a:off x="6217920" y="1600200"/>
            <a:ext cx="53949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Text 6"/>
          <p:cNvSpPr txBox="1"/>
          <p:nvPr/>
        </p:nvSpPr>
        <p:spPr>
          <a:xfrm>
            <a:off x="713232" y="1691640"/>
            <a:ext cx="5065776" cy="320040"/>
          </a:xfrm>
          <a:prstGeom prst="rect">
            <a:avLst/>
          </a:prstGeom>
          <a:noFill/>
          <a:ln/>
        </p:spPr>
        <p:txBody>
          <a:bodyPr wrap="square" lIns="0" tIns="0" rIns="0" bIns="0" rtlCol="0" anchor="ctr"/>
          <a:lstStyle/>
          <a:p>
            <a:pPr marL="0" indent="0">
              <a:buNone/>
            </a:pPr>
            <a:r>
              <a:rPr lang="en-US" b="1" dirty="0">
                <a:solidFill>
                  <a:srgbClr val="1C7293"/>
                </a:solidFill>
                <a:latin typeface="Calibri" pitchFamily="34" charset="0"/>
                <a:ea typeface="Calibri" pitchFamily="34" charset="-122"/>
                <a:cs typeface="Calibri" pitchFamily="34" charset="-120"/>
              </a:rPr>
              <a:t>The Concept</a:t>
            </a:r>
            <a:endParaRPr lang="en-US" dirty="0"/>
          </a:p>
        </p:txBody>
      </p:sp>
      <p:sp>
        <p:nvSpPr>
          <p:cNvPr id="9" name="Text 7"/>
          <p:cNvSpPr txBox="1"/>
          <p:nvPr/>
        </p:nvSpPr>
        <p:spPr>
          <a:xfrm>
            <a:off x="6382512" y="1691640"/>
            <a:ext cx="5065776" cy="320040"/>
          </a:xfrm>
          <a:prstGeom prst="rect">
            <a:avLst/>
          </a:prstGeom>
          <a:noFill/>
          <a:ln/>
        </p:spPr>
        <p:txBody>
          <a:bodyPr wrap="square" lIns="0" tIns="0" rIns="0" bIns="0" rtlCol="0" anchor="ctr"/>
          <a:lstStyle/>
          <a:p>
            <a:pPr marL="0" indent="0">
              <a:buNone/>
            </a:pPr>
            <a:r>
              <a:rPr lang="en-US" b="1" dirty="0">
                <a:solidFill>
                  <a:srgbClr val="C9A227"/>
                </a:solidFill>
                <a:latin typeface="Calibri" pitchFamily="34" charset="0"/>
                <a:ea typeface="Calibri" pitchFamily="34" charset="-122"/>
                <a:cs typeface="Calibri" pitchFamily="34" charset="-120"/>
              </a:rPr>
              <a:t>Assignment 1, Q8</a:t>
            </a:r>
            <a:endParaRPr lang="en-US" dirty="0"/>
          </a:p>
        </p:txBody>
      </p:sp>
      <p:sp>
        <p:nvSpPr>
          <p:cNvPr id="10" name="Text 8"/>
          <p:cNvSpPr txBox="1"/>
          <p:nvPr/>
        </p:nvSpPr>
        <p:spPr>
          <a:xfrm>
            <a:off x="713232" y="2057400"/>
            <a:ext cx="5065776" cy="397764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A.*B — element-wise: (i,j) x (i,j)</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A*B — row-of-A x col-of-B, dot product per entry</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B*A — swap the order, get a DIFFERENT matrix</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Matrix multiplication is NOT commutative</a:t>
            </a:r>
            <a:endParaRPr lang="en-US" dirty="0"/>
          </a:p>
        </p:txBody>
      </p:sp>
      <p:sp>
        <p:nvSpPr>
          <p:cNvPr id="11" name="Text 9"/>
          <p:cNvSpPr txBox="1"/>
          <p:nvPr/>
        </p:nvSpPr>
        <p:spPr>
          <a:xfrm>
            <a:off x="6382512" y="2057400"/>
            <a:ext cx="5065776" cy="397764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A = [2 1;0 3]  B = [1 -1;2 4]</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A.*B = [2 -1; 0 12]</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A*B  = [4 2; 6 12]</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B*A  = [2 -2; 4 14]   ← all three differ</a:t>
            </a:r>
            <a:endParaRPr lang="en-US" dirty="0"/>
          </a:p>
        </p:txBody>
      </p:sp>
      <p:sp>
        <p:nvSpPr>
          <p:cNvPr id="12" name="Text 10"/>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3" name="Text 11"/>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ASSIGNMENT 1 — TRAP #2</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Linear Indexing &amp; Squaring a Matrix</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3:20 PM</a:t>
            </a:r>
            <a:endParaRPr lang="en-US" sz="1150" dirty="0"/>
          </a:p>
        </p:txBody>
      </p:sp>
      <p:sp>
        <p:nvSpPr>
          <p:cNvPr id="6" name="Shape 4"/>
          <p:cNvSpPr/>
          <p:nvPr/>
        </p:nvSpPr>
        <p:spPr>
          <a:xfrm>
            <a:off x="548640" y="1600200"/>
            <a:ext cx="53949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7" name="Shape 5"/>
          <p:cNvSpPr/>
          <p:nvPr/>
        </p:nvSpPr>
        <p:spPr>
          <a:xfrm>
            <a:off x="6217920" y="1600200"/>
            <a:ext cx="53949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Text 6"/>
          <p:cNvSpPr txBox="1"/>
          <p:nvPr/>
        </p:nvSpPr>
        <p:spPr>
          <a:xfrm>
            <a:off x="713232" y="1691640"/>
            <a:ext cx="5065776" cy="320040"/>
          </a:xfrm>
          <a:prstGeom prst="rect">
            <a:avLst/>
          </a:prstGeom>
          <a:noFill/>
          <a:ln/>
        </p:spPr>
        <p:txBody>
          <a:bodyPr wrap="square" lIns="0" tIns="0" rIns="0" bIns="0" rtlCol="0" anchor="ctr"/>
          <a:lstStyle/>
          <a:p>
            <a:pPr marL="0" indent="0">
              <a:buNone/>
            </a:pPr>
            <a:r>
              <a:rPr lang="en-US" b="1" dirty="0">
                <a:solidFill>
                  <a:srgbClr val="1C7293"/>
                </a:solidFill>
                <a:latin typeface="Calibri" pitchFamily="34" charset="0"/>
                <a:ea typeface="Calibri" pitchFamily="34" charset="-122"/>
                <a:cs typeface="Calibri" pitchFamily="34" charset="-120"/>
              </a:rPr>
              <a:t>Column-Major Indexing (Q5)</a:t>
            </a:r>
            <a:endParaRPr lang="en-US" dirty="0"/>
          </a:p>
        </p:txBody>
      </p:sp>
      <p:sp>
        <p:nvSpPr>
          <p:cNvPr id="9" name="Text 7"/>
          <p:cNvSpPr txBox="1"/>
          <p:nvPr/>
        </p:nvSpPr>
        <p:spPr>
          <a:xfrm>
            <a:off x="6382512" y="1691640"/>
            <a:ext cx="5065776" cy="320040"/>
          </a:xfrm>
          <a:prstGeom prst="rect">
            <a:avLst/>
          </a:prstGeom>
          <a:noFill/>
          <a:ln/>
        </p:spPr>
        <p:txBody>
          <a:bodyPr wrap="square" lIns="0" tIns="0" rIns="0" bIns="0" rtlCol="0" anchor="ctr"/>
          <a:lstStyle/>
          <a:p>
            <a:pPr marL="0" indent="0">
              <a:buNone/>
            </a:pPr>
            <a:r>
              <a:rPr lang="en-US" b="1" dirty="0">
                <a:solidFill>
                  <a:srgbClr val="C9A227"/>
                </a:solidFill>
                <a:latin typeface="Calibri" pitchFamily="34" charset="0"/>
                <a:ea typeface="Calibri" pitchFamily="34" charset="-122"/>
                <a:cs typeface="Calibri" pitchFamily="34" charset="-120"/>
              </a:rPr>
              <a:t>C^2 vs C.^2 (Q11)</a:t>
            </a:r>
            <a:endParaRPr lang="en-US" dirty="0"/>
          </a:p>
        </p:txBody>
      </p:sp>
      <p:sp>
        <p:nvSpPr>
          <p:cNvPr id="10" name="Text 8"/>
          <p:cNvSpPr txBox="1"/>
          <p:nvPr/>
        </p:nvSpPr>
        <p:spPr>
          <a:xfrm>
            <a:off x="713232" y="2057400"/>
            <a:ext cx="5065776" cy="397764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log_data(5) reads DOWN column 1 first</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then wraps into column 2, row 1</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 never left-to-right across a row</a:t>
            </a:r>
            <a:endParaRPr lang="en-US" dirty="0"/>
          </a:p>
        </p:txBody>
      </p:sp>
      <p:sp>
        <p:nvSpPr>
          <p:cNvPr id="11" name="Text 9"/>
          <p:cNvSpPr txBox="1"/>
          <p:nvPr/>
        </p:nvSpPr>
        <p:spPr>
          <a:xfrm>
            <a:off x="6382512" y="2057400"/>
            <a:ext cx="5065776" cy="397764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C = [1 2; 3 4]</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C^2  = C*C   (real matrix square)</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C.^2 = each entry squared</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these are usually DIFFERENT numbers</a:t>
            </a:r>
            <a:endParaRPr lang="en-US" dirty="0"/>
          </a:p>
        </p:txBody>
      </p:sp>
      <p:sp>
        <p:nvSpPr>
          <p:cNvPr id="12" name="Text 10"/>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3" name="Text 11"/>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RAPID-FIRE SELF-CHECK</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0B2545"/>
                </a:solidFill>
                <a:latin typeface="Cambria" pitchFamily="34" charset="0"/>
                <a:ea typeface="Cambria" pitchFamily="34" charset="-122"/>
                <a:cs typeface="Cambria" pitchFamily="34" charset="-120"/>
              </a:rPr>
              <a:t>Five Quick Questions — Answer Out Loud</a:t>
            </a:r>
            <a:endParaRPr lang="en-US" sz="27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3:25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1. whos on a brand-new session — what shows up?</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2. g = [978 981 979]; sum(g&gt;980) = ?</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3. Is A*B the same as B*A in general?</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4. [A;B] needs matching ROWS or COLUMNS?</a:t>
            </a:r>
            <a:endParaRPr lang="en-US" dirty="0"/>
          </a:p>
          <a:p>
            <a:pPr marL="228600" indent="-228600">
              <a:spcAft>
                <a:spcPts val="1200"/>
              </a:spcAft>
              <a:buSzPct val="100000"/>
              <a:buChar char="▪"/>
            </a:pPr>
            <a:r>
              <a:rPr lang="en-US" dirty="0">
                <a:solidFill>
                  <a:srgbClr val="17223B"/>
                </a:solidFill>
                <a:latin typeface="Calibri" pitchFamily="34" charset="0"/>
                <a:ea typeface="Calibri" pitchFamily="34" charset="-122"/>
                <a:cs typeface="Calibri" pitchFamily="34" charset="-120"/>
              </a:rPr>
              <a:t>5. Preferred way to solve A*x=b: inv(A)*b or A\b?</a:t>
            </a:r>
            <a:endParaRPr lang="en-US"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9FE8B0"/>
                </a:solidFill>
                <a:latin typeface="Courier New" pitchFamily="34" charset="0"/>
                <a:ea typeface="Courier New" pitchFamily="34" charset="-122"/>
                <a:cs typeface="Courier New" pitchFamily="34" charset="-120"/>
              </a:rPr>
              <a:t>Answers:</a:t>
            </a:r>
            <a:endParaRPr lang="en-US" sz="1600" dirty="0"/>
          </a:p>
          <a:p>
            <a:pPr marL="0" indent="0">
              <a:spcAft>
                <a:spcPts val="400"/>
              </a:spcAft>
              <a:buNone/>
            </a:pPr>
            <a:r>
              <a:rPr lang="en-US" sz="1600" dirty="0">
                <a:solidFill>
                  <a:srgbClr val="9FE8B0"/>
                </a:solidFill>
                <a:latin typeface="Courier New" pitchFamily="34" charset="0"/>
                <a:ea typeface="Courier New" pitchFamily="34" charset="-122"/>
                <a:cs typeface="Courier New" pitchFamily="34" charset="-120"/>
              </a:rPr>
              <a:t>1. Nothing — workspace is empty</a:t>
            </a:r>
            <a:endParaRPr lang="en-US" sz="1600" dirty="0"/>
          </a:p>
          <a:p>
            <a:pPr marL="0" indent="0">
              <a:spcAft>
                <a:spcPts val="400"/>
              </a:spcAft>
              <a:buNone/>
            </a:pPr>
            <a:r>
              <a:rPr lang="en-US" sz="1600" dirty="0">
                <a:solidFill>
                  <a:srgbClr val="9FE8B0"/>
                </a:solidFill>
                <a:latin typeface="Courier New" pitchFamily="34" charset="0"/>
                <a:ea typeface="Courier New" pitchFamily="34" charset="-122"/>
                <a:cs typeface="Courier New" pitchFamily="34" charset="-120"/>
              </a:rPr>
              <a:t>2. 1  (only 981 &gt; 980)</a:t>
            </a:r>
            <a:endParaRPr lang="en-US" sz="1600" dirty="0"/>
          </a:p>
          <a:p>
            <a:pPr marL="0" indent="0">
              <a:spcAft>
                <a:spcPts val="400"/>
              </a:spcAft>
              <a:buNone/>
            </a:pPr>
            <a:r>
              <a:rPr lang="en-US" sz="1600" dirty="0">
                <a:solidFill>
                  <a:srgbClr val="9FE8B0"/>
                </a:solidFill>
                <a:latin typeface="Courier New" pitchFamily="34" charset="0"/>
                <a:ea typeface="Courier New" pitchFamily="34" charset="-122"/>
                <a:cs typeface="Courier New" pitchFamily="34" charset="-120"/>
              </a:rPr>
              <a:t>3. No — order changes the result</a:t>
            </a:r>
            <a:endParaRPr lang="en-US" sz="1600" dirty="0"/>
          </a:p>
          <a:p>
            <a:pPr marL="0" indent="0">
              <a:spcAft>
                <a:spcPts val="400"/>
              </a:spcAft>
              <a:buNone/>
            </a:pPr>
            <a:r>
              <a:rPr lang="en-US" sz="1600" dirty="0">
                <a:solidFill>
                  <a:srgbClr val="9FE8B0"/>
                </a:solidFill>
                <a:latin typeface="Courier New" pitchFamily="34" charset="0"/>
                <a:ea typeface="Courier New" pitchFamily="34" charset="-122"/>
                <a:cs typeface="Courier New" pitchFamily="34" charset="-120"/>
              </a:rPr>
              <a:t>4. Matching COLUMNS</a:t>
            </a:r>
            <a:endParaRPr lang="en-US" sz="1600" dirty="0"/>
          </a:p>
          <a:p>
            <a:pPr marL="0" indent="0">
              <a:spcAft>
                <a:spcPts val="400"/>
              </a:spcAft>
              <a:buNone/>
            </a:pPr>
            <a:r>
              <a:rPr lang="en-US" sz="1600" dirty="0">
                <a:solidFill>
                  <a:srgbClr val="9FE8B0"/>
                </a:solidFill>
                <a:latin typeface="Courier New" pitchFamily="34" charset="0"/>
                <a:ea typeface="Courier New" pitchFamily="34" charset="-122"/>
                <a:cs typeface="Courier New" pitchFamily="34" charset="-120"/>
              </a:rPr>
              <a:t>5. A\b  (numerically preferred)</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6868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WRAP-UP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Where We Stand &amp; What's Next</a:t>
            </a:r>
            <a:endParaRPr lang="en-US" sz="2700" dirty="0"/>
          </a:p>
        </p:txBody>
      </p:sp>
      <p:sp>
        <p:nvSpPr>
          <p:cNvPr id="4" name="Shape 2"/>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3:28 PM</a:t>
            </a:r>
            <a:endParaRPr lang="en-US" sz="1150" dirty="0"/>
          </a:p>
        </p:txBody>
      </p:sp>
      <p:sp>
        <p:nvSpPr>
          <p:cNvPr id="6" name="Shape 4"/>
          <p:cNvSpPr/>
          <p:nvPr/>
        </p:nvSpPr>
        <p:spPr>
          <a:xfrm>
            <a:off x="548640" y="1600200"/>
            <a:ext cx="11064240" cy="795528"/>
          </a:xfrm>
          <a:prstGeom prst="roundRect">
            <a:avLst>
              <a:gd name="adj" fmla="val 11494"/>
            </a:avLst>
          </a:prstGeom>
          <a:solidFill>
            <a:srgbClr val="12335A"/>
          </a:solidFill>
          <a:ln/>
        </p:spPr>
        <p:txBody>
          <a:bodyPr/>
          <a:lstStyle/>
          <a:p>
            <a:endParaRPr lang="en-US" sz="1600"/>
          </a:p>
        </p:txBody>
      </p:sp>
      <p:sp>
        <p:nvSpPr>
          <p:cNvPr id="7" name="Shape 5"/>
          <p:cNvSpPr/>
          <p:nvPr/>
        </p:nvSpPr>
        <p:spPr>
          <a:xfrm>
            <a:off x="713232" y="1796796"/>
            <a:ext cx="402336" cy="402336"/>
          </a:xfrm>
          <a:prstGeom prst="ellipse">
            <a:avLst/>
          </a:prstGeom>
          <a:solidFill>
            <a:srgbClr val="C9A227"/>
          </a:solidFill>
          <a:ln/>
        </p:spPr>
        <p:txBody>
          <a:bodyPr/>
          <a:lstStyle/>
          <a:p>
            <a:endParaRPr lang="en-US" sz="1600"/>
          </a:p>
        </p:txBody>
      </p:sp>
      <p:sp>
        <p:nvSpPr>
          <p:cNvPr id="8" name="Text 6"/>
          <p:cNvSpPr txBox="1"/>
          <p:nvPr/>
        </p:nvSpPr>
        <p:spPr>
          <a:xfrm>
            <a:off x="713232" y="1796796"/>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280160" y="1600200"/>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Weeks 1–3 fully revised: environment/precedence, vectors/indexing, matrix algebra</a:t>
            </a:r>
            <a:endParaRPr lang="en-US" sz="1600" dirty="0"/>
          </a:p>
        </p:txBody>
      </p:sp>
      <p:sp>
        <p:nvSpPr>
          <p:cNvPr id="10" name="Shape 8"/>
          <p:cNvSpPr/>
          <p:nvPr/>
        </p:nvSpPr>
        <p:spPr>
          <a:xfrm>
            <a:off x="548640" y="2505456"/>
            <a:ext cx="11064240" cy="795528"/>
          </a:xfrm>
          <a:prstGeom prst="roundRect">
            <a:avLst>
              <a:gd name="adj" fmla="val 11494"/>
            </a:avLst>
          </a:prstGeom>
          <a:solidFill>
            <a:srgbClr val="12335A"/>
          </a:solidFill>
          <a:ln/>
        </p:spPr>
        <p:txBody>
          <a:bodyPr/>
          <a:lstStyle/>
          <a:p>
            <a:endParaRPr lang="en-US" sz="1600"/>
          </a:p>
        </p:txBody>
      </p:sp>
      <p:sp>
        <p:nvSpPr>
          <p:cNvPr id="11" name="Shape 9"/>
          <p:cNvSpPr/>
          <p:nvPr/>
        </p:nvSpPr>
        <p:spPr>
          <a:xfrm>
            <a:off x="713232" y="2702052"/>
            <a:ext cx="402336" cy="402336"/>
          </a:xfrm>
          <a:prstGeom prst="ellipse">
            <a:avLst/>
          </a:prstGeom>
          <a:solidFill>
            <a:srgbClr val="C9A227"/>
          </a:solidFill>
          <a:ln/>
        </p:spPr>
        <p:txBody>
          <a:bodyPr/>
          <a:lstStyle/>
          <a:p>
            <a:endParaRPr lang="en-US" sz="1600"/>
          </a:p>
        </p:txBody>
      </p:sp>
      <p:sp>
        <p:nvSpPr>
          <p:cNvPr id="12" name="Text 10"/>
          <p:cNvSpPr txBox="1"/>
          <p:nvPr/>
        </p:nvSpPr>
        <p:spPr>
          <a:xfrm>
            <a:off x="713232" y="270205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1280160" y="2505456"/>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Assignment 1's two biggest traps (A*B order, column-major indexing) re-solved live</a:t>
            </a:r>
            <a:endParaRPr lang="en-US" sz="1600" dirty="0"/>
          </a:p>
        </p:txBody>
      </p:sp>
      <p:sp>
        <p:nvSpPr>
          <p:cNvPr id="14" name="Shape 12"/>
          <p:cNvSpPr/>
          <p:nvPr/>
        </p:nvSpPr>
        <p:spPr>
          <a:xfrm>
            <a:off x="548640" y="3410712"/>
            <a:ext cx="11064240" cy="795528"/>
          </a:xfrm>
          <a:prstGeom prst="roundRect">
            <a:avLst>
              <a:gd name="adj" fmla="val 11494"/>
            </a:avLst>
          </a:prstGeom>
          <a:solidFill>
            <a:srgbClr val="12335A"/>
          </a:solidFill>
          <a:ln/>
        </p:spPr>
        <p:txBody>
          <a:bodyPr/>
          <a:lstStyle/>
          <a:p>
            <a:endParaRPr lang="en-US" sz="1600"/>
          </a:p>
        </p:txBody>
      </p:sp>
      <p:sp>
        <p:nvSpPr>
          <p:cNvPr id="15" name="Shape 13"/>
          <p:cNvSpPr/>
          <p:nvPr/>
        </p:nvSpPr>
        <p:spPr>
          <a:xfrm>
            <a:off x="713232" y="3607308"/>
            <a:ext cx="402336" cy="402336"/>
          </a:xfrm>
          <a:prstGeom prst="ellipse">
            <a:avLst/>
          </a:prstGeom>
          <a:solidFill>
            <a:srgbClr val="C9A227"/>
          </a:solidFill>
          <a:ln/>
        </p:spPr>
        <p:txBody>
          <a:bodyPr/>
          <a:lstStyle/>
          <a:p>
            <a:endParaRPr lang="en-US" sz="1600"/>
          </a:p>
        </p:txBody>
      </p:sp>
      <p:sp>
        <p:nvSpPr>
          <p:cNvPr id="16" name="Text 14"/>
          <p:cNvSpPr txBox="1"/>
          <p:nvPr/>
        </p:nvSpPr>
        <p:spPr>
          <a:xfrm>
            <a:off x="713232" y="360730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280160" y="3410712"/>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If any lab felt shaky today, redo it tonight from memory — don't just re-read it</a:t>
            </a:r>
            <a:endParaRPr lang="en-US" sz="1600" dirty="0"/>
          </a:p>
        </p:txBody>
      </p:sp>
      <p:sp>
        <p:nvSpPr>
          <p:cNvPr id="18" name="Shape 16"/>
          <p:cNvSpPr/>
          <p:nvPr/>
        </p:nvSpPr>
        <p:spPr>
          <a:xfrm>
            <a:off x="548640" y="4315968"/>
            <a:ext cx="11064240" cy="795528"/>
          </a:xfrm>
          <a:prstGeom prst="roundRect">
            <a:avLst>
              <a:gd name="adj" fmla="val 11494"/>
            </a:avLst>
          </a:prstGeom>
          <a:solidFill>
            <a:srgbClr val="12335A"/>
          </a:solidFill>
          <a:ln/>
        </p:spPr>
        <p:txBody>
          <a:bodyPr/>
          <a:lstStyle/>
          <a:p>
            <a:endParaRPr lang="en-US" sz="1600"/>
          </a:p>
        </p:txBody>
      </p:sp>
      <p:sp>
        <p:nvSpPr>
          <p:cNvPr id="19" name="Shape 17"/>
          <p:cNvSpPr/>
          <p:nvPr/>
        </p:nvSpPr>
        <p:spPr>
          <a:xfrm>
            <a:off x="713232" y="4512564"/>
            <a:ext cx="402336" cy="402336"/>
          </a:xfrm>
          <a:prstGeom prst="ellipse">
            <a:avLst/>
          </a:prstGeom>
          <a:solidFill>
            <a:srgbClr val="C9A227"/>
          </a:solidFill>
          <a:ln/>
        </p:spPr>
        <p:txBody>
          <a:bodyPr/>
          <a:lstStyle/>
          <a:p>
            <a:endParaRPr lang="en-US" sz="1600"/>
          </a:p>
        </p:txBody>
      </p:sp>
      <p:sp>
        <p:nvSpPr>
          <p:cNvPr id="20" name="Text 18"/>
          <p:cNvSpPr txBox="1"/>
          <p:nvPr/>
        </p:nvSpPr>
        <p:spPr>
          <a:xfrm>
            <a:off x="713232" y="4512564"/>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1280160" y="4315968"/>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Quiz 1 draws directly on everything covered in this session</a:t>
            </a:r>
            <a:endParaRPr lang="en-US" sz="1600" dirty="0"/>
          </a:p>
        </p:txBody>
      </p:sp>
      <p:sp>
        <p:nvSpPr>
          <p:cNvPr id="22" name="Shape 20"/>
          <p:cNvSpPr/>
          <p:nvPr/>
        </p:nvSpPr>
        <p:spPr>
          <a:xfrm>
            <a:off x="548640" y="5221224"/>
            <a:ext cx="11064240" cy="795528"/>
          </a:xfrm>
          <a:prstGeom prst="roundRect">
            <a:avLst>
              <a:gd name="adj" fmla="val 11494"/>
            </a:avLst>
          </a:prstGeom>
          <a:solidFill>
            <a:srgbClr val="12335A"/>
          </a:solidFill>
          <a:ln/>
        </p:spPr>
        <p:txBody>
          <a:bodyPr/>
          <a:lstStyle/>
          <a:p>
            <a:endParaRPr lang="en-US" sz="1600"/>
          </a:p>
        </p:txBody>
      </p:sp>
      <p:sp>
        <p:nvSpPr>
          <p:cNvPr id="23" name="Shape 21"/>
          <p:cNvSpPr/>
          <p:nvPr/>
        </p:nvSpPr>
        <p:spPr>
          <a:xfrm>
            <a:off x="713232" y="5417820"/>
            <a:ext cx="402336" cy="402336"/>
          </a:xfrm>
          <a:prstGeom prst="ellipse">
            <a:avLst/>
          </a:prstGeom>
          <a:solidFill>
            <a:srgbClr val="C9A227"/>
          </a:solidFill>
          <a:ln/>
        </p:spPr>
        <p:txBody>
          <a:bodyPr/>
          <a:lstStyle/>
          <a:p>
            <a:endParaRPr lang="en-US" sz="1600"/>
          </a:p>
        </p:txBody>
      </p:sp>
      <p:sp>
        <p:nvSpPr>
          <p:cNvPr id="24" name="Text 22"/>
          <p:cNvSpPr txBox="1"/>
          <p:nvPr/>
        </p:nvSpPr>
        <p:spPr>
          <a:xfrm>
            <a:off x="713232" y="541782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3"/>
          <p:cNvSpPr txBox="1"/>
          <p:nvPr/>
        </p:nvSpPr>
        <p:spPr>
          <a:xfrm>
            <a:off x="1280160" y="5221224"/>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Weeks 4 &amp; 5 will be combined into one new-topic session, coming next</a:t>
            </a:r>
            <a:endParaRPr lang="en-US" sz="1600" dirty="0"/>
          </a:p>
        </p:txBody>
      </p:sp>
      <p:sp>
        <p:nvSpPr>
          <p:cNvPr id="26" name="Text 24"/>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7" name="Text 25"/>
          <p:cNvSpPr txBox="1"/>
          <p:nvPr/>
        </p:nvSpPr>
        <p:spPr>
          <a:xfrm>
            <a:off x="9418320" y="6547104"/>
            <a:ext cx="224028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4 — Revision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752</TotalTime>
  <Words>2539</Words>
  <Application>Microsoft Office PowerPoint</Application>
  <PresentationFormat>Widescreen</PresentationFormat>
  <Paragraphs>266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FAHEEM SHAUKAT</cp:lastModifiedBy>
  <cp:revision>3</cp:revision>
  <dcterms:created xsi:type="dcterms:W3CDTF">2026-09-24T12:12:24Z</dcterms:created>
  <dcterms:modified xsi:type="dcterms:W3CDTF">2026-10-02T07:55:50Z</dcterms:modified>
</cp:coreProperties>
</file>