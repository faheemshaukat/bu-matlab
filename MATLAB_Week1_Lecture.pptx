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79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4503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roadmap to keep pace: 2:30 start, 10-minute break at 3:20, hands-on labs from 4:09, wrap-up finishing exactly at 4:30. Each following slide carries a clock-time badge in the top-right corner showing when you should be covering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warmly. Emphasize that email is the best contact method since you are visiting faculty without fixed office hours. Encourage students to ask questions during breaks.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75% attendance rule firmly — this is university policy, not optional. Walk through the weightage. Final exam carries the most weight, so remind students to prepare consistently throughout, not just at the end.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the official Bahria University grading scale. LL = Lower Limit, UL = Upper Limit of the marks range for each letter grade. GP feeds directly into their CGPA.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MATLAB stands for Matrix Laboratory. It was originally built to simplify writing matrix math by acting as an interface for LINPACK and EISPACK — two legendary academic computational projects. Unlike general programming languages like Python or C++, MathWorks built MATLAB specifically for technical calculations, meaning every math tool, plot generator, and analysis feature is fully integrated right out of the box.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MATLAB a high-performance language is how it treats data. In other languages, you must explicitly declare if a variable is an integer, decimal, list, or array. In MATLAB, the default data structure is always an array. A single number is a 1x1 matrix; a line of seismic values is a 1D matrix; a 3D subsurface volume is a multi-dimensional matrix. This unified matrix structure allows us to process complex math equations across entire arrays in a single line of code.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you need to solve a complex Bode plot stability equation 1,000 times, modifying your input slightly each time. If you are extremely good at math, it might take you 10 minutes per equation — that's 10,000 minutes of manual, repetitive work, and human focus will slip, causing mistakes. MATLAB can run this entire sequence and generate your final stability graph in less than a second with flawless mathematical accuracy, saving hours of tedious labor.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choose MATLAB over other programming options? First, it's exceptionally easy to use. Second, it is completely platform-independent. Third, it is packed with predefined functions — if you need a Fourier transform for seismic noise filtering, you simply call the built-in FFT function. Finally, MATLAB can interface directly with hardware like DAQ cards and Arduino boards.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MATLAB has two primary drawbacks: speed and licensing costs. Because MATLAB is an interpreted language, it executes code line-by-line, adding overhead compared to compiled C code — minimized by writing clean, vectorized matrix programs. The commercial license is expensive, though students can buy a discounted suite for around $89. Open-source alternatives like Octave, Scilab or FreeMat run similar basic scripts but lack MATLAB's optimized toolboxes and interface polish.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look at different MATLAB installations, you'll see version names like 'R2015b' or 'R2024a' instead of standard numbers. Since 2006, MathWorks has updated the software twice a year: the spring release (March/April) gets an 'a', the fall release (September) gets a 'b'.</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open MATLAB, you will see four primary visual panels. The Command Window is where you type active code. The Workspace window tracks active variables. The Command History acts as an automated logbook. The Current Folder shows where your files live on disk. [Insert a real MATLAB desktop screenshot here for the live class.]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MATLAB interface is highly customizable. If you want a clean view, close unnecessary panels. If you want your Workspace on a second monitor, 'undock' it to float independently. If you accidentally close a panel, go to the 'Desktop' menu at the top toolbar and check the panel's name to snap it back into place.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type 'a = 5' in the Command Window, that variable is saved to the active Workspace. If you then type 'a + 2', MATLAB pulls 'a' from memory to compute '7'. If you run a calculation without defining a variable name, the output is saved to a default variable called 'ans'. This memory is volatile — the moment you close MATLAB, your Workspace variables are erased.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clc clears all the messy text from your command screen, but leaves your variables intact. clear completely wipes your Workspace memory — run it before starting a new script to avoid pulling in old, leftover values. close all shuts down any open figure windows. Adding these commands to the top of your scripts ensures a clean, predictable run every time.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10-minute break, 3:20 PM to 3:30 PM. Resume promptly at 3:30 with Command Window essentials (clc, clear, whos, etc.).</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Typing whos gives a detailed look at your variables, detailing size, byte storage and class. what scans your current folder and lists only MATLAB-related files, while ver displays your exact software version and installed engineering toolboxes.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record your work, use the diary command — diary filename creates a text file logging everything on your command screen, useful for documenting lab assignments. Normally MATLAB can only run scripts inside your Current Directory; setpath or editpath lets you add project folders to the search path so scripts run from anywhere.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MATLAB is tightly integrated with your operating system. Prefixing a command with an exclamation mark runs terminal commands directly from the MATLAB command line — e.g. !md raj creates a folder named 'raj'. Typing quit or exit safely closes MATLAB.</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math in MATLAB is straightforward, but every operator must be explicit — '4u' must be written as '4 * u'. Exponentiation uses the caret symbol, and square roots use the sqrt() function.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MATLAB evaluates mathematical expressions strictly left to right using standard algebraic precedence: parentheses first, then exponents, then multiplication/division, then addition/subtraction. MATLAB also has pre-programmed constants such as pi and i/j for complex numbers.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MATLAB provides an extensive library of built-in functions. Trigonometric functions expect inputs in radians. Inverse trig functions are prefixed with 'a' (asin, acos). To write equations with Euler's constant, use exp(). Note the natural log is written as log(), not ln().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writing fractions, you must use parentheses to group the entire numerator and denominator. Without these groupings, the division operator runs first according to precedence rules, ruining the calculation. Also make sure to explicitly include an asterisk for every multiplication.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Scripts are written in the Editor window and saved with a '.m' extension. Rules: never start a file name with a number; spaces are forbidden — use underscores; never name a script after an existing MATLAB function or an active variable (e.g. area.m calculating a variable named area crashes execution). Use 'help name' to check if a name is already taken.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type a command or run a file name, the interpreter searches in a strict hierarchy: first checks if it's a variable in the active Workspace, then an M-file in the Current Directory, then scans the search path folders. If all three checks fail, it throws an 'Undefined function or variable' error.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Ending a line with a semicolon suppresses its output, keeping the screen clean and speeding up your programs by saving processing time. If an equation is too long for one line, use three dots — an ellipsis — to continue on the next line.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Lab 1, calculate the area of a circle with radius 3: 'r = 3' and 'area = pi * r^2'. Save as 'circle_area.m' to avoid variable name collisions with 'area.m'. In Lab 2, build an interactive temperature converter: clc wipes old calculations, and the input function prompts the user for a live value.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Lab 3, build a script to compute the distance between two coordinate points — a common task when mapping seismic or geological survey stations. Use the Pythagorean distance formula with sqrt and exponents. Tip: when copying and pasting code blocks, always verify that variables are correctly updated to avoid data assignment bugs.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lab assignment is to write, run, and submit your M-file scripts for the three lab exercises we covered. Make sure you have a working copy of MATLAB installed, or set up MATLAB Mobile so you can practice on the go. Next week, we dive into vectors and matrices — the core building blocks of MATLAB data handling.</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2545"/>
          </a:solidFill>
          <a:ln/>
        </p:spPr>
        <p:txBody>
          <a:bodyPr/>
          <a:lstStyle/>
          <a:p>
            <a:endParaRPr lang="en-US"/>
          </a:p>
        </p:txBody>
      </p:sp>
      <p:sp>
        <p:nvSpPr>
          <p:cNvPr id="3" name="Shape 1"/>
          <p:cNvSpPr/>
          <p:nvPr/>
        </p:nvSpPr>
        <p:spPr>
          <a:xfrm>
            <a:off x="0" y="5074920"/>
            <a:ext cx="12191695" cy="1783080"/>
          </a:xfrm>
          <a:prstGeom prst="rect">
            <a:avLst/>
          </a:prstGeom>
          <a:solidFill>
            <a:srgbClr val="071A33"/>
          </a:solidFill>
          <a:ln/>
        </p:spPr>
        <p:txBody>
          <a:bodyPr/>
          <a:lstStyle/>
          <a:p>
            <a:endParaRPr lang="en-US"/>
          </a:p>
        </p:txBody>
      </p:sp>
      <p:sp>
        <p:nvSpPr>
          <p:cNvPr id="4" name="Shape 2"/>
          <p:cNvSpPr/>
          <p:nvPr/>
        </p:nvSpPr>
        <p:spPr>
          <a:xfrm>
            <a:off x="777240" y="640080"/>
            <a:ext cx="1463040" cy="1463040"/>
          </a:xfrm>
          <a:prstGeom prst="ellipse">
            <a:avLst/>
          </a:prstGeom>
          <a:solidFill>
            <a:srgbClr val="FFFFFF"/>
          </a:solidFill>
          <a:ln w="31750">
            <a:solidFill>
              <a:srgbClr val="C9A227"/>
            </a:solidFill>
            <a:prstDash val="solid"/>
          </a:ln>
        </p:spPr>
        <p:txBody>
          <a:bodyPr/>
          <a:lstStyle/>
          <a:p>
            <a:endParaRPr lang="en-US"/>
          </a:p>
        </p:txBody>
      </p:sp>
      <p:pic>
        <p:nvPicPr>
          <p:cNvPr id="5" name="Image 0" descr="/home/claude/bahria_logo.png"/>
          <p:cNvPicPr>
            <a:picLocks noChangeAspect="1"/>
          </p:cNvPicPr>
          <p:nvPr/>
        </p:nvPicPr>
        <p:blipFill>
          <a:blip r:embed="rId3"/>
          <a:stretch>
            <a:fillRect/>
          </a:stretch>
        </p:blipFill>
        <p:spPr>
          <a:xfrm>
            <a:off x="932688" y="795528"/>
            <a:ext cx="1152144" cy="1152144"/>
          </a:xfrm>
          <a:prstGeom prst="rect">
            <a:avLst/>
          </a:prstGeom>
        </p:spPr>
      </p:pic>
      <p:sp>
        <p:nvSpPr>
          <p:cNvPr id="6" name="Text 3"/>
          <p:cNvSpPr txBox="1"/>
          <p:nvPr/>
        </p:nvSpPr>
        <p:spPr>
          <a:xfrm>
            <a:off x="2514600" y="777240"/>
            <a:ext cx="8869680" cy="411480"/>
          </a:xfrm>
          <a:prstGeom prst="rect">
            <a:avLst/>
          </a:prstGeom>
          <a:noFill/>
          <a:ln/>
        </p:spPr>
        <p:txBody>
          <a:bodyPr wrap="square" lIns="0" tIns="0" rIns="0" bIns="0" rtlCol="0" anchor="ctr"/>
          <a:lstStyle/>
          <a:p>
            <a:pPr marL="0" indent="0">
              <a:buNone/>
            </a:pPr>
            <a:r>
              <a:rPr lang="en-US" sz="2000" b="1" kern="0" spc="300" dirty="0">
                <a:solidFill>
                  <a:srgbClr val="C9A227"/>
                </a:solidFill>
                <a:latin typeface="Calibri" pitchFamily="34" charset="0"/>
                <a:ea typeface="Calibri" pitchFamily="34" charset="-122"/>
                <a:cs typeface="Calibri" pitchFamily="34" charset="-120"/>
              </a:rPr>
              <a:t>BAHRIA UNIVERSITY</a:t>
            </a:r>
            <a:endParaRPr lang="en-US" sz="2000" dirty="0"/>
          </a:p>
        </p:txBody>
      </p:sp>
      <p:sp>
        <p:nvSpPr>
          <p:cNvPr id="7" name="Text 4"/>
          <p:cNvSpPr txBox="1"/>
          <p:nvPr/>
        </p:nvSpPr>
        <p:spPr>
          <a:xfrm>
            <a:off x="2514600" y="1170432"/>
            <a:ext cx="8869680" cy="365760"/>
          </a:xfrm>
          <a:prstGeom prst="rect">
            <a:avLst/>
          </a:prstGeom>
          <a:noFill/>
          <a:ln/>
        </p:spPr>
        <p:txBody>
          <a:bodyPr wrap="square" lIns="0" tIns="0" rIns="0" bIns="0" rtlCol="0" anchor="ctr"/>
          <a:lstStyle/>
          <a:p>
            <a:pPr marL="0" indent="0">
              <a:buNone/>
            </a:pPr>
            <a:r>
              <a:rPr lang="en-US" dirty="0">
                <a:solidFill>
                  <a:srgbClr val="C7D4E3"/>
                </a:solidFill>
                <a:latin typeface="Calibri" pitchFamily="34" charset="0"/>
                <a:ea typeface="Calibri" pitchFamily="34" charset="-122"/>
                <a:cs typeface="Calibri" pitchFamily="34" charset="-120"/>
              </a:rPr>
              <a:t>(H-11 Campus, Islamabad)</a:t>
            </a:r>
            <a:endParaRPr lang="en-US" dirty="0"/>
          </a:p>
        </p:txBody>
      </p:sp>
      <p:sp>
        <p:nvSpPr>
          <p:cNvPr id="8" name="Text 5"/>
          <p:cNvSpPr txBox="1"/>
          <p:nvPr/>
        </p:nvSpPr>
        <p:spPr>
          <a:xfrm>
            <a:off x="822960" y="2606040"/>
            <a:ext cx="1051560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GEO 321 / GEL 321</a:t>
            </a:r>
            <a:endParaRPr lang="en-US" sz="4000" dirty="0"/>
          </a:p>
        </p:txBody>
      </p:sp>
      <p:sp>
        <p:nvSpPr>
          <p:cNvPr id="9" name="Text 6"/>
          <p:cNvSpPr txBox="1"/>
          <p:nvPr/>
        </p:nvSpPr>
        <p:spPr>
          <a:xfrm>
            <a:off x="822960" y="3246120"/>
            <a:ext cx="10515600" cy="548640"/>
          </a:xfrm>
          <a:prstGeom prst="rect">
            <a:avLst/>
          </a:prstGeom>
          <a:noFill/>
          <a:ln/>
        </p:spPr>
        <p:txBody>
          <a:bodyPr wrap="square" lIns="0" tIns="0" rIns="0" bIns="0" rtlCol="0" anchor="ctr"/>
          <a:lstStyle/>
          <a:p>
            <a:pPr marL="0" indent="0">
              <a:buNone/>
            </a:pPr>
            <a:r>
              <a:rPr lang="en-US" sz="2600" dirty="0">
                <a:solidFill>
                  <a:srgbClr val="C9A227"/>
                </a:solidFill>
                <a:latin typeface="Cambria" pitchFamily="34" charset="0"/>
                <a:ea typeface="Cambria" pitchFamily="34" charset="-122"/>
                <a:cs typeface="Cambria" pitchFamily="34" charset="-120"/>
              </a:rPr>
              <a:t>Computing with MATLAB</a:t>
            </a:r>
            <a:endParaRPr lang="en-US" sz="2600" dirty="0"/>
          </a:p>
        </p:txBody>
      </p:sp>
      <p:sp>
        <p:nvSpPr>
          <p:cNvPr id="10" name="Text 7"/>
          <p:cNvSpPr txBox="1"/>
          <p:nvPr/>
        </p:nvSpPr>
        <p:spPr>
          <a:xfrm>
            <a:off x="822960" y="3794760"/>
            <a:ext cx="10515600" cy="457200"/>
          </a:xfrm>
          <a:prstGeom prst="rect">
            <a:avLst/>
          </a:prstGeom>
          <a:noFill/>
          <a:ln/>
        </p:spPr>
        <p:txBody>
          <a:bodyPr wrap="square" lIns="0" tIns="0" rIns="0" bIns="0" rtlCol="0" anchor="ctr"/>
          <a:lstStyle/>
          <a:p>
            <a:pPr marL="0" indent="0">
              <a:buNone/>
            </a:pPr>
            <a:r>
              <a:rPr lang="en-US" sz="1700" i="1" dirty="0">
                <a:solidFill>
                  <a:srgbClr val="C7D4E3"/>
                </a:solidFill>
                <a:latin typeface="Calibri" pitchFamily="34" charset="0"/>
                <a:ea typeface="Calibri" pitchFamily="34" charset="-122"/>
                <a:cs typeface="Calibri" pitchFamily="34" charset="-120"/>
              </a:rPr>
              <a:t>Week 1 — Introduction, Desktop Layout &amp; Fundamental Math Syntax</a:t>
            </a:r>
            <a:endParaRPr lang="en-US" sz="1700" dirty="0"/>
          </a:p>
        </p:txBody>
      </p:sp>
      <p:sp>
        <p:nvSpPr>
          <p:cNvPr id="11" name="Shape 8"/>
          <p:cNvSpPr/>
          <p:nvPr/>
        </p:nvSpPr>
        <p:spPr>
          <a:xfrm>
            <a:off x="822960" y="5394960"/>
            <a:ext cx="5120640" cy="1143000"/>
          </a:xfrm>
          <a:prstGeom prst="roundRect">
            <a:avLst>
              <a:gd name="adj" fmla="val 9600"/>
            </a:avLst>
          </a:prstGeom>
          <a:solidFill>
            <a:srgbClr val="12335A"/>
          </a:solidFill>
          <a:ln w="12700">
            <a:solidFill>
              <a:srgbClr val="D7DEE7"/>
            </a:solidFill>
            <a:prstDash val="solid"/>
          </a:ln>
        </p:spPr>
        <p:txBody>
          <a:bodyPr/>
          <a:lstStyle/>
          <a:p>
            <a:endParaRPr lang="en-US"/>
          </a:p>
        </p:txBody>
      </p:sp>
      <p:sp>
        <p:nvSpPr>
          <p:cNvPr id="12" name="Text 9"/>
          <p:cNvSpPr txBox="1"/>
          <p:nvPr/>
        </p:nvSpPr>
        <p:spPr>
          <a:xfrm>
            <a:off x="1051560" y="5532120"/>
            <a:ext cx="4663440" cy="868680"/>
          </a:xfrm>
          <a:prstGeom prst="rect">
            <a:avLst/>
          </a:prstGeom>
          <a:noFill/>
          <a:ln/>
        </p:spPr>
        <p:txBody>
          <a:bodyPr wrap="square" lIns="0" tIns="0" rIns="0" bIns="0" rtlCol="0" anchor="ctr"/>
          <a:lstStyle/>
          <a:p>
            <a:pPr marL="0" indent="0">
              <a:spcAft>
                <a:spcPts val="200"/>
              </a:spcAft>
              <a:buNone/>
            </a:pPr>
            <a:r>
              <a:rPr lang="en-US" sz="2000" b="1" dirty="0">
                <a:solidFill>
                  <a:srgbClr val="FFFFFF"/>
                </a:solidFill>
              </a:rPr>
              <a:t>Dr. Faheem Shaukat</a:t>
            </a:r>
            <a:endParaRPr lang="en-US" sz="2000" dirty="0"/>
          </a:p>
          <a:p>
            <a:pPr marL="0" indent="0">
              <a:buNone/>
            </a:pPr>
            <a:r>
              <a:rPr lang="en-US" sz="1600" dirty="0">
                <a:solidFill>
                  <a:srgbClr val="C7D4E3"/>
                </a:solidFill>
              </a:rPr>
              <a:t>Visiting Faculty Member — Department of Software Engineering</a:t>
            </a:r>
            <a:endParaRPr lang="en-US" sz="1600" dirty="0"/>
          </a:p>
        </p:txBody>
      </p:sp>
      <p:sp>
        <p:nvSpPr>
          <p:cNvPr id="13" name="Shape 10"/>
          <p:cNvSpPr/>
          <p:nvPr/>
        </p:nvSpPr>
        <p:spPr>
          <a:xfrm>
            <a:off x="6172200" y="5394960"/>
            <a:ext cx="5166360" cy="1143000"/>
          </a:xfrm>
          <a:prstGeom prst="roundRect">
            <a:avLst>
              <a:gd name="adj" fmla="val 9600"/>
            </a:avLst>
          </a:prstGeom>
          <a:solidFill>
            <a:srgbClr val="12335A"/>
          </a:solidFill>
          <a:ln w="12700">
            <a:solidFill>
              <a:srgbClr val="D7DEE7"/>
            </a:solidFill>
            <a:prstDash val="solid"/>
          </a:ln>
        </p:spPr>
        <p:txBody>
          <a:bodyPr/>
          <a:lstStyle/>
          <a:p>
            <a:endParaRPr lang="en-US"/>
          </a:p>
        </p:txBody>
      </p:sp>
      <p:sp>
        <p:nvSpPr>
          <p:cNvPr id="14" name="Text 11"/>
          <p:cNvSpPr txBox="1"/>
          <p:nvPr/>
        </p:nvSpPr>
        <p:spPr>
          <a:xfrm>
            <a:off x="6400800" y="5532120"/>
            <a:ext cx="4709160" cy="868680"/>
          </a:xfrm>
          <a:prstGeom prst="rect">
            <a:avLst/>
          </a:prstGeom>
          <a:noFill/>
          <a:ln/>
        </p:spPr>
        <p:txBody>
          <a:bodyPr wrap="square" lIns="0" tIns="0" rIns="0" bIns="0" rtlCol="0" anchor="ctr"/>
          <a:lstStyle/>
          <a:p>
            <a:pPr marL="0" indent="0">
              <a:spcAft>
                <a:spcPts val="400"/>
              </a:spcAft>
              <a:buNone/>
            </a:pPr>
            <a:r>
              <a:rPr lang="en-US" b="1" dirty="0">
                <a:solidFill>
                  <a:srgbClr val="C9A227"/>
                </a:solidFill>
              </a:rPr>
              <a:t>2 Credit Hours (1 Theory + 1 Lab)</a:t>
            </a:r>
            <a:endParaRPr lang="en-US" dirty="0"/>
          </a:p>
          <a:p>
            <a:pPr marL="0" indent="0">
              <a:buNone/>
            </a:pPr>
            <a:r>
              <a:rPr lang="en-US" sz="1400" dirty="0">
                <a:solidFill>
                  <a:srgbClr val="C7D4E3"/>
                </a:solidFill>
              </a:rPr>
              <a:t>Combined 2-hour Lecture + Lab session, weekly</a:t>
            </a:r>
            <a:endParaRPr lang="en-US" sz="1400" dirty="0"/>
          </a:p>
        </p:txBody>
      </p:sp>
      <p:sp>
        <p:nvSpPr>
          <p:cNvPr id="15" name="Shape 12"/>
          <p:cNvSpPr/>
          <p:nvPr/>
        </p:nvSpPr>
        <p:spPr>
          <a:xfrm>
            <a:off x="10134295" y="365760"/>
            <a:ext cx="1508760" cy="365760"/>
          </a:xfrm>
          <a:prstGeom prst="roundRect">
            <a:avLst>
              <a:gd name="adj" fmla="val 50000"/>
            </a:avLst>
          </a:prstGeom>
          <a:solidFill>
            <a:srgbClr val="12335A"/>
          </a:solidFill>
          <a:ln w="12700">
            <a:solidFill>
              <a:srgbClr val="C9A227"/>
            </a:solidFill>
            <a:prstDash val="solid"/>
          </a:ln>
        </p:spPr>
        <p:txBody>
          <a:bodyPr/>
          <a:lstStyle/>
          <a:p>
            <a:endParaRPr lang="en-US"/>
          </a:p>
        </p:txBody>
      </p:sp>
      <p:sp>
        <p:nvSpPr>
          <p:cNvPr id="16" name="Text 1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C9A227"/>
                </a:solidFill>
                <a:latin typeface="Calibri" pitchFamily="34" charset="0"/>
                <a:ea typeface="Calibri" pitchFamily="34" charset="-122"/>
                <a:cs typeface="Calibri" pitchFamily="34" charset="-120"/>
              </a:rPr>
              <a:t>⏱  2:30 PM</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SESSION ROADMAP</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Today’s 2-Hour Class Plan</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2:30–4:30 PM</a:t>
            </a:r>
            <a:endParaRPr lang="en-US" sz="1150" dirty="0"/>
          </a:p>
        </p:txBody>
      </p:sp>
      <p:sp>
        <p:nvSpPr>
          <p:cNvPr id="6" name="Shape 4"/>
          <p:cNvSpPr/>
          <p:nvPr/>
        </p:nvSpPr>
        <p:spPr>
          <a:xfrm>
            <a:off x="548640" y="1600200"/>
            <a:ext cx="11064240" cy="443484"/>
          </a:xfrm>
          <a:prstGeom prst="roundRect">
            <a:avLst>
              <a:gd name="adj" fmla="val 16495"/>
            </a:avLst>
          </a:prstGeom>
          <a:solidFill>
            <a:srgbClr val="E9EEF4"/>
          </a:solidFill>
          <a:ln/>
        </p:spPr>
        <p:txBody>
          <a:bodyPr/>
          <a:lstStyle/>
          <a:p>
            <a:endParaRPr lang="en-US" dirty="0"/>
          </a:p>
        </p:txBody>
      </p:sp>
      <p:sp>
        <p:nvSpPr>
          <p:cNvPr id="7" name="Text 5"/>
          <p:cNvSpPr txBox="1"/>
          <p:nvPr/>
        </p:nvSpPr>
        <p:spPr>
          <a:xfrm>
            <a:off x="777240" y="1600200"/>
            <a:ext cx="1463040" cy="443484"/>
          </a:xfrm>
          <a:prstGeom prst="rect">
            <a:avLst/>
          </a:prstGeom>
          <a:noFill/>
          <a:ln/>
        </p:spPr>
        <p:txBody>
          <a:bodyPr wrap="square" lIns="0" tIns="0" rIns="0" bIns="0" rtlCol="0" anchor="ctr"/>
          <a:lstStyle/>
          <a:p>
            <a:pPr marL="0" indent="0">
              <a:buNone/>
            </a:pPr>
            <a:r>
              <a:rPr lang="en-US" sz="1600" b="1" dirty="0">
                <a:solidFill>
                  <a:srgbClr val="0B2545"/>
                </a:solidFill>
                <a:latin typeface="Courier New" pitchFamily="34" charset="0"/>
                <a:ea typeface="Courier New" pitchFamily="34" charset="-122"/>
                <a:cs typeface="Courier New" pitchFamily="34" charset="-120"/>
              </a:rPr>
              <a:t>2:30 PM</a:t>
            </a:r>
            <a:endParaRPr lang="en-US" sz="1600" dirty="0"/>
          </a:p>
        </p:txBody>
      </p:sp>
      <p:sp>
        <p:nvSpPr>
          <p:cNvPr id="8" name="Text 6"/>
          <p:cNvSpPr txBox="1"/>
          <p:nvPr/>
        </p:nvSpPr>
        <p:spPr>
          <a:xfrm>
            <a:off x="2377440" y="1600200"/>
            <a:ext cx="7223760" cy="443484"/>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Welcome, Instructor Intro &amp; Course Policies</a:t>
            </a:r>
            <a:endParaRPr lang="en-US" dirty="0"/>
          </a:p>
        </p:txBody>
      </p:sp>
      <p:sp>
        <p:nvSpPr>
          <p:cNvPr id="9" name="Text 7"/>
          <p:cNvSpPr txBox="1"/>
          <p:nvPr/>
        </p:nvSpPr>
        <p:spPr>
          <a:xfrm>
            <a:off x="9692640" y="1600200"/>
            <a:ext cx="1737360" cy="443484"/>
          </a:xfrm>
          <a:prstGeom prst="rect">
            <a:avLst/>
          </a:prstGeom>
          <a:noFill/>
          <a:ln/>
        </p:spPr>
        <p:txBody>
          <a:bodyPr wrap="square" lIns="0" tIns="0" rIns="0" bIns="0" rtlCol="0" anchor="ctr"/>
          <a:lstStyle/>
          <a:p>
            <a:pPr marL="0" indent="0" algn="r">
              <a:buNone/>
            </a:pPr>
            <a:r>
              <a:rPr lang="en-US" sz="1600" i="1" dirty="0">
                <a:solidFill>
                  <a:srgbClr val="5C6B7A"/>
                </a:solidFill>
                <a:latin typeface="Calibri" pitchFamily="34" charset="0"/>
                <a:ea typeface="Calibri" pitchFamily="34" charset="-122"/>
                <a:cs typeface="Calibri" pitchFamily="34" charset="-120"/>
              </a:rPr>
              <a:t>13 min</a:t>
            </a:r>
            <a:endParaRPr lang="en-US" sz="1600" dirty="0"/>
          </a:p>
        </p:txBody>
      </p:sp>
      <p:sp>
        <p:nvSpPr>
          <p:cNvPr id="10" name="Shape 8"/>
          <p:cNvSpPr/>
          <p:nvPr/>
        </p:nvSpPr>
        <p:spPr>
          <a:xfrm>
            <a:off x="548640" y="2116836"/>
            <a:ext cx="11064240" cy="443484"/>
          </a:xfrm>
          <a:prstGeom prst="roundRect">
            <a:avLst>
              <a:gd name="adj" fmla="val 16495"/>
            </a:avLst>
          </a:prstGeom>
          <a:solidFill>
            <a:srgbClr val="E9EEF4"/>
          </a:solidFill>
          <a:ln/>
        </p:spPr>
        <p:txBody>
          <a:bodyPr/>
          <a:lstStyle/>
          <a:p>
            <a:endParaRPr lang="en-US"/>
          </a:p>
        </p:txBody>
      </p:sp>
      <p:sp>
        <p:nvSpPr>
          <p:cNvPr id="11" name="Text 9"/>
          <p:cNvSpPr txBox="1"/>
          <p:nvPr/>
        </p:nvSpPr>
        <p:spPr>
          <a:xfrm>
            <a:off x="777240" y="2116836"/>
            <a:ext cx="1463040" cy="443484"/>
          </a:xfrm>
          <a:prstGeom prst="rect">
            <a:avLst/>
          </a:prstGeom>
          <a:noFill/>
          <a:ln/>
        </p:spPr>
        <p:txBody>
          <a:bodyPr wrap="square" lIns="0" tIns="0" rIns="0" bIns="0" rtlCol="0" anchor="ctr"/>
          <a:lstStyle/>
          <a:p>
            <a:pPr marL="0" indent="0">
              <a:buNone/>
            </a:pPr>
            <a:r>
              <a:rPr lang="en-US" sz="1600" b="1" dirty="0">
                <a:solidFill>
                  <a:srgbClr val="0B2545"/>
                </a:solidFill>
                <a:latin typeface="Courier New" pitchFamily="34" charset="0"/>
                <a:ea typeface="Courier New" pitchFamily="34" charset="-122"/>
                <a:cs typeface="Courier New" pitchFamily="34" charset="-120"/>
              </a:rPr>
              <a:t>2:43 PM</a:t>
            </a:r>
            <a:endParaRPr lang="en-US" sz="1600" dirty="0"/>
          </a:p>
        </p:txBody>
      </p:sp>
      <p:sp>
        <p:nvSpPr>
          <p:cNvPr id="12" name="Text 10"/>
          <p:cNvSpPr txBox="1"/>
          <p:nvPr/>
        </p:nvSpPr>
        <p:spPr>
          <a:xfrm>
            <a:off x="2377440" y="2116836"/>
            <a:ext cx="7223760" cy="443484"/>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MATLAB Fundamentals — What &amp; Why</a:t>
            </a:r>
            <a:endParaRPr lang="en-US" dirty="0"/>
          </a:p>
        </p:txBody>
      </p:sp>
      <p:sp>
        <p:nvSpPr>
          <p:cNvPr id="13" name="Text 11"/>
          <p:cNvSpPr txBox="1"/>
          <p:nvPr/>
        </p:nvSpPr>
        <p:spPr>
          <a:xfrm>
            <a:off x="9692640" y="2116836"/>
            <a:ext cx="1737360" cy="443484"/>
          </a:xfrm>
          <a:prstGeom prst="rect">
            <a:avLst/>
          </a:prstGeom>
          <a:noFill/>
          <a:ln/>
        </p:spPr>
        <p:txBody>
          <a:bodyPr wrap="square" lIns="0" tIns="0" rIns="0" bIns="0" rtlCol="0" anchor="ctr"/>
          <a:lstStyle/>
          <a:p>
            <a:pPr marL="0" indent="0" algn="r">
              <a:buNone/>
            </a:pPr>
            <a:r>
              <a:rPr lang="en-US" sz="1600" i="1" dirty="0">
                <a:solidFill>
                  <a:srgbClr val="5C6B7A"/>
                </a:solidFill>
                <a:latin typeface="Calibri" pitchFamily="34" charset="0"/>
                <a:ea typeface="Calibri" pitchFamily="34" charset="-122"/>
                <a:cs typeface="Calibri" pitchFamily="34" charset="-120"/>
              </a:rPr>
              <a:t>26 min</a:t>
            </a:r>
            <a:endParaRPr lang="en-US" sz="1600" dirty="0"/>
          </a:p>
        </p:txBody>
      </p:sp>
      <p:sp>
        <p:nvSpPr>
          <p:cNvPr id="14" name="Shape 12"/>
          <p:cNvSpPr/>
          <p:nvPr/>
        </p:nvSpPr>
        <p:spPr>
          <a:xfrm>
            <a:off x="548640" y="2633472"/>
            <a:ext cx="11064240" cy="443484"/>
          </a:xfrm>
          <a:prstGeom prst="roundRect">
            <a:avLst>
              <a:gd name="adj" fmla="val 16495"/>
            </a:avLst>
          </a:prstGeom>
          <a:solidFill>
            <a:srgbClr val="E9EEF4"/>
          </a:solidFill>
          <a:ln/>
        </p:spPr>
        <p:txBody>
          <a:bodyPr/>
          <a:lstStyle/>
          <a:p>
            <a:endParaRPr lang="en-US"/>
          </a:p>
        </p:txBody>
      </p:sp>
      <p:sp>
        <p:nvSpPr>
          <p:cNvPr id="15" name="Text 13"/>
          <p:cNvSpPr txBox="1"/>
          <p:nvPr/>
        </p:nvSpPr>
        <p:spPr>
          <a:xfrm>
            <a:off x="777240" y="2633472"/>
            <a:ext cx="1463040" cy="443484"/>
          </a:xfrm>
          <a:prstGeom prst="rect">
            <a:avLst/>
          </a:prstGeom>
          <a:noFill/>
          <a:ln/>
        </p:spPr>
        <p:txBody>
          <a:bodyPr wrap="square" lIns="0" tIns="0" rIns="0" bIns="0" rtlCol="0" anchor="ctr"/>
          <a:lstStyle/>
          <a:p>
            <a:pPr marL="0" indent="0">
              <a:buNone/>
            </a:pPr>
            <a:r>
              <a:rPr lang="en-US" sz="1600" b="1" dirty="0">
                <a:solidFill>
                  <a:srgbClr val="0B2545"/>
                </a:solidFill>
                <a:latin typeface="Courier New" pitchFamily="34" charset="0"/>
                <a:ea typeface="Courier New" pitchFamily="34" charset="-122"/>
                <a:cs typeface="Courier New" pitchFamily="34" charset="-120"/>
              </a:rPr>
              <a:t>3:09 PM</a:t>
            </a:r>
            <a:endParaRPr lang="en-US" sz="1600" dirty="0"/>
          </a:p>
        </p:txBody>
      </p:sp>
      <p:sp>
        <p:nvSpPr>
          <p:cNvPr id="16" name="Text 14"/>
          <p:cNvSpPr txBox="1"/>
          <p:nvPr/>
        </p:nvSpPr>
        <p:spPr>
          <a:xfrm>
            <a:off x="2377440" y="2633472"/>
            <a:ext cx="7223760" cy="443484"/>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The MATLAB Desktop &amp; Variables</a:t>
            </a:r>
            <a:endParaRPr lang="en-US" dirty="0"/>
          </a:p>
        </p:txBody>
      </p:sp>
      <p:sp>
        <p:nvSpPr>
          <p:cNvPr id="17" name="Text 15"/>
          <p:cNvSpPr txBox="1"/>
          <p:nvPr/>
        </p:nvSpPr>
        <p:spPr>
          <a:xfrm>
            <a:off x="9692640" y="2633472"/>
            <a:ext cx="1737360" cy="443484"/>
          </a:xfrm>
          <a:prstGeom prst="rect">
            <a:avLst/>
          </a:prstGeom>
          <a:noFill/>
          <a:ln/>
        </p:spPr>
        <p:txBody>
          <a:bodyPr wrap="square" lIns="0" tIns="0" rIns="0" bIns="0" rtlCol="0" anchor="ctr"/>
          <a:lstStyle/>
          <a:p>
            <a:pPr marL="0" indent="0" algn="r">
              <a:buNone/>
            </a:pPr>
            <a:r>
              <a:rPr lang="en-US" sz="1600" i="1" dirty="0">
                <a:solidFill>
                  <a:srgbClr val="5C6B7A"/>
                </a:solidFill>
                <a:latin typeface="Calibri" pitchFamily="34" charset="0"/>
                <a:ea typeface="Calibri" pitchFamily="34" charset="-122"/>
                <a:cs typeface="Calibri" pitchFamily="34" charset="-120"/>
              </a:rPr>
              <a:t>11 min</a:t>
            </a:r>
            <a:endParaRPr lang="en-US" sz="1600" dirty="0"/>
          </a:p>
        </p:txBody>
      </p:sp>
      <p:sp>
        <p:nvSpPr>
          <p:cNvPr id="18" name="Shape 16"/>
          <p:cNvSpPr/>
          <p:nvPr/>
        </p:nvSpPr>
        <p:spPr>
          <a:xfrm>
            <a:off x="548640" y="3658106"/>
            <a:ext cx="11064240" cy="443484"/>
          </a:xfrm>
          <a:prstGeom prst="roundRect">
            <a:avLst>
              <a:gd name="adj" fmla="val 16495"/>
            </a:avLst>
          </a:prstGeom>
          <a:solidFill>
            <a:srgbClr val="FCEFCB"/>
          </a:solidFill>
          <a:ln/>
        </p:spPr>
        <p:txBody>
          <a:bodyPr/>
          <a:lstStyle/>
          <a:p>
            <a:endParaRPr lang="en-US"/>
          </a:p>
        </p:txBody>
      </p:sp>
      <p:sp>
        <p:nvSpPr>
          <p:cNvPr id="19" name="Text 17"/>
          <p:cNvSpPr txBox="1"/>
          <p:nvPr/>
        </p:nvSpPr>
        <p:spPr>
          <a:xfrm>
            <a:off x="777240" y="3658106"/>
            <a:ext cx="1463040" cy="443484"/>
          </a:xfrm>
          <a:prstGeom prst="rect">
            <a:avLst/>
          </a:prstGeom>
          <a:noFill/>
          <a:ln/>
        </p:spPr>
        <p:txBody>
          <a:bodyPr wrap="square" lIns="0" tIns="0" rIns="0" bIns="0" rtlCol="0" anchor="ctr"/>
          <a:lstStyle/>
          <a:p>
            <a:pPr marL="0" indent="0">
              <a:buNone/>
            </a:pPr>
            <a:r>
              <a:rPr lang="en-US" sz="1600" b="1" dirty="0">
                <a:solidFill>
                  <a:srgbClr val="7A5B00"/>
                </a:solidFill>
                <a:latin typeface="Courier New" pitchFamily="34" charset="0"/>
                <a:ea typeface="Courier New" pitchFamily="34" charset="-122"/>
                <a:cs typeface="Courier New" pitchFamily="34" charset="-120"/>
              </a:rPr>
              <a:t>3:30 PM</a:t>
            </a:r>
            <a:endParaRPr lang="en-US" sz="1600" dirty="0"/>
          </a:p>
        </p:txBody>
      </p:sp>
      <p:sp>
        <p:nvSpPr>
          <p:cNvPr id="20" name="Text 18"/>
          <p:cNvSpPr txBox="1"/>
          <p:nvPr/>
        </p:nvSpPr>
        <p:spPr>
          <a:xfrm>
            <a:off x="2377440" y="3658106"/>
            <a:ext cx="7223760" cy="443484"/>
          </a:xfrm>
          <a:prstGeom prst="rect">
            <a:avLst/>
          </a:prstGeom>
          <a:noFill/>
          <a:ln/>
        </p:spPr>
        <p:txBody>
          <a:bodyPr wrap="square" lIns="0" tIns="0" rIns="0" bIns="0" rtlCol="0" anchor="ctr"/>
          <a:lstStyle/>
          <a:p>
            <a:pPr marL="0" indent="0">
              <a:buNone/>
            </a:pPr>
            <a:r>
              <a:rPr lang="en-US" b="1" dirty="0">
                <a:solidFill>
                  <a:srgbClr val="7A5B00"/>
                </a:solidFill>
                <a:latin typeface="Calibri" pitchFamily="34" charset="0"/>
                <a:ea typeface="Calibri" pitchFamily="34" charset="-122"/>
                <a:cs typeface="Calibri" pitchFamily="34" charset="-120"/>
              </a:rPr>
              <a:t>☕  BREAK</a:t>
            </a:r>
            <a:endParaRPr lang="en-US" dirty="0"/>
          </a:p>
        </p:txBody>
      </p:sp>
      <p:sp>
        <p:nvSpPr>
          <p:cNvPr id="21" name="Text 19"/>
          <p:cNvSpPr txBox="1"/>
          <p:nvPr/>
        </p:nvSpPr>
        <p:spPr>
          <a:xfrm>
            <a:off x="9692640" y="3658106"/>
            <a:ext cx="1737360" cy="443484"/>
          </a:xfrm>
          <a:prstGeom prst="rect">
            <a:avLst/>
          </a:prstGeom>
          <a:noFill/>
          <a:ln/>
        </p:spPr>
        <p:txBody>
          <a:bodyPr wrap="square" lIns="0" tIns="0" rIns="0" bIns="0" rtlCol="0" anchor="ctr"/>
          <a:lstStyle/>
          <a:p>
            <a:pPr marL="0" indent="0" algn="r">
              <a:buNone/>
            </a:pPr>
            <a:r>
              <a:rPr lang="en-US" sz="1600" i="1" dirty="0">
                <a:solidFill>
                  <a:srgbClr val="5C6B7A"/>
                </a:solidFill>
                <a:latin typeface="Calibri" pitchFamily="34" charset="0"/>
                <a:ea typeface="Calibri" pitchFamily="34" charset="-122"/>
                <a:cs typeface="Calibri" pitchFamily="34" charset="-120"/>
              </a:rPr>
              <a:t>10 min</a:t>
            </a:r>
            <a:endParaRPr lang="en-US" sz="1600" dirty="0"/>
          </a:p>
        </p:txBody>
      </p:sp>
      <p:sp>
        <p:nvSpPr>
          <p:cNvPr id="22" name="Shape 20"/>
          <p:cNvSpPr/>
          <p:nvPr/>
        </p:nvSpPr>
        <p:spPr>
          <a:xfrm>
            <a:off x="548640" y="3144226"/>
            <a:ext cx="11064240" cy="443484"/>
          </a:xfrm>
          <a:prstGeom prst="roundRect">
            <a:avLst>
              <a:gd name="adj" fmla="val 16495"/>
            </a:avLst>
          </a:prstGeom>
          <a:solidFill>
            <a:srgbClr val="E9EEF4"/>
          </a:solidFill>
          <a:ln/>
        </p:spPr>
        <p:txBody>
          <a:bodyPr/>
          <a:lstStyle/>
          <a:p>
            <a:endParaRPr lang="en-US"/>
          </a:p>
        </p:txBody>
      </p:sp>
      <p:sp>
        <p:nvSpPr>
          <p:cNvPr id="23" name="Text 21"/>
          <p:cNvSpPr txBox="1"/>
          <p:nvPr/>
        </p:nvSpPr>
        <p:spPr>
          <a:xfrm>
            <a:off x="777240" y="3144226"/>
            <a:ext cx="1463040" cy="443484"/>
          </a:xfrm>
          <a:prstGeom prst="rect">
            <a:avLst/>
          </a:prstGeom>
          <a:noFill/>
          <a:ln/>
        </p:spPr>
        <p:txBody>
          <a:bodyPr wrap="square" lIns="0" tIns="0" rIns="0" bIns="0" rtlCol="0" anchor="ctr"/>
          <a:lstStyle/>
          <a:p>
            <a:pPr marL="0" indent="0">
              <a:buNone/>
            </a:pPr>
            <a:r>
              <a:rPr lang="en-US" sz="1600" b="1" dirty="0">
                <a:solidFill>
                  <a:srgbClr val="0B2545"/>
                </a:solidFill>
                <a:latin typeface="Courier New" pitchFamily="34" charset="0"/>
                <a:ea typeface="Courier New" pitchFamily="34" charset="-122"/>
                <a:cs typeface="Courier New" pitchFamily="34" charset="-120"/>
              </a:rPr>
              <a:t>3:20 PM</a:t>
            </a:r>
            <a:endParaRPr lang="en-US" sz="1600" dirty="0"/>
          </a:p>
        </p:txBody>
      </p:sp>
      <p:sp>
        <p:nvSpPr>
          <p:cNvPr id="24" name="Text 22"/>
          <p:cNvSpPr txBox="1"/>
          <p:nvPr/>
        </p:nvSpPr>
        <p:spPr>
          <a:xfrm>
            <a:off x="2377440" y="3144226"/>
            <a:ext cx="7223760" cy="443484"/>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Command Window Essentials</a:t>
            </a:r>
            <a:endParaRPr lang="en-US" dirty="0"/>
          </a:p>
        </p:txBody>
      </p:sp>
      <p:sp>
        <p:nvSpPr>
          <p:cNvPr id="25" name="Text 23"/>
          <p:cNvSpPr txBox="1"/>
          <p:nvPr/>
        </p:nvSpPr>
        <p:spPr>
          <a:xfrm>
            <a:off x="9692640" y="3144226"/>
            <a:ext cx="1737360" cy="443484"/>
          </a:xfrm>
          <a:prstGeom prst="rect">
            <a:avLst/>
          </a:prstGeom>
          <a:noFill/>
          <a:ln/>
        </p:spPr>
        <p:txBody>
          <a:bodyPr wrap="square" lIns="0" tIns="0" rIns="0" bIns="0" rtlCol="0" anchor="ctr"/>
          <a:lstStyle/>
          <a:p>
            <a:pPr marL="0" indent="0" algn="r">
              <a:buNone/>
            </a:pPr>
            <a:r>
              <a:rPr lang="en-US" sz="1600" i="1" dirty="0">
                <a:solidFill>
                  <a:srgbClr val="5C6B7A"/>
                </a:solidFill>
                <a:latin typeface="Calibri" pitchFamily="34" charset="0"/>
                <a:ea typeface="Calibri" pitchFamily="34" charset="-122"/>
                <a:cs typeface="Calibri" pitchFamily="34" charset="-120"/>
              </a:rPr>
              <a:t>14 min</a:t>
            </a:r>
            <a:endParaRPr lang="en-US" sz="1600" dirty="0"/>
          </a:p>
        </p:txBody>
      </p:sp>
      <p:sp>
        <p:nvSpPr>
          <p:cNvPr id="26" name="Shape 24"/>
          <p:cNvSpPr/>
          <p:nvPr/>
        </p:nvSpPr>
        <p:spPr>
          <a:xfrm>
            <a:off x="548640" y="4183380"/>
            <a:ext cx="11064240" cy="443484"/>
          </a:xfrm>
          <a:prstGeom prst="roundRect">
            <a:avLst>
              <a:gd name="adj" fmla="val 16495"/>
            </a:avLst>
          </a:prstGeom>
          <a:solidFill>
            <a:srgbClr val="E9EEF4"/>
          </a:solidFill>
          <a:ln/>
        </p:spPr>
        <p:txBody>
          <a:bodyPr/>
          <a:lstStyle/>
          <a:p>
            <a:endParaRPr lang="en-US"/>
          </a:p>
        </p:txBody>
      </p:sp>
      <p:sp>
        <p:nvSpPr>
          <p:cNvPr id="27" name="Text 25"/>
          <p:cNvSpPr txBox="1"/>
          <p:nvPr/>
        </p:nvSpPr>
        <p:spPr>
          <a:xfrm>
            <a:off x="777240" y="4183380"/>
            <a:ext cx="1463040" cy="443484"/>
          </a:xfrm>
          <a:prstGeom prst="rect">
            <a:avLst/>
          </a:prstGeom>
          <a:noFill/>
          <a:ln/>
        </p:spPr>
        <p:txBody>
          <a:bodyPr wrap="square" lIns="0" tIns="0" rIns="0" bIns="0" rtlCol="0" anchor="ctr"/>
          <a:lstStyle/>
          <a:p>
            <a:pPr marL="0" indent="0">
              <a:buNone/>
            </a:pPr>
            <a:r>
              <a:rPr lang="en-US" sz="1600" b="1" dirty="0">
                <a:solidFill>
                  <a:srgbClr val="0B2545"/>
                </a:solidFill>
                <a:latin typeface="Courier New" pitchFamily="34" charset="0"/>
                <a:ea typeface="Courier New" pitchFamily="34" charset="-122"/>
                <a:cs typeface="Courier New" pitchFamily="34" charset="-120"/>
              </a:rPr>
              <a:t>3:44 PM</a:t>
            </a:r>
            <a:endParaRPr lang="en-US" sz="1600" dirty="0"/>
          </a:p>
        </p:txBody>
      </p:sp>
      <p:sp>
        <p:nvSpPr>
          <p:cNvPr id="28" name="Text 26"/>
          <p:cNvSpPr txBox="1"/>
          <p:nvPr/>
        </p:nvSpPr>
        <p:spPr>
          <a:xfrm>
            <a:off x="2377440" y="4183380"/>
            <a:ext cx="7223760" cy="443484"/>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Math Syntax in MATLAB</a:t>
            </a:r>
            <a:endParaRPr lang="en-US" dirty="0"/>
          </a:p>
        </p:txBody>
      </p:sp>
      <p:sp>
        <p:nvSpPr>
          <p:cNvPr id="29" name="Text 27"/>
          <p:cNvSpPr txBox="1"/>
          <p:nvPr/>
        </p:nvSpPr>
        <p:spPr>
          <a:xfrm>
            <a:off x="9692640" y="4183380"/>
            <a:ext cx="1737360" cy="443484"/>
          </a:xfrm>
          <a:prstGeom prst="rect">
            <a:avLst/>
          </a:prstGeom>
          <a:noFill/>
          <a:ln/>
        </p:spPr>
        <p:txBody>
          <a:bodyPr wrap="square" lIns="0" tIns="0" rIns="0" bIns="0" rtlCol="0" anchor="ctr"/>
          <a:lstStyle/>
          <a:p>
            <a:pPr marL="0" indent="0" algn="r">
              <a:buNone/>
            </a:pPr>
            <a:r>
              <a:rPr lang="en-US" sz="1600" i="1" dirty="0">
                <a:solidFill>
                  <a:srgbClr val="5C6B7A"/>
                </a:solidFill>
                <a:latin typeface="Calibri" pitchFamily="34" charset="0"/>
                <a:ea typeface="Calibri" pitchFamily="34" charset="-122"/>
                <a:cs typeface="Calibri" pitchFamily="34" charset="-120"/>
              </a:rPr>
              <a:t>15 min</a:t>
            </a:r>
            <a:endParaRPr lang="en-US" sz="1600" dirty="0"/>
          </a:p>
        </p:txBody>
      </p:sp>
      <p:sp>
        <p:nvSpPr>
          <p:cNvPr id="30" name="Shape 28"/>
          <p:cNvSpPr/>
          <p:nvPr/>
        </p:nvSpPr>
        <p:spPr>
          <a:xfrm>
            <a:off x="548640" y="4700016"/>
            <a:ext cx="11064240" cy="443484"/>
          </a:xfrm>
          <a:prstGeom prst="roundRect">
            <a:avLst>
              <a:gd name="adj" fmla="val 16495"/>
            </a:avLst>
          </a:prstGeom>
          <a:solidFill>
            <a:srgbClr val="E9EEF4"/>
          </a:solidFill>
          <a:ln/>
        </p:spPr>
        <p:txBody>
          <a:bodyPr/>
          <a:lstStyle/>
          <a:p>
            <a:endParaRPr lang="en-US"/>
          </a:p>
        </p:txBody>
      </p:sp>
      <p:sp>
        <p:nvSpPr>
          <p:cNvPr id="31" name="Text 29"/>
          <p:cNvSpPr txBox="1"/>
          <p:nvPr/>
        </p:nvSpPr>
        <p:spPr>
          <a:xfrm>
            <a:off x="777240" y="4700016"/>
            <a:ext cx="1463040" cy="443484"/>
          </a:xfrm>
          <a:prstGeom prst="rect">
            <a:avLst/>
          </a:prstGeom>
          <a:noFill/>
          <a:ln/>
        </p:spPr>
        <p:txBody>
          <a:bodyPr wrap="square" lIns="0" tIns="0" rIns="0" bIns="0" rtlCol="0" anchor="ctr"/>
          <a:lstStyle/>
          <a:p>
            <a:pPr marL="0" indent="0">
              <a:buNone/>
            </a:pPr>
            <a:r>
              <a:rPr lang="en-US" sz="1600" b="1" dirty="0">
                <a:solidFill>
                  <a:srgbClr val="0B2545"/>
                </a:solidFill>
                <a:latin typeface="Courier New" pitchFamily="34" charset="0"/>
                <a:ea typeface="Courier New" pitchFamily="34" charset="-122"/>
                <a:cs typeface="Courier New" pitchFamily="34" charset="-120"/>
              </a:rPr>
              <a:t>3:59 PM</a:t>
            </a:r>
            <a:endParaRPr lang="en-US" sz="1600" dirty="0"/>
          </a:p>
        </p:txBody>
      </p:sp>
      <p:sp>
        <p:nvSpPr>
          <p:cNvPr id="32" name="Text 30"/>
          <p:cNvSpPr txBox="1"/>
          <p:nvPr/>
        </p:nvSpPr>
        <p:spPr>
          <a:xfrm>
            <a:off x="2377440" y="4700016"/>
            <a:ext cx="7223760" cy="443484"/>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Scripts, M-Files &amp; Search Rules</a:t>
            </a:r>
            <a:endParaRPr lang="en-US" dirty="0"/>
          </a:p>
        </p:txBody>
      </p:sp>
      <p:sp>
        <p:nvSpPr>
          <p:cNvPr id="33" name="Text 31"/>
          <p:cNvSpPr txBox="1"/>
          <p:nvPr/>
        </p:nvSpPr>
        <p:spPr>
          <a:xfrm>
            <a:off x="9692640" y="4700016"/>
            <a:ext cx="1737360" cy="443484"/>
          </a:xfrm>
          <a:prstGeom prst="rect">
            <a:avLst/>
          </a:prstGeom>
          <a:noFill/>
          <a:ln/>
        </p:spPr>
        <p:txBody>
          <a:bodyPr wrap="square" lIns="0" tIns="0" rIns="0" bIns="0" rtlCol="0" anchor="ctr"/>
          <a:lstStyle/>
          <a:p>
            <a:pPr marL="0" indent="0" algn="r">
              <a:buNone/>
            </a:pPr>
            <a:r>
              <a:rPr lang="en-US" sz="1600" i="1" dirty="0">
                <a:solidFill>
                  <a:srgbClr val="5C6B7A"/>
                </a:solidFill>
                <a:latin typeface="Calibri" pitchFamily="34" charset="0"/>
                <a:ea typeface="Calibri" pitchFamily="34" charset="-122"/>
                <a:cs typeface="Calibri" pitchFamily="34" charset="-120"/>
              </a:rPr>
              <a:t>10 min</a:t>
            </a:r>
            <a:endParaRPr lang="en-US" sz="1600" dirty="0"/>
          </a:p>
        </p:txBody>
      </p:sp>
      <p:sp>
        <p:nvSpPr>
          <p:cNvPr id="34" name="Shape 32"/>
          <p:cNvSpPr/>
          <p:nvPr/>
        </p:nvSpPr>
        <p:spPr>
          <a:xfrm>
            <a:off x="548640" y="5216652"/>
            <a:ext cx="11064240" cy="443484"/>
          </a:xfrm>
          <a:prstGeom prst="roundRect">
            <a:avLst>
              <a:gd name="adj" fmla="val 16495"/>
            </a:avLst>
          </a:prstGeom>
          <a:solidFill>
            <a:srgbClr val="E9EEF4"/>
          </a:solidFill>
          <a:ln/>
        </p:spPr>
        <p:txBody>
          <a:bodyPr/>
          <a:lstStyle/>
          <a:p>
            <a:endParaRPr lang="en-US"/>
          </a:p>
        </p:txBody>
      </p:sp>
      <p:sp>
        <p:nvSpPr>
          <p:cNvPr id="35" name="Text 33"/>
          <p:cNvSpPr txBox="1"/>
          <p:nvPr/>
        </p:nvSpPr>
        <p:spPr>
          <a:xfrm>
            <a:off x="777240" y="5216652"/>
            <a:ext cx="1463040" cy="443484"/>
          </a:xfrm>
          <a:prstGeom prst="rect">
            <a:avLst/>
          </a:prstGeom>
          <a:noFill/>
          <a:ln/>
        </p:spPr>
        <p:txBody>
          <a:bodyPr wrap="square" lIns="0" tIns="0" rIns="0" bIns="0" rtlCol="0" anchor="ctr"/>
          <a:lstStyle/>
          <a:p>
            <a:pPr marL="0" indent="0">
              <a:buNone/>
            </a:pPr>
            <a:r>
              <a:rPr lang="en-US" sz="1600" b="1" dirty="0">
                <a:solidFill>
                  <a:srgbClr val="0B2545"/>
                </a:solidFill>
                <a:latin typeface="Courier New" pitchFamily="34" charset="0"/>
                <a:ea typeface="Courier New" pitchFamily="34" charset="-122"/>
                <a:cs typeface="Courier New" pitchFamily="34" charset="-120"/>
              </a:rPr>
              <a:t>4:09 PM</a:t>
            </a:r>
            <a:endParaRPr lang="en-US" sz="1600" dirty="0"/>
          </a:p>
        </p:txBody>
      </p:sp>
      <p:sp>
        <p:nvSpPr>
          <p:cNvPr id="36" name="Text 34"/>
          <p:cNvSpPr txBox="1"/>
          <p:nvPr/>
        </p:nvSpPr>
        <p:spPr>
          <a:xfrm>
            <a:off x="2377440" y="5216652"/>
            <a:ext cx="7223760" cy="443484"/>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Hands-On Labs 1, 2 &amp; 3</a:t>
            </a:r>
            <a:endParaRPr lang="en-US" dirty="0"/>
          </a:p>
        </p:txBody>
      </p:sp>
      <p:sp>
        <p:nvSpPr>
          <p:cNvPr id="37" name="Text 35"/>
          <p:cNvSpPr txBox="1"/>
          <p:nvPr/>
        </p:nvSpPr>
        <p:spPr>
          <a:xfrm>
            <a:off x="9692640" y="5216652"/>
            <a:ext cx="1737360" cy="443484"/>
          </a:xfrm>
          <a:prstGeom prst="rect">
            <a:avLst/>
          </a:prstGeom>
          <a:noFill/>
          <a:ln/>
        </p:spPr>
        <p:txBody>
          <a:bodyPr wrap="square" lIns="0" tIns="0" rIns="0" bIns="0" rtlCol="0" anchor="ctr"/>
          <a:lstStyle/>
          <a:p>
            <a:pPr marL="0" indent="0" algn="r">
              <a:buNone/>
            </a:pPr>
            <a:r>
              <a:rPr lang="en-US" sz="1600" i="1" dirty="0">
                <a:solidFill>
                  <a:srgbClr val="5C6B7A"/>
                </a:solidFill>
                <a:latin typeface="Calibri" pitchFamily="34" charset="0"/>
                <a:ea typeface="Calibri" pitchFamily="34" charset="-122"/>
                <a:cs typeface="Calibri" pitchFamily="34" charset="-120"/>
              </a:rPr>
              <a:t>16 min</a:t>
            </a:r>
            <a:endParaRPr lang="en-US" sz="1600" dirty="0"/>
          </a:p>
        </p:txBody>
      </p:sp>
      <p:sp>
        <p:nvSpPr>
          <p:cNvPr id="38" name="Shape 36"/>
          <p:cNvSpPr/>
          <p:nvPr/>
        </p:nvSpPr>
        <p:spPr>
          <a:xfrm>
            <a:off x="548640" y="5733288"/>
            <a:ext cx="11064240" cy="443484"/>
          </a:xfrm>
          <a:prstGeom prst="roundRect">
            <a:avLst>
              <a:gd name="adj" fmla="val 16495"/>
            </a:avLst>
          </a:prstGeom>
          <a:solidFill>
            <a:srgbClr val="E9EEF4"/>
          </a:solidFill>
          <a:ln/>
        </p:spPr>
        <p:txBody>
          <a:bodyPr/>
          <a:lstStyle/>
          <a:p>
            <a:endParaRPr lang="en-US"/>
          </a:p>
        </p:txBody>
      </p:sp>
      <p:sp>
        <p:nvSpPr>
          <p:cNvPr id="39" name="Text 37"/>
          <p:cNvSpPr txBox="1"/>
          <p:nvPr/>
        </p:nvSpPr>
        <p:spPr>
          <a:xfrm>
            <a:off x="777240" y="5733288"/>
            <a:ext cx="1463040" cy="443484"/>
          </a:xfrm>
          <a:prstGeom prst="rect">
            <a:avLst/>
          </a:prstGeom>
          <a:noFill/>
          <a:ln/>
        </p:spPr>
        <p:txBody>
          <a:bodyPr wrap="square" lIns="0" tIns="0" rIns="0" bIns="0" rtlCol="0" anchor="ctr"/>
          <a:lstStyle/>
          <a:p>
            <a:pPr marL="0" indent="0">
              <a:buNone/>
            </a:pPr>
            <a:r>
              <a:rPr lang="en-US" sz="1600" b="1" dirty="0">
                <a:solidFill>
                  <a:srgbClr val="0B2545"/>
                </a:solidFill>
                <a:latin typeface="Courier New" pitchFamily="34" charset="0"/>
                <a:ea typeface="Courier New" pitchFamily="34" charset="-122"/>
                <a:cs typeface="Courier New" pitchFamily="34" charset="-120"/>
              </a:rPr>
              <a:t>4:25 PM</a:t>
            </a:r>
            <a:endParaRPr lang="en-US" sz="1600" dirty="0"/>
          </a:p>
        </p:txBody>
      </p:sp>
      <p:sp>
        <p:nvSpPr>
          <p:cNvPr id="40" name="Text 38"/>
          <p:cNvSpPr txBox="1"/>
          <p:nvPr/>
        </p:nvSpPr>
        <p:spPr>
          <a:xfrm>
            <a:off x="2377440" y="5733288"/>
            <a:ext cx="7223760" cy="443484"/>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Wrap-Up &amp; Next Steps</a:t>
            </a:r>
            <a:endParaRPr lang="en-US" dirty="0"/>
          </a:p>
        </p:txBody>
      </p:sp>
      <p:sp>
        <p:nvSpPr>
          <p:cNvPr id="41" name="Text 39"/>
          <p:cNvSpPr txBox="1"/>
          <p:nvPr/>
        </p:nvSpPr>
        <p:spPr>
          <a:xfrm>
            <a:off x="9692640" y="5733288"/>
            <a:ext cx="1737360" cy="443484"/>
          </a:xfrm>
          <a:prstGeom prst="rect">
            <a:avLst/>
          </a:prstGeom>
          <a:noFill/>
          <a:ln/>
        </p:spPr>
        <p:txBody>
          <a:bodyPr wrap="square" lIns="0" tIns="0" rIns="0" bIns="0" rtlCol="0" anchor="ctr"/>
          <a:lstStyle/>
          <a:p>
            <a:pPr marL="0" indent="0" algn="r">
              <a:buNone/>
            </a:pPr>
            <a:r>
              <a:rPr lang="en-US" sz="1600" i="1" dirty="0">
                <a:solidFill>
                  <a:srgbClr val="5C6B7A"/>
                </a:solidFill>
                <a:latin typeface="Calibri" pitchFamily="34" charset="0"/>
                <a:ea typeface="Calibri" pitchFamily="34" charset="-122"/>
                <a:cs typeface="Calibri" pitchFamily="34" charset="-120"/>
              </a:rPr>
              <a:t>5 min</a:t>
            </a:r>
            <a:endParaRPr lang="en-US" sz="1600" dirty="0"/>
          </a:p>
        </p:txBody>
      </p:sp>
      <p:sp>
        <p:nvSpPr>
          <p:cNvPr id="42" name="Text 40"/>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43" name="Text 41"/>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ABOUT YOUR INSTRUCTOR</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Meet Your Instructor</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2:33 PM</a:t>
            </a:r>
            <a:endParaRPr lang="en-US" sz="1150" dirty="0"/>
          </a:p>
        </p:txBody>
      </p:sp>
      <p:sp>
        <p:nvSpPr>
          <p:cNvPr id="6" name="Shape 4"/>
          <p:cNvSpPr/>
          <p:nvPr/>
        </p:nvSpPr>
        <p:spPr>
          <a:xfrm>
            <a:off x="548640" y="1600200"/>
            <a:ext cx="3566160" cy="4434840"/>
          </a:xfrm>
          <a:prstGeom prst="roundRect">
            <a:avLst>
              <a:gd name="adj" fmla="val 3077"/>
            </a:avLst>
          </a:prstGeom>
          <a:solidFill>
            <a:srgbClr val="E9EEF4"/>
          </a:solidFill>
          <a:ln w="12700">
            <a:solidFill>
              <a:srgbClr val="D7DEE7"/>
            </a:solidFill>
            <a:prstDash val="solid"/>
          </a:ln>
        </p:spPr>
        <p:txBody>
          <a:bodyPr/>
          <a:lstStyle/>
          <a:p>
            <a:endParaRPr lang="en-US"/>
          </a:p>
        </p:txBody>
      </p:sp>
      <p:sp>
        <p:nvSpPr>
          <p:cNvPr id="7" name="Shape 5"/>
          <p:cNvSpPr/>
          <p:nvPr/>
        </p:nvSpPr>
        <p:spPr>
          <a:xfrm>
            <a:off x="1417320" y="1965960"/>
            <a:ext cx="1828800" cy="1828800"/>
          </a:xfrm>
          <a:prstGeom prst="ellipse">
            <a:avLst/>
          </a:prstGeom>
          <a:solidFill>
            <a:srgbClr val="0B2545"/>
          </a:solidFill>
          <a:ln/>
        </p:spPr>
        <p:txBody>
          <a:bodyPr/>
          <a:lstStyle/>
          <a:p>
            <a:endParaRPr lang="en-US"/>
          </a:p>
        </p:txBody>
      </p:sp>
      <p:sp>
        <p:nvSpPr>
          <p:cNvPr id="8" name="Text 6"/>
          <p:cNvSpPr txBox="1"/>
          <p:nvPr/>
        </p:nvSpPr>
        <p:spPr>
          <a:xfrm>
            <a:off x="1417320" y="1965960"/>
            <a:ext cx="1828800" cy="1828800"/>
          </a:xfrm>
          <a:prstGeom prst="rect">
            <a:avLst/>
          </a:prstGeom>
          <a:noFill/>
          <a:ln/>
        </p:spPr>
        <p:txBody>
          <a:bodyPr wrap="square" lIns="0" tIns="0" rIns="0" bIns="0" rtlCol="0" anchor="ctr"/>
          <a:lstStyle/>
          <a:p>
            <a:pPr marL="0" indent="0" algn="ctr">
              <a:buNone/>
            </a:pPr>
            <a:r>
              <a:rPr lang="en-US" sz="6000" b="1" dirty="0">
                <a:solidFill>
                  <a:srgbClr val="FFFFFF"/>
                </a:solidFill>
                <a:latin typeface="Calibri" pitchFamily="34" charset="0"/>
                <a:ea typeface="Calibri" pitchFamily="34" charset="-122"/>
                <a:cs typeface="Calibri" pitchFamily="34" charset="-120"/>
              </a:rPr>
              <a:t>FS</a:t>
            </a:r>
            <a:endParaRPr lang="en-US" sz="6000" dirty="0"/>
          </a:p>
        </p:txBody>
      </p:sp>
      <p:sp>
        <p:nvSpPr>
          <p:cNvPr id="9" name="Text 7"/>
          <p:cNvSpPr txBox="1"/>
          <p:nvPr/>
        </p:nvSpPr>
        <p:spPr>
          <a:xfrm>
            <a:off x="731520" y="3931920"/>
            <a:ext cx="3017520" cy="457200"/>
          </a:xfrm>
          <a:prstGeom prst="rect">
            <a:avLst/>
          </a:prstGeom>
          <a:noFill/>
          <a:ln/>
        </p:spPr>
        <p:txBody>
          <a:bodyPr wrap="square" lIns="0" tIns="0" rIns="0" bIns="0" rtlCol="0" anchor="ctr"/>
          <a:lstStyle/>
          <a:p>
            <a:pPr marL="0" indent="0" algn="ctr">
              <a:buNone/>
            </a:pPr>
            <a:r>
              <a:rPr lang="en-US" sz="2000" b="1" dirty="0">
                <a:solidFill>
                  <a:srgbClr val="0B2545"/>
                </a:solidFill>
                <a:latin typeface="Calibri" pitchFamily="34" charset="0"/>
                <a:ea typeface="Calibri" pitchFamily="34" charset="-122"/>
                <a:cs typeface="Calibri" pitchFamily="34" charset="-120"/>
              </a:rPr>
              <a:t>Dr. Faheem Shaukat</a:t>
            </a:r>
            <a:endParaRPr lang="en-US" sz="2000" dirty="0"/>
          </a:p>
        </p:txBody>
      </p:sp>
      <p:sp>
        <p:nvSpPr>
          <p:cNvPr id="10" name="Text 8"/>
          <p:cNvSpPr txBox="1"/>
          <p:nvPr/>
        </p:nvSpPr>
        <p:spPr>
          <a:xfrm>
            <a:off x="731520" y="4389120"/>
            <a:ext cx="3017520" cy="320040"/>
          </a:xfrm>
          <a:prstGeom prst="rect">
            <a:avLst/>
          </a:prstGeom>
          <a:noFill/>
          <a:ln/>
        </p:spPr>
        <p:txBody>
          <a:bodyPr wrap="square" lIns="0" tIns="0" rIns="0" bIns="0" rtlCol="0" anchor="ctr"/>
          <a:lstStyle/>
          <a:p>
            <a:pPr marL="0" indent="0" algn="ctr">
              <a:buNone/>
            </a:pPr>
            <a:r>
              <a:rPr lang="en-US" sz="1400" dirty="0">
                <a:solidFill>
                  <a:srgbClr val="5C6B7A"/>
                </a:solidFill>
                <a:latin typeface="Calibri" pitchFamily="34" charset="0"/>
                <a:ea typeface="Calibri" pitchFamily="34" charset="-122"/>
                <a:cs typeface="Calibri" pitchFamily="34" charset="-120"/>
              </a:rPr>
              <a:t>Visiting Faculty</a:t>
            </a:r>
            <a:endParaRPr lang="en-US" sz="1400" dirty="0"/>
          </a:p>
        </p:txBody>
      </p:sp>
      <p:sp>
        <p:nvSpPr>
          <p:cNvPr id="11" name="Shape 9"/>
          <p:cNvSpPr/>
          <p:nvPr/>
        </p:nvSpPr>
        <p:spPr>
          <a:xfrm>
            <a:off x="1234440" y="4892040"/>
            <a:ext cx="2011680" cy="457200"/>
          </a:xfrm>
          <a:prstGeom prst="roundRect">
            <a:avLst>
              <a:gd name="adj" fmla="val 20000"/>
            </a:avLst>
          </a:prstGeom>
          <a:solidFill>
            <a:srgbClr val="0B2545"/>
          </a:solidFill>
          <a:ln/>
        </p:spPr>
        <p:txBody>
          <a:bodyPr/>
          <a:lstStyle/>
          <a:p>
            <a:endParaRPr lang="en-US"/>
          </a:p>
        </p:txBody>
      </p:sp>
      <p:sp>
        <p:nvSpPr>
          <p:cNvPr id="12" name="Text 10"/>
          <p:cNvSpPr txBox="1"/>
          <p:nvPr/>
        </p:nvSpPr>
        <p:spPr>
          <a:xfrm>
            <a:off x="1234440" y="4892040"/>
            <a:ext cx="20116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faheemshaukat3@gmail.com</a:t>
            </a:r>
            <a:endParaRPr lang="en-US" sz="1200" dirty="0"/>
          </a:p>
        </p:txBody>
      </p:sp>
      <p:sp>
        <p:nvSpPr>
          <p:cNvPr id="13" name="Shape 11"/>
          <p:cNvSpPr/>
          <p:nvPr/>
        </p:nvSpPr>
        <p:spPr>
          <a:xfrm>
            <a:off x="4343400" y="1600200"/>
            <a:ext cx="3497580" cy="2080260"/>
          </a:xfrm>
          <a:prstGeom prst="roundRect">
            <a:avLst>
              <a:gd name="adj" fmla="val 5275"/>
            </a:avLst>
          </a:prstGeom>
          <a:solidFill>
            <a:srgbClr val="E9EEF4"/>
          </a:solidFill>
          <a:ln w="12700">
            <a:solidFill>
              <a:srgbClr val="D7DEE7"/>
            </a:solidFill>
            <a:prstDash val="solid"/>
          </a:ln>
        </p:spPr>
        <p:txBody>
          <a:bodyPr/>
          <a:lstStyle/>
          <a:p>
            <a:endParaRPr lang="en-US"/>
          </a:p>
        </p:txBody>
      </p:sp>
      <p:sp>
        <p:nvSpPr>
          <p:cNvPr id="14" name="Text 12"/>
          <p:cNvSpPr txBox="1"/>
          <p:nvPr/>
        </p:nvSpPr>
        <p:spPr>
          <a:xfrm>
            <a:off x="4572000" y="1801368"/>
            <a:ext cx="3040380" cy="365760"/>
          </a:xfrm>
          <a:prstGeom prst="rect">
            <a:avLst/>
          </a:prstGeom>
          <a:noFill/>
          <a:ln/>
        </p:spPr>
        <p:txBody>
          <a:bodyPr wrap="square" lIns="0" tIns="0" rIns="0" bIns="0" rtlCol="0" anchor="ctr"/>
          <a:lstStyle/>
          <a:p>
            <a:pPr marL="0" indent="0">
              <a:buNone/>
            </a:pPr>
            <a:r>
              <a:rPr lang="en-US" b="1" dirty="0">
                <a:solidFill>
                  <a:srgbClr val="0B2545"/>
                </a:solidFill>
                <a:latin typeface="Calibri" pitchFamily="34" charset="0"/>
                <a:ea typeface="Calibri" pitchFamily="34" charset="-122"/>
                <a:cs typeface="Calibri" pitchFamily="34" charset="-120"/>
              </a:rPr>
              <a:t>Role at Bahria University</a:t>
            </a:r>
            <a:endParaRPr lang="en-US" dirty="0"/>
          </a:p>
        </p:txBody>
      </p:sp>
      <p:sp>
        <p:nvSpPr>
          <p:cNvPr id="15" name="Text 13"/>
          <p:cNvSpPr txBox="1"/>
          <p:nvPr/>
        </p:nvSpPr>
        <p:spPr>
          <a:xfrm>
            <a:off x="4572000" y="2221992"/>
            <a:ext cx="3040380" cy="1257300"/>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Visiting Faculty — Dept. of Software Engineering</a:t>
            </a:r>
            <a:endParaRPr lang="en-US" sz="1600" dirty="0"/>
          </a:p>
        </p:txBody>
      </p:sp>
      <p:sp>
        <p:nvSpPr>
          <p:cNvPr id="16" name="Shape 14"/>
          <p:cNvSpPr/>
          <p:nvPr/>
        </p:nvSpPr>
        <p:spPr>
          <a:xfrm>
            <a:off x="8115300" y="1600200"/>
            <a:ext cx="3497580" cy="2080260"/>
          </a:xfrm>
          <a:prstGeom prst="roundRect">
            <a:avLst>
              <a:gd name="adj" fmla="val 5275"/>
            </a:avLst>
          </a:prstGeom>
          <a:solidFill>
            <a:srgbClr val="E9EEF4"/>
          </a:solidFill>
          <a:ln w="12700">
            <a:solidFill>
              <a:srgbClr val="D7DEE7"/>
            </a:solidFill>
            <a:prstDash val="solid"/>
          </a:ln>
        </p:spPr>
        <p:txBody>
          <a:bodyPr/>
          <a:lstStyle/>
          <a:p>
            <a:endParaRPr lang="en-US"/>
          </a:p>
        </p:txBody>
      </p:sp>
      <p:sp>
        <p:nvSpPr>
          <p:cNvPr id="17" name="Text 15"/>
          <p:cNvSpPr txBox="1"/>
          <p:nvPr/>
        </p:nvSpPr>
        <p:spPr>
          <a:xfrm>
            <a:off x="8343900" y="1801368"/>
            <a:ext cx="3040380" cy="365760"/>
          </a:xfrm>
          <a:prstGeom prst="rect">
            <a:avLst/>
          </a:prstGeom>
          <a:noFill/>
          <a:ln/>
        </p:spPr>
        <p:txBody>
          <a:bodyPr wrap="square" lIns="0" tIns="0" rIns="0" bIns="0" rtlCol="0" anchor="ctr"/>
          <a:lstStyle/>
          <a:p>
            <a:pPr marL="0" indent="0">
              <a:buNone/>
            </a:pPr>
            <a:r>
              <a:rPr lang="en-US" b="1" dirty="0">
                <a:solidFill>
                  <a:srgbClr val="0B2545"/>
                </a:solidFill>
                <a:latin typeface="Calibri" pitchFamily="34" charset="0"/>
                <a:ea typeface="Calibri" pitchFamily="34" charset="-122"/>
                <a:cs typeface="Calibri" pitchFamily="34" charset="-120"/>
              </a:rPr>
              <a:t>Best Way to Reach Me</a:t>
            </a:r>
            <a:endParaRPr lang="en-US" dirty="0"/>
          </a:p>
        </p:txBody>
      </p:sp>
      <p:sp>
        <p:nvSpPr>
          <p:cNvPr id="18" name="Text 16"/>
          <p:cNvSpPr txBox="1"/>
          <p:nvPr/>
        </p:nvSpPr>
        <p:spPr>
          <a:xfrm>
            <a:off x="8343900" y="2221992"/>
            <a:ext cx="3040380" cy="1257300"/>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Email is the most reliable way to contact me for questions or clarification</a:t>
            </a:r>
            <a:endParaRPr lang="en-US" sz="1600" dirty="0"/>
          </a:p>
        </p:txBody>
      </p:sp>
      <p:sp>
        <p:nvSpPr>
          <p:cNvPr id="19" name="Shape 17"/>
          <p:cNvSpPr/>
          <p:nvPr/>
        </p:nvSpPr>
        <p:spPr>
          <a:xfrm>
            <a:off x="4343400" y="3954780"/>
            <a:ext cx="3497580" cy="2080260"/>
          </a:xfrm>
          <a:prstGeom prst="roundRect">
            <a:avLst>
              <a:gd name="adj" fmla="val 5275"/>
            </a:avLst>
          </a:prstGeom>
          <a:solidFill>
            <a:srgbClr val="E9EEF4"/>
          </a:solidFill>
          <a:ln w="12700">
            <a:solidFill>
              <a:srgbClr val="D7DEE7"/>
            </a:solidFill>
            <a:prstDash val="solid"/>
          </a:ln>
        </p:spPr>
        <p:txBody>
          <a:bodyPr/>
          <a:lstStyle/>
          <a:p>
            <a:endParaRPr lang="en-US"/>
          </a:p>
        </p:txBody>
      </p:sp>
      <p:sp>
        <p:nvSpPr>
          <p:cNvPr id="20" name="Text 18"/>
          <p:cNvSpPr txBox="1"/>
          <p:nvPr/>
        </p:nvSpPr>
        <p:spPr>
          <a:xfrm>
            <a:off x="4572000" y="4155948"/>
            <a:ext cx="3040380" cy="365760"/>
          </a:xfrm>
          <a:prstGeom prst="rect">
            <a:avLst/>
          </a:prstGeom>
          <a:noFill/>
          <a:ln/>
        </p:spPr>
        <p:txBody>
          <a:bodyPr wrap="square" lIns="0" tIns="0" rIns="0" bIns="0" rtlCol="0" anchor="ctr"/>
          <a:lstStyle/>
          <a:p>
            <a:pPr marL="0" indent="0">
              <a:buNone/>
            </a:pPr>
            <a:r>
              <a:rPr lang="en-US" b="1" dirty="0">
                <a:solidFill>
                  <a:srgbClr val="0B2545"/>
                </a:solidFill>
                <a:latin typeface="Calibri" pitchFamily="34" charset="0"/>
                <a:ea typeface="Calibri" pitchFamily="34" charset="-122"/>
                <a:cs typeface="Calibri" pitchFamily="34" charset="-120"/>
              </a:rPr>
              <a:t>Availability</a:t>
            </a:r>
            <a:endParaRPr lang="en-US" dirty="0"/>
          </a:p>
        </p:txBody>
      </p:sp>
      <p:sp>
        <p:nvSpPr>
          <p:cNvPr id="21" name="Text 19"/>
          <p:cNvSpPr txBox="1"/>
          <p:nvPr/>
        </p:nvSpPr>
        <p:spPr>
          <a:xfrm>
            <a:off x="4572000" y="4576572"/>
            <a:ext cx="3040380" cy="1257300"/>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As a visiting faculty member, no fixed office hours — happy to discuss during class breaks</a:t>
            </a:r>
            <a:endParaRPr lang="en-US" sz="1600" dirty="0"/>
          </a:p>
        </p:txBody>
      </p:sp>
      <p:sp>
        <p:nvSpPr>
          <p:cNvPr id="22" name="Shape 20"/>
          <p:cNvSpPr/>
          <p:nvPr/>
        </p:nvSpPr>
        <p:spPr>
          <a:xfrm>
            <a:off x="8115300" y="3954780"/>
            <a:ext cx="3497580" cy="2080260"/>
          </a:xfrm>
          <a:prstGeom prst="roundRect">
            <a:avLst>
              <a:gd name="adj" fmla="val 5275"/>
            </a:avLst>
          </a:prstGeom>
          <a:solidFill>
            <a:srgbClr val="E9EEF4"/>
          </a:solidFill>
          <a:ln w="12700">
            <a:solidFill>
              <a:srgbClr val="D7DEE7"/>
            </a:solidFill>
            <a:prstDash val="solid"/>
          </a:ln>
        </p:spPr>
        <p:txBody>
          <a:bodyPr/>
          <a:lstStyle/>
          <a:p>
            <a:endParaRPr lang="en-US"/>
          </a:p>
        </p:txBody>
      </p:sp>
      <p:sp>
        <p:nvSpPr>
          <p:cNvPr id="23" name="Text 21"/>
          <p:cNvSpPr txBox="1"/>
          <p:nvPr/>
        </p:nvSpPr>
        <p:spPr>
          <a:xfrm>
            <a:off x="8343900" y="4155948"/>
            <a:ext cx="3040380" cy="365760"/>
          </a:xfrm>
          <a:prstGeom prst="rect">
            <a:avLst/>
          </a:prstGeom>
          <a:noFill/>
          <a:ln/>
        </p:spPr>
        <p:txBody>
          <a:bodyPr wrap="square" lIns="0" tIns="0" rIns="0" bIns="0" rtlCol="0" anchor="ctr"/>
          <a:lstStyle/>
          <a:p>
            <a:pPr marL="0" indent="0">
              <a:buNone/>
            </a:pPr>
            <a:r>
              <a:rPr lang="en-US" b="1" dirty="0">
                <a:solidFill>
                  <a:srgbClr val="0B2545"/>
                </a:solidFill>
                <a:latin typeface="Calibri" pitchFamily="34" charset="0"/>
                <a:ea typeface="Calibri" pitchFamily="34" charset="-122"/>
                <a:cs typeface="Calibri" pitchFamily="34" charset="-120"/>
              </a:rPr>
              <a:t>Open-Door Policy</a:t>
            </a:r>
            <a:endParaRPr lang="en-US" dirty="0"/>
          </a:p>
        </p:txBody>
      </p:sp>
      <p:sp>
        <p:nvSpPr>
          <p:cNvPr id="24" name="Text 22"/>
          <p:cNvSpPr txBox="1"/>
          <p:nvPr/>
        </p:nvSpPr>
        <p:spPr>
          <a:xfrm>
            <a:off x="8343900" y="4576572"/>
            <a:ext cx="3040380" cy="1257300"/>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Any confusion about content, deadlines, or grading — please reach out. No question is too small</a:t>
            </a:r>
            <a:endParaRPr lang="en-US" sz="1600" dirty="0"/>
          </a:p>
        </p:txBody>
      </p:sp>
      <p:sp>
        <p:nvSpPr>
          <p:cNvPr id="25" name="Text 23"/>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26" name="Text 24"/>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COURSE POLICY</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Attendance &amp; Marks Distribution</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2:35 PM</a:t>
            </a:r>
            <a:endParaRPr lang="en-US" sz="1150" dirty="0"/>
          </a:p>
        </p:txBody>
      </p:sp>
      <p:sp>
        <p:nvSpPr>
          <p:cNvPr id="6" name="Shape 4"/>
          <p:cNvSpPr/>
          <p:nvPr/>
        </p:nvSpPr>
        <p:spPr>
          <a:xfrm>
            <a:off x="7178040" y="786384"/>
            <a:ext cx="2606040" cy="347472"/>
          </a:xfrm>
          <a:prstGeom prst="roundRect">
            <a:avLst>
              <a:gd name="adj" fmla="val 21053"/>
            </a:avLst>
          </a:prstGeom>
          <a:solidFill>
            <a:srgbClr val="E4F1EA"/>
          </a:solidFill>
          <a:ln w="12700">
            <a:solidFill>
              <a:srgbClr val="1E7A46"/>
            </a:solidFill>
            <a:prstDash val="solid"/>
          </a:ln>
        </p:spPr>
        <p:txBody>
          <a:bodyPr/>
          <a:lstStyle/>
          <a:p>
            <a:endParaRPr lang="en-US"/>
          </a:p>
        </p:txBody>
      </p:sp>
      <p:sp>
        <p:nvSpPr>
          <p:cNvPr id="7" name="Text 5"/>
          <p:cNvSpPr txBox="1"/>
          <p:nvPr/>
        </p:nvSpPr>
        <p:spPr>
          <a:xfrm>
            <a:off x="7178040" y="786384"/>
            <a:ext cx="2606040" cy="347472"/>
          </a:xfrm>
          <a:prstGeom prst="rect">
            <a:avLst/>
          </a:prstGeom>
          <a:noFill/>
          <a:ln/>
        </p:spPr>
        <p:txBody>
          <a:bodyPr wrap="square" lIns="0" tIns="0" rIns="0" bIns="0" rtlCol="0" anchor="ctr"/>
          <a:lstStyle/>
          <a:p>
            <a:pPr marL="0" indent="0" algn="ctr">
              <a:buNone/>
            </a:pPr>
            <a:r>
              <a:rPr lang="en-US" sz="1200" b="1" dirty="0">
                <a:solidFill>
                  <a:srgbClr val="1E7A46"/>
                </a:solidFill>
                <a:latin typeface="Calibri" pitchFamily="34" charset="0"/>
                <a:ea typeface="Calibri" pitchFamily="34" charset="-122"/>
                <a:cs typeface="Calibri" pitchFamily="34" charset="-120"/>
              </a:rPr>
              <a:t>OFFICIAL BAHRIA POLICY</a:t>
            </a:r>
            <a:endParaRPr lang="en-US" sz="1200" dirty="0"/>
          </a:p>
        </p:txBody>
      </p:sp>
      <p:sp>
        <p:nvSpPr>
          <p:cNvPr id="8" name="Shape 6"/>
          <p:cNvSpPr/>
          <p:nvPr/>
        </p:nvSpPr>
        <p:spPr>
          <a:xfrm>
            <a:off x="548640" y="1600200"/>
            <a:ext cx="4480560" cy="2606040"/>
          </a:xfrm>
          <a:prstGeom prst="roundRect">
            <a:avLst>
              <a:gd name="adj" fmla="val 4211"/>
            </a:avLst>
          </a:prstGeom>
          <a:solidFill>
            <a:srgbClr val="FBEAE7"/>
          </a:solidFill>
          <a:ln w="12700">
            <a:solidFill>
              <a:srgbClr val="D7DEE7"/>
            </a:solidFill>
            <a:prstDash val="solid"/>
          </a:ln>
        </p:spPr>
        <p:txBody>
          <a:bodyPr/>
          <a:lstStyle/>
          <a:p>
            <a:endParaRPr lang="en-US"/>
          </a:p>
        </p:txBody>
      </p:sp>
      <p:sp>
        <p:nvSpPr>
          <p:cNvPr id="9" name="Shape 7"/>
          <p:cNvSpPr/>
          <p:nvPr/>
        </p:nvSpPr>
        <p:spPr>
          <a:xfrm>
            <a:off x="822960" y="1828800"/>
            <a:ext cx="566928" cy="566928"/>
          </a:xfrm>
          <a:prstGeom prst="ellipse">
            <a:avLst/>
          </a:prstGeom>
          <a:solidFill>
            <a:srgbClr val="A23B2E"/>
          </a:solidFill>
          <a:ln/>
        </p:spPr>
        <p:txBody>
          <a:bodyPr/>
          <a:lstStyle/>
          <a:p>
            <a:endParaRPr lang="en-US"/>
          </a:p>
        </p:txBody>
      </p:sp>
      <p:sp>
        <p:nvSpPr>
          <p:cNvPr id="10" name="Text 8"/>
          <p:cNvSpPr txBox="1"/>
          <p:nvPr/>
        </p:nvSpPr>
        <p:spPr>
          <a:xfrm>
            <a:off x="822960" y="1828800"/>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 name="Text 9"/>
          <p:cNvSpPr txBox="1"/>
          <p:nvPr/>
        </p:nvSpPr>
        <p:spPr>
          <a:xfrm>
            <a:off x="1554480" y="1828800"/>
            <a:ext cx="3291840" cy="594360"/>
          </a:xfrm>
          <a:prstGeom prst="rect">
            <a:avLst/>
          </a:prstGeom>
          <a:noFill/>
          <a:ln/>
        </p:spPr>
        <p:txBody>
          <a:bodyPr wrap="square" lIns="0" tIns="0" rIns="0" bIns="0" rtlCol="0" anchor="ctr"/>
          <a:lstStyle/>
          <a:p>
            <a:pPr marL="0" indent="0">
              <a:buNone/>
            </a:pPr>
            <a:r>
              <a:rPr lang="en-US" sz="2000" b="1" dirty="0">
                <a:solidFill>
                  <a:srgbClr val="A23B2E"/>
                </a:solidFill>
                <a:latin typeface="Calibri" pitchFamily="34" charset="0"/>
                <a:ea typeface="Calibri" pitchFamily="34" charset="-122"/>
                <a:cs typeface="Calibri" pitchFamily="34" charset="-120"/>
              </a:rPr>
              <a:t>75% Attendance is MANDATORY</a:t>
            </a:r>
            <a:endParaRPr lang="en-US" sz="2000" dirty="0"/>
          </a:p>
        </p:txBody>
      </p:sp>
      <p:sp>
        <p:nvSpPr>
          <p:cNvPr id="12" name="Text 10"/>
          <p:cNvSpPr txBox="1"/>
          <p:nvPr/>
        </p:nvSpPr>
        <p:spPr>
          <a:xfrm>
            <a:off x="822960" y="2606040"/>
            <a:ext cx="3931920" cy="150876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17223B"/>
                </a:solidFill>
                <a:latin typeface="Calibri" pitchFamily="34" charset="0"/>
                <a:ea typeface="Calibri" pitchFamily="34" charset="-122"/>
                <a:cs typeface="Calibri" pitchFamily="34" charset="-120"/>
              </a:rPr>
              <a:t>Falling below 75% may bar you from sitting the Final-Term Exam — per university policy</a:t>
            </a:r>
            <a:endParaRPr lang="en-US" sz="1600" dirty="0"/>
          </a:p>
          <a:p>
            <a:pPr marL="228600" indent="-228600">
              <a:spcAft>
                <a:spcPts val="1400"/>
              </a:spcAft>
              <a:buSzPct val="100000"/>
              <a:buChar char="▪"/>
            </a:pPr>
            <a:r>
              <a:rPr lang="en-US" sz="1600" dirty="0">
                <a:solidFill>
                  <a:srgbClr val="17223B"/>
                </a:solidFill>
                <a:latin typeface="Calibri" pitchFamily="34" charset="0"/>
                <a:ea typeface="Calibri" pitchFamily="34" charset="-122"/>
                <a:cs typeface="Calibri" pitchFamily="34" charset="-120"/>
              </a:rPr>
              <a:t>Combined Lecture + Lab session counts as one attendance unit</a:t>
            </a:r>
            <a:endParaRPr lang="en-US" sz="1600" dirty="0"/>
          </a:p>
        </p:txBody>
      </p:sp>
      <p:sp>
        <p:nvSpPr>
          <p:cNvPr id="13" name="Shape 11"/>
          <p:cNvSpPr/>
          <p:nvPr/>
        </p:nvSpPr>
        <p:spPr>
          <a:xfrm>
            <a:off x="5257800" y="1600200"/>
            <a:ext cx="6355080" cy="4434840"/>
          </a:xfrm>
          <a:prstGeom prst="roundRect">
            <a:avLst>
              <a:gd name="adj" fmla="val 2474"/>
            </a:avLst>
          </a:prstGeom>
          <a:solidFill>
            <a:srgbClr val="E9EEF4"/>
          </a:solidFill>
          <a:ln w="12700">
            <a:solidFill>
              <a:srgbClr val="D7DEE7"/>
            </a:solidFill>
            <a:prstDash val="solid"/>
          </a:ln>
        </p:spPr>
        <p:txBody>
          <a:bodyPr/>
          <a:lstStyle/>
          <a:p>
            <a:endParaRPr lang="en-US"/>
          </a:p>
        </p:txBody>
      </p:sp>
      <p:sp>
        <p:nvSpPr>
          <p:cNvPr id="14" name="Text 12"/>
          <p:cNvSpPr txBox="1"/>
          <p:nvPr/>
        </p:nvSpPr>
        <p:spPr>
          <a:xfrm>
            <a:off x="5532120" y="1783080"/>
            <a:ext cx="5120640" cy="365760"/>
          </a:xfrm>
          <a:prstGeom prst="rect">
            <a:avLst/>
          </a:prstGeom>
          <a:noFill/>
          <a:ln/>
        </p:spPr>
        <p:txBody>
          <a:bodyPr wrap="square" lIns="0" tIns="0" rIns="0" bIns="0"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Assessment Weightage</a:t>
            </a:r>
            <a:endParaRPr lang="en-US" sz="2000" dirty="0"/>
          </a:p>
        </p:txBody>
      </p:sp>
      <p:sp>
        <p:nvSpPr>
          <p:cNvPr id="15" name="Shape 13"/>
          <p:cNvSpPr/>
          <p:nvPr/>
        </p:nvSpPr>
        <p:spPr>
          <a:xfrm>
            <a:off x="5532120" y="2286000"/>
            <a:ext cx="5806440" cy="594360"/>
          </a:xfrm>
          <a:prstGeom prst="rect">
            <a:avLst/>
          </a:prstGeom>
          <a:solidFill>
            <a:srgbClr val="FFFFFF"/>
          </a:solidFill>
          <a:ln/>
        </p:spPr>
        <p:txBody>
          <a:bodyPr/>
          <a:lstStyle/>
          <a:p>
            <a:endParaRPr lang="en-US"/>
          </a:p>
        </p:txBody>
      </p:sp>
      <p:sp>
        <p:nvSpPr>
          <p:cNvPr id="16" name="Text 14"/>
          <p:cNvSpPr txBox="1"/>
          <p:nvPr/>
        </p:nvSpPr>
        <p:spPr>
          <a:xfrm>
            <a:off x="5669280" y="2286000"/>
            <a:ext cx="4297680" cy="594360"/>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Quizzes</a:t>
            </a:r>
            <a:endParaRPr lang="en-US" dirty="0"/>
          </a:p>
        </p:txBody>
      </p:sp>
      <p:sp>
        <p:nvSpPr>
          <p:cNvPr id="17" name="Text 15"/>
          <p:cNvSpPr txBox="1"/>
          <p:nvPr/>
        </p:nvSpPr>
        <p:spPr>
          <a:xfrm>
            <a:off x="9966960" y="2286000"/>
            <a:ext cx="1234440" cy="594360"/>
          </a:xfrm>
          <a:prstGeom prst="rect">
            <a:avLst/>
          </a:prstGeom>
          <a:noFill/>
          <a:ln/>
        </p:spPr>
        <p:txBody>
          <a:bodyPr wrap="square" lIns="0" tIns="0" rIns="0" bIns="0" rtlCol="0" anchor="ctr"/>
          <a:lstStyle/>
          <a:p>
            <a:pPr marL="0" indent="0" algn="r">
              <a:buNone/>
            </a:pPr>
            <a:r>
              <a:rPr lang="en-US" b="1" dirty="0">
                <a:solidFill>
                  <a:srgbClr val="0B2545"/>
                </a:solidFill>
                <a:latin typeface="Calibri" pitchFamily="34" charset="0"/>
                <a:ea typeface="Calibri" pitchFamily="34" charset="-122"/>
                <a:cs typeface="Calibri" pitchFamily="34" charset="-120"/>
              </a:rPr>
              <a:t>15%</a:t>
            </a:r>
            <a:endParaRPr lang="en-US" dirty="0"/>
          </a:p>
        </p:txBody>
      </p:sp>
      <p:sp>
        <p:nvSpPr>
          <p:cNvPr id="18" name="Shape 16"/>
          <p:cNvSpPr/>
          <p:nvPr/>
        </p:nvSpPr>
        <p:spPr>
          <a:xfrm>
            <a:off x="5532120" y="2880360"/>
            <a:ext cx="5806440" cy="594360"/>
          </a:xfrm>
          <a:prstGeom prst="rect">
            <a:avLst/>
          </a:prstGeom>
          <a:solidFill>
            <a:srgbClr val="DEE6EE"/>
          </a:solidFill>
          <a:ln/>
        </p:spPr>
        <p:txBody>
          <a:bodyPr/>
          <a:lstStyle/>
          <a:p>
            <a:endParaRPr lang="en-US"/>
          </a:p>
        </p:txBody>
      </p:sp>
      <p:sp>
        <p:nvSpPr>
          <p:cNvPr id="19" name="Text 17"/>
          <p:cNvSpPr txBox="1"/>
          <p:nvPr/>
        </p:nvSpPr>
        <p:spPr>
          <a:xfrm>
            <a:off x="5669280" y="2880360"/>
            <a:ext cx="4297680" cy="594360"/>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Assignments</a:t>
            </a:r>
            <a:endParaRPr lang="en-US" dirty="0"/>
          </a:p>
        </p:txBody>
      </p:sp>
      <p:sp>
        <p:nvSpPr>
          <p:cNvPr id="20" name="Text 18"/>
          <p:cNvSpPr txBox="1"/>
          <p:nvPr/>
        </p:nvSpPr>
        <p:spPr>
          <a:xfrm>
            <a:off x="9966960" y="2880360"/>
            <a:ext cx="1234440" cy="594360"/>
          </a:xfrm>
          <a:prstGeom prst="rect">
            <a:avLst/>
          </a:prstGeom>
          <a:noFill/>
          <a:ln/>
        </p:spPr>
        <p:txBody>
          <a:bodyPr wrap="square" lIns="0" tIns="0" rIns="0" bIns="0" rtlCol="0" anchor="ctr"/>
          <a:lstStyle/>
          <a:p>
            <a:pPr marL="0" indent="0" algn="r">
              <a:buNone/>
            </a:pPr>
            <a:r>
              <a:rPr lang="en-US" b="1" dirty="0">
                <a:solidFill>
                  <a:srgbClr val="0B2545"/>
                </a:solidFill>
                <a:latin typeface="Calibri" pitchFamily="34" charset="0"/>
                <a:ea typeface="Calibri" pitchFamily="34" charset="-122"/>
                <a:cs typeface="Calibri" pitchFamily="34" charset="-120"/>
              </a:rPr>
              <a:t>15%</a:t>
            </a:r>
            <a:endParaRPr lang="en-US" dirty="0"/>
          </a:p>
        </p:txBody>
      </p:sp>
      <p:sp>
        <p:nvSpPr>
          <p:cNvPr id="21" name="Shape 19"/>
          <p:cNvSpPr/>
          <p:nvPr/>
        </p:nvSpPr>
        <p:spPr>
          <a:xfrm>
            <a:off x="5532120" y="3474720"/>
            <a:ext cx="5806440" cy="594360"/>
          </a:xfrm>
          <a:prstGeom prst="rect">
            <a:avLst/>
          </a:prstGeom>
          <a:solidFill>
            <a:srgbClr val="FFFFFF"/>
          </a:solidFill>
          <a:ln/>
        </p:spPr>
        <p:txBody>
          <a:bodyPr/>
          <a:lstStyle/>
          <a:p>
            <a:endParaRPr lang="en-US"/>
          </a:p>
        </p:txBody>
      </p:sp>
      <p:sp>
        <p:nvSpPr>
          <p:cNvPr id="22" name="Text 20"/>
          <p:cNvSpPr txBox="1"/>
          <p:nvPr/>
        </p:nvSpPr>
        <p:spPr>
          <a:xfrm>
            <a:off x="5669280" y="3474720"/>
            <a:ext cx="4297680" cy="594360"/>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Mid-Term Examination</a:t>
            </a:r>
            <a:endParaRPr lang="en-US" dirty="0"/>
          </a:p>
        </p:txBody>
      </p:sp>
      <p:sp>
        <p:nvSpPr>
          <p:cNvPr id="23" name="Text 21"/>
          <p:cNvSpPr txBox="1"/>
          <p:nvPr/>
        </p:nvSpPr>
        <p:spPr>
          <a:xfrm>
            <a:off x="9966960" y="3474720"/>
            <a:ext cx="1234440" cy="594360"/>
          </a:xfrm>
          <a:prstGeom prst="rect">
            <a:avLst/>
          </a:prstGeom>
          <a:noFill/>
          <a:ln/>
        </p:spPr>
        <p:txBody>
          <a:bodyPr wrap="square" lIns="0" tIns="0" rIns="0" bIns="0" rtlCol="0" anchor="ctr"/>
          <a:lstStyle/>
          <a:p>
            <a:pPr marL="0" indent="0" algn="r">
              <a:buNone/>
            </a:pPr>
            <a:r>
              <a:rPr lang="en-US" b="1" dirty="0">
                <a:solidFill>
                  <a:srgbClr val="0B2545"/>
                </a:solidFill>
                <a:latin typeface="Calibri" pitchFamily="34" charset="0"/>
                <a:ea typeface="Calibri" pitchFamily="34" charset="-122"/>
                <a:cs typeface="Calibri" pitchFamily="34" charset="-120"/>
              </a:rPr>
              <a:t>30%</a:t>
            </a:r>
            <a:endParaRPr lang="en-US" dirty="0"/>
          </a:p>
        </p:txBody>
      </p:sp>
      <p:sp>
        <p:nvSpPr>
          <p:cNvPr id="24" name="Shape 22"/>
          <p:cNvSpPr/>
          <p:nvPr/>
        </p:nvSpPr>
        <p:spPr>
          <a:xfrm>
            <a:off x="5532120" y="4069080"/>
            <a:ext cx="5806440" cy="594360"/>
          </a:xfrm>
          <a:prstGeom prst="rect">
            <a:avLst/>
          </a:prstGeom>
          <a:solidFill>
            <a:srgbClr val="DEE6EE"/>
          </a:solidFill>
          <a:ln/>
        </p:spPr>
        <p:txBody>
          <a:bodyPr/>
          <a:lstStyle/>
          <a:p>
            <a:endParaRPr lang="en-US"/>
          </a:p>
        </p:txBody>
      </p:sp>
      <p:sp>
        <p:nvSpPr>
          <p:cNvPr id="25" name="Text 23"/>
          <p:cNvSpPr txBox="1"/>
          <p:nvPr/>
        </p:nvSpPr>
        <p:spPr>
          <a:xfrm>
            <a:off x="5669280" y="4069080"/>
            <a:ext cx="4297680" cy="594360"/>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Final-Term Examination</a:t>
            </a:r>
            <a:endParaRPr lang="en-US" dirty="0"/>
          </a:p>
        </p:txBody>
      </p:sp>
      <p:sp>
        <p:nvSpPr>
          <p:cNvPr id="26" name="Text 24"/>
          <p:cNvSpPr txBox="1"/>
          <p:nvPr/>
        </p:nvSpPr>
        <p:spPr>
          <a:xfrm>
            <a:off x="9966960" y="4069080"/>
            <a:ext cx="1234440" cy="594360"/>
          </a:xfrm>
          <a:prstGeom prst="rect">
            <a:avLst/>
          </a:prstGeom>
          <a:noFill/>
          <a:ln/>
        </p:spPr>
        <p:txBody>
          <a:bodyPr wrap="square" lIns="0" tIns="0" rIns="0" bIns="0" rtlCol="0" anchor="ctr"/>
          <a:lstStyle/>
          <a:p>
            <a:pPr marL="0" indent="0" algn="r">
              <a:buNone/>
            </a:pPr>
            <a:r>
              <a:rPr lang="en-US" b="1" dirty="0">
                <a:solidFill>
                  <a:srgbClr val="0B2545"/>
                </a:solidFill>
                <a:latin typeface="Calibri" pitchFamily="34" charset="0"/>
                <a:ea typeface="Calibri" pitchFamily="34" charset="-122"/>
                <a:cs typeface="Calibri" pitchFamily="34" charset="-120"/>
              </a:rPr>
              <a:t>40%</a:t>
            </a:r>
            <a:endParaRPr lang="en-US" dirty="0"/>
          </a:p>
        </p:txBody>
      </p:sp>
      <p:sp>
        <p:nvSpPr>
          <p:cNvPr id="27" name="Shape 25"/>
          <p:cNvSpPr/>
          <p:nvPr/>
        </p:nvSpPr>
        <p:spPr>
          <a:xfrm>
            <a:off x="5532120" y="4709160"/>
            <a:ext cx="5806440" cy="0"/>
          </a:xfrm>
          <a:prstGeom prst="line">
            <a:avLst/>
          </a:prstGeom>
          <a:noFill/>
          <a:ln w="19050">
            <a:solidFill>
              <a:srgbClr val="0B2545"/>
            </a:solidFill>
            <a:prstDash val="solid"/>
          </a:ln>
        </p:spPr>
        <p:txBody>
          <a:bodyPr/>
          <a:lstStyle/>
          <a:p>
            <a:endParaRPr lang="en-US"/>
          </a:p>
        </p:txBody>
      </p:sp>
      <p:sp>
        <p:nvSpPr>
          <p:cNvPr id="28" name="Text 26"/>
          <p:cNvSpPr txBox="1"/>
          <p:nvPr/>
        </p:nvSpPr>
        <p:spPr>
          <a:xfrm>
            <a:off x="5669280" y="4773168"/>
            <a:ext cx="4297680" cy="365760"/>
          </a:xfrm>
          <a:prstGeom prst="rect">
            <a:avLst/>
          </a:prstGeom>
          <a:noFill/>
          <a:ln/>
        </p:spPr>
        <p:txBody>
          <a:bodyPr wrap="square" lIns="0" tIns="0" rIns="0" bIns="0" rtlCol="0" anchor="ctr"/>
          <a:lstStyle/>
          <a:p>
            <a:pPr marL="0" indent="0">
              <a:buNone/>
            </a:pPr>
            <a:r>
              <a:rPr lang="en-US" b="1" dirty="0">
                <a:solidFill>
                  <a:srgbClr val="0B2545"/>
                </a:solidFill>
                <a:latin typeface="Calibri" pitchFamily="34" charset="0"/>
                <a:ea typeface="Calibri" pitchFamily="34" charset="-122"/>
                <a:cs typeface="Calibri" pitchFamily="34" charset="-120"/>
              </a:rPr>
              <a:t>Total</a:t>
            </a:r>
            <a:endParaRPr lang="en-US" dirty="0"/>
          </a:p>
        </p:txBody>
      </p:sp>
      <p:sp>
        <p:nvSpPr>
          <p:cNvPr id="29" name="Text 27"/>
          <p:cNvSpPr txBox="1"/>
          <p:nvPr/>
        </p:nvSpPr>
        <p:spPr>
          <a:xfrm>
            <a:off x="9966960" y="4773168"/>
            <a:ext cx="1234440" cy="365760"/>
          </a:xfrm>
          <a:prstGeom prst="rect">
            <a:avLst/>
          </a:prstGeom>
          <a:noFill/>
          <a:ln/>
        </p:spPr>
        <p:txBody>
          <a:bodyPr wrap="square" lIns="0" tIns="0" rIns="0" bIns="0" rtlCol="0" anchor="ctr"/>
          <a:lstStyle/>
          <a:p>
            <a:pPr marL="0" indent="0" algn="r">
              <a:buNone/>
            </a:pPr>
            <a:r>
              <a:rPr lang="en-US" b="1" dirty="0">
                <a:solidFill>
                  <a:srgbClr val="0B2545"/>
                </a:solidFill>
                <a:latin typeface="Calibri" pitchFamily="34" charset="0"/>
                <a:ea typeface="Calibri" pitchFamily="34" charset="-122"/>
                <a:cs typeface="Calibri" pitchFamily="34" charset="-120"/>
              </a:rPr>
              <a:t>100%</a:t>
            </a:r>
            <a:endParaRPr lang="en-US" dirty="0"/>
          </a:p>
        </p:txBody>
      </p:sp>
      <p:sp>
        <p:nvSpPr>
          <p:cNvPr id="30" name="Text 28"/>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31" name="Text 29"/>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GRADING SCHEME</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How Your Final Grade Is Calculated</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2:39 PM</a:t>
            </a:r>
            <a:endParaRPr lang="en-US" sz="1150" dirty="0"/>
          </a:p>
        </p:txBody>
      </p:sp>
      <p:sp>
        <p:nvSpPr>
          <p:cNvPr id="6" name="Shape 4"/>
          <p:cNvSpPr/>
          <p:nvPr/>
        </p:nvSpPr>
        <p:spPr>
          <a:xfrm>
            <a:off x="548640" y="1554480"/>
            <a:ext cx="1463040" cy="457200"/>
          </a:xfrm>
          <a:prstGeom prst="rect">
            <a:avLst/>
          </a:prstGeom>
          <a:solidFill>
            <a:srgbClr val="0B2545"/>
          </a:solidFill>
          <a:ln/>
        </p:spPr>
        <p:txBody>
          <a:bodyPr/>
          <a:lstStyle/>
          <a:p>
            <a:endParaRPr lang="en-US"/>
          </a:p>
        </p:txBody>
      </p:sp>
      <p:sp>
        <p:nvSpPr>
          <p:cNvPr id="7" name="Text 5"/>
          <p:cNvSpPr txBox="1"/>
          <p:nvPr/>
        </p:nvSpPr>
        <p:spPr>
          <a:xfrm>
            <a:off x="548640" y="1554480"/>
            <a:ext cx="14630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Grade</a:t>
            </a:r>
            <a:endParaRPr lang="en-US" sz="1600" dirty="0"/>
          </a:p>
        </p:txBody>
      </p:sp>
      <p:sp>
        <p:nvSpPr>
          <p:cNvPr id="8" name="Shape 6"/>
          <p:cNvSpPr/>
          <p:nvPr/>
        </p:nvSpPr>
        <p:spPr>
          <a:xfrm>
            <a:off x="2011680" y="1554480"/>
            <a:ext cx="1463040" cy="457200"/>
          </a:xfrm>
          <a:prstGeom prst="rect">
            <a:avLst/>
          </a:prstGeom>
          <a:solidFill>
            <a:srgbClr val="0B2545"/>
          </a:solidFill>
          <a:ln/>
        </p:spPr>
        <p:txBody>
          <a:bodyPr/>
          <a:lstStyle/>
          <a:p>
            <a:endParaRPr lang="en-US"/>
          </a:p>
        </p:txBody>
      </p:sp>
      <p:sp>
        <p:nvSpPr>
          <p:cNvPr id="9" name="Text 7"/>
          <p:cNvSpPr txBox="1"/>
          <p:nvPr/>
        </p:nvSpPr>
        <p:spPr>
          <a:xfrm>
            <a:off x="2011680" y="1554480"/>
            <a:ext cx="14630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GP</a:t>
            </a:r>
            <a:endParaRPr lang="en-US" sz="1600" dirty="0"/>
          </a:p>
        </p:txBody>
      </p:sp>
      <p:sp>
        <p:nvSpPr>
          <p:cNvPr id="10" name="Shape 8"/>
          <p:cNvSpPr/>
          <p:nvPr/>
        </p:nvSpPr>
        <p:spPr>
          <a:xfrm>
            <a:off x="3474720" y="1554480"/>
            <a:ext cx="1463040" cy="457200"/>
          </a:xfrm>
          <a:prstGeom prst="rect">
            <a:avLst/>
          </a:prstGeom>
          <a:solidFill>
            <a:srgbClr val="0B2545"/>
          </a:solidFill>
          <a:ln/>
        </p:spPr>
        <p:txBody>
          <a:bodyPr/>
          <a:lstStyle/>
          <a:p>
            <a:endParaRPr lang="en-US"/>
          </a:p>
        </p:txBody>
      </p:sp>
      <p:sp>
        <p:nvSpPr>
          <p:cNvPr id="11" name="Text 9"/>
          <p:cNvSpPr txBox="1"/>
          <p:nvPr/>
        </p:nvSpPr>
        <p:spPr>
          <a:xfrm>
            <a:off x="3474720" y="1554480"/>
            <a:ext cx="14630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LL %</a:t>
            </a:r>
            <a:endParaRPr lang="en-US" sz="1600" dirty="0"/>
          </a:p>
        </p:txBody>
      </p:sp>
      <p:sp>
        <p:nvSpPr>
          <p:cNvPr id="12" name="Shape 10"/>
          <p:cNvSpPr/>
          <p:nvPr/>
        </p:nvSpPr>
        <p:spPr>
          <a:xfrm>
            <a:off x="4937760" y="1554480"/>
            <a:ext cx="1463040" cy="457200"/>
          </a:xfrm>
          <a:prstGeom prst="rect">
            <a:avLst/>
          </a:prstGeom>
          <a:solidFill>
            <a:srgbClr val="0B2545"/>
          </a:solidFill>
          <a:ln/>
        </p:spPr>
        <p:txBody>
          <a:bodyPr/>
          <a:lstStyle/>
          <a:p>
            <a:endParaRPr lang="en-US"/>
          </a:p>
        </p:txBody>
      </p:sp>
      <p:sp>
        <p:nvSpPr>
          <p:cNvPr id="13" name="Text 11"/>
          <p:cNvSpPr txBox="1"/>
          <p:nvPr/>
        </p:nvSpPr>
        <p:spPr>
          <a:xfrm>
            <a:off x="4937760" y="1554480"/>
            <a:ext cx="14630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UL %</a:t>
            </a:r>
            <a:endParaRPr lang="en-US" sz="1600" dirty="0"/>
          </a:p>
        </p:txBody>
      </p:sp>
      <p:sp>
        <p:nvSpPr>
          <p:cNvPr id="14" name="Shape 12"/>
          <p:cNvSpPr/>
          <p:nvPr/>
        </p:nvSpPr>
        <p:spPr>
          <a:xfrm>
            <a:off x="548640" y="2011680"/>
            <a:ext cx="1463040" cy="342900"/>
          </a:xfrm>
          <a:prstGeom prst="rect">
            <a:avLst/>
          </a:prstGeom>
          <a:solidFill>
            <a:srgbClr val="FFFFFF"/>
          </a:solidFill>
          <a:ln w="6350">
            <a:solidFill>
              <a:srgbClr val="D7DEE7"/>
            </a:solidFill>
            <a:prstDash val="solid"/>
          </a:ln>
        </p:spPr>
        <p:txBody>
          <a:bodyPr/>
          <a:lstStyle/>
          <a:p>
            <a:endParaRPr lang="en-US"/>
          </a:p>
        </p:txBody>
      </p:sp>
      <p:sp>
        <p:nvSpPr>
          <p:cNvPr id="15" name="Text 13"/>
          <p:cNvSpPr txBox="1"/>
          <p:nvPr/>
        </p:nvSpPr>
        <p:spPr>
          <a:xfrm>
            <a:off x="548640" y="2011680"/>
            <a:ext cx="1463040" cy="3429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A</a:t>
            </a:r>
            <a:endParaRPr lang="en-US" sz="1400" dirty="0"/>
          </a:p>
        </p:txBody>
      </p:sp>
      <p:sp>
        <p:nvSpPr>
          <p:cNvPr id="16" name="Shape 14"/>
          <p:cNvSpPr/>
          <p:nvPr/>
        </p:nvSpPr>
        <p:spPr>
          <a:xfrm>
            <a:off x="2011680" y="2011680"/>
            <a:ext cx="1463040" cy="342900"/>
          </a:xfrm>
          <a:prstGeom prst="rect">
            <a:avLst/>
          </a:prstGeom>
          <a:solidFill>
            <a:srgbClr val="FFFFFF"/>
          </a:solidFill>
          <a:ln w="6350">
            <a:solidFill>
              <a:srgbClr val="D7DEE7"/>
            </a:solidFill>
            <a:prstDash val="solid"/>
          </a:ln>
        </p:spPr>
        <p:txBody>
          <a:bodyPr/>
          <a:lstStyle/>
          <a:p>
            <a:endParaRPr lang="en-US"/>
          </a:p>
        </p:txBody>
      </p:sp>
      <p:sp>
        <p:nvSpPr>
          <p:cNvPr id="17" name="Text 15"/>
          <p:cNvSpPr txBox="1"/>
          <p:nvPr/>
        </p:nvSpPr>
        <p:spPr>
          <a:xfrm>
            <a:off x="2011680" y="20116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4.00</a:t>
            </a:r>
            <a:endParaRPr lang="en-US" sz="1400" dirty="0"/>
          </a:p>
        </p:txBody>
      </p:sp>
      <p:sp>
        <p:nvSpPr>
          <p:cNvPr id="18" name="Shape 16"/>
          <p:cNvSpPr/>
          <p:nvPr/>
        </p:nvSpPr>
        <p:spPr>
          <a:xfrm>
            <a:off x="3474720" y="2011680"/>
            <a:ext cx="1463040" cy="342900"/>
          </a:xfrm>
          <a:prstGeom prst="rect">
            <a:avLst/>
          </a:prstGeom>
          <a:solidFill>
            <a:srgbClr val="FFFFFF"/>
          </a:solidFill>
          <a:ln w="6350">
            <a:solidFill>
              <a:srgbClr val="D7DEE7"/>
            </a:solidFill>
            <a:prstDash val="solid"/>
          </a:ln>
        </p:spPr>
        <p:txBody>
          <a:bodyPr/>
          <a:lstStyle/>
          <a:p>
            <a:endParaRPr lang="en-US"/>
          </a:p>
        </p:txBody>
      </p:sp>
      <p:sp>
        <p:nvSpPr>
          <p:cNvPr id="19" name="Text 17"/>
          <p:cNvSpPr txBox="1"/>
          <p:nvPr/>
        </p:nvSpPr>
        <p:spPr>
          <a:xfrm>
            <a:off x="3474720" y="20116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 85</a:t>
            </a:r>
            <a:endParaRPr lang="en-US" sz="1400" dirty="0"/>
          </a:p>
        </p:txBody>
      </p:sp>
      <p:sp>
        <p:nvSpPr>
          <p:cNvPr id="20" name="Shape 18"/>
          <p:cNvSpPr/>
          <p:nvPr/>
        </p:nvSpPr>
        <p:spPr>
          <a:xfrm>
            <a:off x="4937760" y="2011680"/>
            <a:ext cx="1463040" cy="342900"/>
          </a:xfrm>
          <a:prstGeom prst="rect">
            <a:avLst/>
          </a:prstGeom>
          <a:solidFill>
            <a:srgbClr val="FFFFFF"/>
          </a:solidFill>
          <a:ln w="6350">
            <a:solidFill>
              <a:srgbClr val="D7DEE7"/>
            </a:solidFill>
            <a:prstDash val="solid"/>
          </a:ln>
        </p:spPr>
        <p:txBody>
          <a:bodyPr/>
          <a:lstStyle/>
          <a:p>
            <a:endParaRPr lang="en-US"/>
          </a:p>
        </p:txBody>
      </p:sp>
      <p:sp>
        <p:nvSpPr>
          <p:cNvPr id="21" name="Text 19"/>
          <p:cNvSpPr txBox="1"/>
          <p:nvPr/>
        </p:nvSpPr>
        <p:spPr>
          <a:xfrm>
            <a:off x="4937760" y="2011680"/>
            <a:ext cx="1463040" cy="342900"/>
          </a:xfrm>
          <a:prstGeom prst="rect">
            <a:avLst/>
          </a:prstGeom>
          <a:noFill/>
          <a:ln/>
        </p:spPr>
        <p:txBody>
          <a:bodyPr wrap="square" lIns="0" tIns="0" rIns="0" bIns="0" rtlCol="0" anchor="ctr"/>
          <a:lstStyle/>
          <a:p>
            <a:pPr marL="0" indent="0" algn="ctr">
              <a:buNone/>
            </a:pPr>
            <a:r>
              <a:rPr lang="en-US" sz="1250" dirty="0">
                <a:solidFill>
                  <a:srgbClr val="17223B"/>
                </a:solidFill>
                <a:latin typeface="Calibri" pitchFamily="34" charset="0"/>
                <a:ea typeface="Calibri" pitchFamily="34" charset="-122"/>
                <a:cs typeface="Calibri" pitchFamily="34" charset="-120"/>
              </a:rPr>
              <a:t>—</a:t>
            </a:r>
            <a:endParaRPr lang="en-US" sz="1250" dirty="0"/>
          </a:p>
        </p:txBody>
      </p:sp>
      <p:sp>
        <p:nvSpPr>
          <p:cNvPr id="22" name="Shape 20"/>
          <p:cNvSpPr/>
          <p:nvPr/>
        </p:nvSpPr>
        <p:spPr>
          <a:xfrm>
            <a:off x="548640" y="2354580"/>
            <a:ext cx="1463040" cy="342900"/>
          </a:xfrm>
          <a:prstGeom prst="rect">
            <a:avLst/>
          </a:prstGeom>
          <a:solidFill>
            <a:srgbClr val="E9EEF4"/>
          </a:solidFill>
          <a:ln w="6350">
            <a:solidFill>
              <a:srgbClr val="D7DEE7"/>
            </a:solidFill>
            <a:prstDash val="solid"/>
          </a:ln>
        </p:spPr>
        <p:txBody>
          <a:bodyPr/>
          <a:lstStyle/>
          <a:p>
            <a:endParaRPr lang="en-US"/>
          </a:p>
        </p:txBody>
      </p:sp>
      <p:sp>
        <p:nvSpPr>
          <p:cNvPr id="23" name="Text 21"/>
          <p:cNvSpPr txBox="1"/>
          <p:nvPr/>
        </p:nvSpPr>
        <p:spPr>
          <a:xfrm>
            <a:off x="548640" y="2354580"/>
            <a:ext cx="1463040" cy="342900"/>
          </a:xfrm>
          <a:prstGeom prst="rect">
            <a:avLst/>
          </a:prstGeom>
          <a:noFill/>
          <a:ln/>
        </p:spPr>
        <p:txBody>
          <a:bodyPr wrap="square" lIns="0" tIns="0" rIns="0" bIns="0" rtlCol="0" anchor="ctr"/>
          <a:lstStyle/>
          <a:p>
            <a:pPr marL="0" indent="0" algn="ctr">
              <a:buNone/>
            </a:pPr>
            <a:r>
              <a:rPr lang="en-US" sz="1250" b="1" dirty="0">
                <a:solidFill>
                  <a:srgbClr val="0B2545"/>
                </a:solidFill>
                <a:latin typeface="Calibri" pitchFamily="34" charset="0"/>
                <a:ea typeface="Calibri" pitchFamily="34" charset="-122"/>
                <a:cs typeface="Calibri" pitchFamily="34" charset="-120"/>
              </a:rPr>
              <a:t>A-</a:t>
            </a:r>
            <a:endParaRPr lang="en-US" sz="1250" dirty="0"/>
          </a:p>
        </p:txBody>
      </p:sp>
      <p:sp>
        <p:nvSpPr>
          <p:cNvPr id="24" name="Shape 22"/>
          <p:cNvSpPr/>
          <p:nvPr/>
        </p:nvSpPr>
        <p:spPr>
          <a:xfrm>
            <a:off x="2011680" y="2354580"/>
            <a:ext cx="1463040" cy="342900"/>
          </a:xfrm>
          <a:prstGeom prst="rect">
            <a:avLst/>
          </a:prstGeom>
          <a:solidFill>
            <a:srgbClr val="E9EEF4"/>
          </a:solidFill>
          <a:ln w="6350">
            <a:solidFill>
              <a:srgbClr val="D7DEE7"/>
            </a:solidFill>
            <a:prstDash val="solid"/>
          </a:ln>
        </p:spPr>
        <p:txBody>
          <a:bodyPr/>
          <a:lstStyle/>
          <a:p>
            <a:endParaRPr lang="en-US" sz="1400"/>
          </a:p>
        </p:txBody>
      </p:sp>
      <p:sp>
        <p:nvSpPr>
          <p:cNvPr id="25" name="Text 23"/>
          <p:cNvSpPr txBox="1"/>
          <p:nvPr/>
        </p:nvSpPr>
        <p:spPr>
          <a:xfrm>
            <a:off x="2011680" y="23545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3.67</a:t>
            </a:r>
            <a:endParaRPr lang="en-US" sz="1400" dirty="0"/>
          </a:p>
        </p:txBody>
      </p:sp>
      <p:sp>
        <p:nvSpPr>
          <p:cNvPr id="26" name="Shape 24"/>
          <p:cNvSpPr/>
          <p:nvPr/>
        </p:nvSpPr>
        <p:spPr>
          <a:xfrm>
            <a:off x="3474720" y="2354580"/>
            <a:ext cx="1463040" cy="342900"/>
          </a:xfrm>
          <a:prstGeom prst="rect">
            <a:avLst/>
          </a:prstGeom>
          <a:solidFill>
            <a:srgbClr val="E9EEF4"/>
          </a:solidFill>
          <a:ln w="6350">
            <a:solidFill>
              <a:srgbClr val="D7DEE7"/>
            </a:solidFill>
            <a:prstDash val="solid"/>
          </a:ln>
        </p:spPr>
        <p:txBody>
          <a:bodyPr/>
          <a:lstStyle/>
          <a:p>
            <a:endParaRPr lang="en-US" sz="1400"/>
          </a:p>
        </p:txBody>
      </p:sp>
      <p:sp>
        <p:nvSpPr>
          <p:cNvPr id="27" name="Text 25"/>
          <p:cNvSpPr txBox="1"/>
          <p:nvPr/>
        </p:nvSpPr>
        <p:spPr>
          <a:xfrm>
            <a:off x="3474720" y="23545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 80</a:t>
            </a:r>
            <a:endParaRPr lang="en-US" sz="1400" dirty="0"/>
          </a:p>
        </p:txBody>
      </p:sp>
      <p:sp>
        <p:nvSpPr>
          <p:cNvPr id="28" name="Shape 26"/>
          <p:cNvSpPr/>
          <p:nvPr/>
        </p:nvSpPr>
        <p:spPr>
          <a:xfrm>
            <a:off x="4937760" y="2354580"/>
            <a:ext cx="1463040" cy="342900"/>
          </a:xfrm>
          <a:prstGeom prst="rect">
            <a:avLst/>
          </a:prstGeom>
          <a:solidFill>
            <a:srgbClr val="E9EEF4"/>
          </a:solidFill>
          <a:ln w="6350">
            <a:solidFill>
              <a:srgbClr val="D7DEE7"/>
            </a:solidFill>
            <a:prstDash val="solid"/>
          </a:ln>
        </p:spPr>
        <p:txBody>
          <a:bodyPr/>
          <a:lstStyle/>
          <a:p>
            <a:endParaRPr lang="en-US" sz="1400"/>
          </a:p>
        </p:txBody>
      </p:sp>
      <p:sp>
        <p:nvSpPr>
          <p:cNvPr id="29" name="Text 27"/>
          <p:cNvSpPr txBox="1"/>
          <p:nvPr/>
        </p:nvSpPr>
        <p:spPr>
          <a:xfrm>
            <a:off x="4937760" y="23545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&lt; 85</a:t>
            </a:r>
            <a:endParaRPr lang="en-US" sz="1400" dirty="0"/>
          </a:p>
        </p:txBody>
      </p:sp>
      <p:sp>
        <p:nvSpPr>
          <p:cNvPr id="30" name="Shape 28"/>
          <p:cNvSpPr/>
          <p:nvPr/>
        </p:nvSpPr>
        <p:spPr>
          <a:xfrm>
            <a:off x="548640" y="2697480"/>
            <a:ext cx="1463040" cy="342900"/>
          </a:xfrm>
          <a:prstGeom prst="rect">
            <a:avLst/>
          </a:prstGeom>
          <a:solidFill>
            <a:srgbClr val="FFFFFF"/>
          </a:solidFill>
          <a:ln w="6350">
            <a:solidFill>
              <a:srgbClr val="D7DEE7"/>
            </a:solidFill>
            <a:prstDash val="solid"/>
          </a:ln>
        </p:spPr>
        <p:txBody>
          <a:bodyPr/>
          <a:lstStyle/>
          <a:p>
            <a:endParaRPr lang="en-US" sz="1400"/>
          </a:p>
        </p:txBody>
      </p:sp>
      <p:sp>
        <p:nvSpPr>
          <p:cNvPr id="31" name="Text 29"/>
          <p:cNvSpPr txBox="1"/>
          <p:nvPr/>
        </p:nvSpPr>
        <p:spPr>
          <a:xfrm>
            <a:off x="548640" y="2697480"/>
            <a:ext cx="1463040" cy="3429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B+</a:t>
            </a:r>
            <a:endParaRPr lang="en-US" sz="1400" dirty="0"/>
          </a:p>
        </p:txBody>
      </p:sp>
      <p:sp>
        <p:nvSpPr>
          <p:cNvPr id="32" name="Shape 30"/>
          <p:cNvSpPr/>
          <p:nvPr/>
        </p:nvSpPr>
        <p:spPr>
          <a:xfrm>
            <a:off x="2011680" y="2697480"/>
            <a:ext cx="1463040" cy="342900"/>
          </a:xfrm>
          <a:prstGeom prst="rect">
            <a:avLst/>
          </a:prstGeom>
          <a:solidFill>
            <a:srgbClr val="FFFFFF"/>
          </a:solidFill>
          <a:ln w="6350">
            <a:solidFill>
              <a:srgbClr val="D7DEE7"/>
            </a:solidFill>
            <a:prstDash val="solid"/>
          </a:ln>
        </p:spPr>
        <p:txBody>
          <a:bodyPr/>
          <a:lstStyle/>
          <a:p>
            <a:endParaRPr lang="en-US"/>
          </a:p>
        </p:txBody>
      </p:sp>
      <p:sp>
        <p:nvSpPr>
          <p:cNvPr id="33" name="Text 31"/>
          <p:cNvSpPr txBox="1"/>
          <p:nvPr/>
        </p:nvSpPr>
        <p:spPr>
          <a:xfrm>
            <a:off x="2011680" y="26974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3.33</a:t>
            </a:r>
            <a:endParaRPr lang="en-US" sz="1400" dirty="0"/>
          </a:p>
        </p:txBody>
      </p:sp>
      <p:sp>
        <p:nvSpPr>
          <p:cNvPr id="34" name="Shape 32"/>
          <p:cNvSpPr/>
          <p:nvPr/>
        </p:nvSpPr>
        <p:spPr>
          <a:xfrm>
            <a:off x="3474720" y="2697480"/>
            <a:ext cx="1463040" cy="342900"/>
          </a:xfrm>
          <a:prstGeom prst="rect">
            <a:avLst/>
          </a:prstGeom>
          <a:solidFill>
            <a:srgbClr val="FFFFFF"/>
          </a:solidFill>
          <a:ln w="6350">
            <a:solidFill>
              <a:srgbClr val="D7DEE7"/>
            </a:solidFill>
            <a:prstDash val="solid"/>
          </a:ln>
        </p:spPr>
        <p:txBody>
          <a:bodyPr/>
          <a:lstStyle/>
          <a:p>
            <a:endParaRPr lang="en-US"/>
          </a:p>
        </p:txBody>
      </p:sp>
      <p:sp>
        <p:nvSpPr>
          <p:cNvPr id="35" name="Text 33"/>
          <p:cNvSpPr txBox="1"/>
          <p:nvPr/>
        </p:nvSpPr>
        <p:spPr>
          <a:xfrm>
            <a:off x="3474720" y="2697480"/>
            <a:ext cx="1463040" cy="342900"/>
          </a:xfrm>
          <a:prstGeom prst="rect">
            <a:avLst/>
          </a:prstGeom>
          <a:noFill/>
          <a:ln/>
        </p:spPr>
        <p:txBody>
          <a:bodyPr wrap="square" lIns="0" tIns="0" rIns="0" bIns="0" rtlCol="0" anchor="ctr"/>
          <a:lstStyle/>
          <a:p>
            <a:pPr marL="0" indent="0" algn="ctr">
              <a:buNone/>
            </a:pPr>
            <a:r>
              <a:rPr lang="en-US" sz="1250" dirty="0">
                <a:solidFill>
                  <a:srgbClr val="17223B"/>
                </a:solidFill>
                <a:latin typeface="Calibri" pitchFamily="34" charset="0"/>
                <a:ea typeface="Calibri" pitchFamily="34" charset="-122"/>
                <a:cs typeface="Calibri" pitchFamily="34" charset="-120"/>
              </a:rPr>
              <a:t>≥ 75</a:t>
            </a:r>
            <a:endParaRPr lang="en-US" sz="1250" dirty="0"/>
          </a:p>
        </p:txBody>
      </p:sp>
      <p:sp>
        <p:nvSpPr>
          <p:cNvPr id="36" name="Shape 34"/>
          <p:cNvSpPr/>
          <p:nvPr/>
        </p:nvSpPr>
        <p:spPr>
          <a:xfrm>
            <a:off x="4937760" y="2697480"/>
            <a:ext cx="1463040" cy="342900"/>
          </a:xfrm>
          <a:prstGeom prst="rect">
            <a:avLst/>
          </a:prstGeom>
          <a:solidFill>
            <a:srgbClr val="FFFFFF"/>
          </a:solidFill>
          <a:ln w="6350">
            <a:solidFill>
              <a:srgbClr val="D7DEE7"/>
            </a:solidFill>
            <a:prstDash val="solid"/>
          </a:ln>
        </p:spPr>
        <p:txBody>
          <a:bodyPr/>
          <a:lstStyle/>
          <a:p>
            <a:endParaRPr lang="en-US"/>
          </a:p>
        </p:txBody>
      </p:sp>
      <p:sp>
        <p:nvSpPr>
          <p:cNvPr id="37" name="Text 35"/>
          <p:cNvSpPr txBox="1"/>
          <p:nvPr/>
        </p:nvSpPr>
        <p:spPr>
          <a:xfrm>
            <a:off x="4937760" y="2697480"/>
            <a:ext cx="1463040" cy="342900"/>
          </a:xfrm>
          <a:prstGeom prst="rect">
            <a:avLst/>
          </a:prstGeom>
          <a:noFill/>
          <a:ln/>
        </p:spPr>
        <p:txBody>
          <a:bodyPr wrap="square" lIns="0" tIns="0" rIns="0" bIns="0" rtlCol="0" anchor="ctr"/>
          <a:lstStyle/>
          <a:p>
            <a:pPr marL="0" indent="0" algn="ctr">
              <a:buNone/>
            </a:pPr>
            <a:r>
              <a:rPr lang="en-US" sz="1250" dirty="0">
                <a:solidFill>
                  <a:srgbClr val="17223B"/>
                </a:solidFill>
                <a:latin typeface="Calibri" pitchFamily="34" charset="0"/>
                <a:ea typeface="Calibri" pitchFamily="34" charset="-122"/>
                <a:cs typeface="Calibri" pitchFamily="34" charset="-120"/>
              </a:rPr>
              <a:t>&lt; 80</a:t>
            </a:r>
            <a:endParaRPr lang="en-US" sz="1250" dirty="0"/>
          </a:p>
        </p:txBody>
      </p:sp>
      <p:sp>
        <p:nvSpPr>
          <p:cNvPr id="38" name="Shape 36"/>
          <p:cNvSpPr/>
          <p:nvPr/>
        </p:nvSpPr>
        <p:spPr>
          <a:xfrm>
            <a:off x="548640" y="3040380"/>
            <a:ext cx="1463040" cy="342900"/>
          </a:xfrm>
          <a:prstGeom prst="rect">
            <a:avLst/>
          </a:prstGeom>
          <a:solidFill>
            <a:srgbClr val="E9EEF4"/>
          </a:solidFill>
          <a:ln w="6350">
            <a:solidFill>
              <a:srgbClr val="D7DEE7"/>
            </a:solidFill>
            <a:prstDash val="solid"/>
          </a:ln>
        </p:spPr>
        <p:txBody>
          <a:bodyPr/>
          <a:lstStyle/>
          <a:p>
            <a:endParaRPr lang="en-US" sz="1400"/>
          </a:p>
        </p:txBody>
      </p:sp>
      <p:sp>
        <p:nvSpPr>
          <p:cNvPr id="39" name="Text 37"/>
          <p:cNvSpPr txBox="1"/>
          <p:nvPr/>
        </p:nvSpPr>
        <p:spPr>
          <a:xfrm>
            <a:off x="548640" y="3040380"/>
            <a:ext cx="1463040" cy="3429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B</a:t>
            </a:r>
            <a:endParaRPr lang="en-US" sz="1400" dirty="0"/>
          </a:p>
        </p:txBody>
      </p:sp>
      <p:sp>
        <p:nvSpPr>
          <p:cNvPr id="40" name="Shape 38"/>
          <p:cNvSpPr/>
          <p:nvPr/>
        </p:nvSpPr>
        <p:spPr>
          <a:xfrm>
            <a:off x="2011680" y="3040380"/>
            <a:ext cx="1463040" cy="342900"/>
          </a:xfrm>
          <a:prstGeom prst="rect">
            <a:avLst/>
          </a:prstGeom>
          <a:solidFill>
            <a:srgbClr val="E9EEF4"/>
          </a:solidFill>
          <a:ln w="6350">
            <a:solidFill>
              <a:srgbClr val="D7DEE7"/>
            </a:solidFill>
            <a:prstDash val="solid"/>
          </a:ln>
        </p:spPr>
        <p:txBody>
          <a:bodyPr/>
          <a:lstStyle/>
          <a:p>
            <a:endParaRPr lang="en-US"/>
          </a:p>
        </p:txBody>
      </p:sp>
      <p:sp>
        <p:nvSpPr>
          <p:cNvPr id="41" name="Text 39"/>
          <p:cNvSpPr txBox="1"/>
          <p:nvPr/>
        </p:nvSpPr>
        <p:spPr>
          <a:xfrm>
            <a:off x="2011680" y="30403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3.00</a:t>
            </a:r>
            <a:endParaRPr lang="en-US" sz="1400" dirty="0"/>
          </a:p>
        </p:txBody>
      </p:sp>
      <p:sp>
        <p:nvSpPr>
          <p:cNvPr id="42" name="Shape 40"/>
          <p:cNvSpPr/>
          <p:nvPr/>
        </p:nvSpPr>
        <p:spPr>
          <a:xfrm>
            <a:off x="3474720" y="3040380"/>
            <a:ext cx="1463040" cy="342900"/>
          </a:xfrm>
          <a:prstGeom prst="rect">
            <a:avLst/>
          </a:prstGeom>
          <a:solidFill>
            <a:srgbClr val="E9EEF4"/>
          </a:solidFill>
          <a:ln w="6350">
            <a:solidFill>
              <a:srgbClr val="D7DEE7"/>
            </a:solidFill>
            <a:prstDash val="solid"/>
          </a:ln>
        </p:spPr>
        <p:txBody>
          <a:bodyPr/>
          <a:lstStyle/>
          <a:p>
            <a:endParaRPr lang="en-US" sz="1400"/>
          </a:p>
        </p:txBody>
      </p:sp>
      <p:sp>
        <p:nvSpPr>
          <p:cNvPr id="43" name="Text 41"/>
          <p:cNvSpPr txBox="1"/>
          <p:nvPr/>
        </p:nvSpPr>
        <p:spPr>
          <a:xfrm>
            <a:off x="3474720" y="30403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 71</a:t>
            </a:r>
            <a:endParaRPr lang="en-US" sz="1400" dirty="0"/>
          </a:p>
        </p:txBody>
      </p:sp>
      <p:sp>
        <p:nvSpPr>
          <p:cNvPr id="44" name="Shape 42"/>
          <p:cNvSpPr/>
          <p:nvPr/>
        </p:nvSpPr>
        <p:spPr>
          <a:xfrm>
            <a:off x="4937760" y="3040380"/>
            <a:ext cx="1463040" cy="342900"/>
          </a:xfrm>
          <a:prstGeom prst="rect">
            <a:avLst/>
          </a:prstGeom>
          <a:solidFill>
            <a:srgbClr val="E9EEF4"/>
          </a:solidFill>
          <a:ln w="6350">
            <a:solidFill>
              <a:srgbClr val="D7DEE7"/>
            </a:solidFill>
            <a:prstDash val="solid"/>
          </a:ln>
        </p:spPr>
        <p:txBody>
          <a:bodyPr/>
          <a:lstStyle/>
          <a:p>
            <a:endParaRPr lang="en-US" sz="1400"/>
          </a:p>
        </p:txBody>
      </p:sp>
      <p:sp>
        <p:nvSpPr>
          <p:cNvPr id="45" name="Text 43"/>
          <p:cNvSpPr txBox="1"/>
          <p:nvPr/>
        </p:nvSpPr>
        <p:spPr>
          <a:xfrm>
            <a:off x="4937760" y="30403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&lt; 75</a:t>
            </a:r>
            <a:endParaRPr lang="en-US" sz="1400" dirty="0"/>
          </a:p>
        </p:txBody>
      </p:sp>
      <p:sp>
        <p:nvSpPr>
          <p:cNvPr id="46" name="Shape 44"/>
          <p:cNvSpPr/>
          <p:nvPr/>
        </p:nvSpPr>
        <p:spPr>
          <a:xfrm>
            <a:off x="548640" y="3383280"/>
            <a:ext cx="1463040" cy="342900"/>
          </a:xfrm>
          <a:prstGeom prst="rect">
            <a:avLst/>
          </a:prstGeom>
          <a:solidFill>
            <a:srgbClr val="FFFFFF"/>
          </a:solidFill>
          <a:ln w="6350">
            <a:solidFill>
              <a:srgbClr val="D7DEE7"/>
            </a:solidFill>
            <a:prstDash val="solid"/>
          </a:ln>
        </p:spPr>
        <p:txBody>
          <a:bodyPr/>
          <a:lstStyle/>
          <a:p>
            <a:endParaRPr lang="en-US" sz="1400"/>
          </a:p>
        </p:txBody>
      </p:sp>
      <p:sp>
        <p:nvSpPr>
          <p:cNvPr id="47" name="Text 45"/>
          <p:cNvSpPr txBox="1"/>
          <p:nvPr/>
        </p:nvSpPr>
        <p:spPr>
          <a:xfrm>
            <a:off x="548640" y="3383280"/>
            <a:ext cx="1463040" cy="3429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B-</a:t>
            </a:r>
            <a:endParaRPr lang="en-US" sz="1400" dirty="0"/>
          </a:p>
        </p:txBody>
      </p:sp>
      <p:sp>
        <p:nvSpPr>
          <p:cNvPr id="48" name="Shape 46"/>
          <p:cNvSpPr/>
          <p:nvPr/>
        </p:nvSpPr>
        <p:spPr>
          <a:xfrm>
            <a:off x="2011680" y="3383280"/>
            <a:ext cx="1463040" cy="342900"/>
          </a:xfrm>
          <a:prstGeom prst="rect">
            <a:avLst/>
          </a:prstGeom>
          <a:solidFill>
            <a:srgbClr val="FFFFFF"/>
          </a:solidFill>
          <a:ln w="6350">
            <a:solidFill>
              <a:srgbClr val="D7DEE7"/>
            </a:solidFill>
            <a:prstDash val="solid"/>
          </a:ln>
        </p:spPr>
        <p:txBody>
          <a:bodyPr/>
          <a:lstStyle/>
          <a:p>
            <a:endParaRPr lang="en-US"/>
          </a:p>
        </p:txBody>
      </p:sp>
      <p:sp>
        <p:nvSpPr>
          <p:cNvPr id="49" name="Text 47"/>
          <p:cNvSpPr txBox="1"/>
          <p:nvPr/>
        </p:nvSpPr>
        <p:spPr>
          <a:xfrm>
            <a:off x="2011680" y="33832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2.67</a:t>
            </a:r>
            <a:endParaRPr lang="en-US" sz="1400" dirty="0"/>
          </a:p>
        </p:txBody>
      </p:sp>
      <p:sp>
        <p:nvSpPr>
          <p:cNvPr id="50" name="Shape 48"/>
          <p:cNvSpPr/>
          <p:nvPr/>
        </p:nvSpPr>
        <p:spPr>
          <a:xfrm>
            <a:off x="3474720" y="3383280"/>
            <a:ext cx="1463040" cy="342900"/>
          </a:xfrm>
          <a:prstGeom prst="rect">
            <a:avLst/>
          </a:prstGeom>
          <a:solidFill>
            <a:srgbClr val="FFFFFF"/>
          </a:solidFill>
          <a:ln w="6350">
            <a:solidFill>
              <a:srgbClr val="D7DEE7"/>
            </a:solidFill>
            <a:prstDash val="solid"/>
          </a:ln>
        </p:spPr>
        <p:txBody>
          <a:bodyPr/>
          <a:lstStyle/>
          <a:p>
            <a:endParaRPr lang="en-US" sz="1400"/>
          </a:p>
        </p:txBody>
      </p:sp>
      <p:sp>
        <p:nvSpPr>
          <p:cNvPr id="51" name="Text 49"/>
          <p:cNvSpPr txBox="1"/>
          <p:nvPr/>
        </p:nvSpPr>
        <p:spPr>
          <a:xfrm>
            <a:off x="3474720" y="33832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 68</a:t>
            </a:r>
            <a:endParaRPr lang="en-US" sz="1400" dirty="0"/>
          </a:p>
        </p:txBody>
      </p:sp>
      <p:sp>
        <p:nvSpPr>
          <p:cNvPr id="52" name="Shape 50"/>
          <p:cNvSpPr/>
          <p:nvPr/>
        </p:nvSpPr>
        <p:spPr>
          <a:xfrm>
            <a:off x="4937760" y="3383280"/>
            <a:ext cx="1463040" cy="342900"/>
          </a:xfrm>
          <a:prstGeom prst="rect">
            <a:avLst/>
          </a:prstGeom>
          <a:solidFill>
            <a:srgbClr val="FFFFFF"/>
          </a:solidFill>
          <a:ln w="6350">
            <a:solidFill>
              <a:srgbClr val="D7DEE7"/>
            </a:solidFill>
            <a:prstDash val="solid"/>
          </a:ln>
        </p:spPr>
        <p:txBody>
          <a:bodyPr/>
          <a:lstStyle/>
          <a:p>
            <a:endParaRPr lang="en-US" sz="1400"/>
          </a:p>
        </p:txBody>
      </p:sp>
      <p:sp>
        <p:nvSpPr>
          <p:cNvPr id="53" name="Text 51"/>
          <p:cNvSpPr txBox="1"/>
          <p:nvPr/>
        </p:nvSpPr>
        <p:spPr>
          <a:xfrm>
            <a:off x="4937760" y="33832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&lt; 71</a:t>
            </a:r>
            <a:endParaRPr lang="en-US" sz="1400" dirty="0"/>
          </a:p>
        </p:txBody>
      </p:sp>
      <p:sp>
        <p:nvSpPr>
          <p:cNvPr id="54" name="Shape 52"/>
          <p:cNvSpPr/>
          <p:nvPr/>
        </p:nvSpPr>
        <p:spPr>
          <a:xfrm>
            <a:off x="548640" y="3726180"/>
            <a:ext cx="1463040" cy="342900"/>
          </a:xfrm>
          <a:prstGeom prst="rect">
            <a:avLst/>
          </a:prstGeom>
          <a:solidFill>
            <a:srgbClr val="E9EEF4"/>
          </a:solidFill>
          <a:ln w="6350">
            <a:solidFill>
              <a:srgbClr val="D7DEE7"/>
            </a:solidFill>
            <a:prstDash val="solid"/>
          </a:ln>
        </p:spPr>
        <p:txBody>
          <a:bodyPr/>
          <a:lstStyle/>
          <a:p>
            <a:endParaRPr lang="en-US" sz="1400"/>
          </a:p>
        </p:txBody>
      </p:sp>
      <p:sp>
        <p:nvSpPr>
          <p:cNvPr id="55" name="Text 53"/>
          <p:cNvSpPr txBox="1"/>
          <p:nvPr/>
        </p:nvSpPr>
        <p:spPr>
          <a:xfrm>
            <a:off x="548640" y="3726180"/>
            <a:ext cx="1463040" cy="3429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C+</a:t>
            </a:r>
            <a:endParaRPr lang="en-US" sz="1400" dirty="0"/>
          </a:p>
        </p:txBody>
      </p:sp>
      <p:sp>
        <p:nvSpPr>
          <p:cNvPr id="56" name="Shape 54"/>
          <p:cNvSpPr/>
          <p:nvPr/>
        </p:nvSpPr>
        <p:spPr>
          <a:xfrm>
            <a:off x="2011680" y="3726180"/>
            <a:ext cx="1463040" cy="342900"/>
          </a:xfrm>
          <a:prstGeom prst="rect">
            <a:avLst/>
          </a:prstGeom>
          <a:solidFill>
            <a:srgbClr val="E9EEF4"/>
          </a:solidFill>
          <a:ln w="6350">
            <a:solidFill>
              <a:srgbClr val="D7DEE7"/>
            </a:solidFill>
            <a:prstDash val="solid"/>
          </a:ln>
        </p:spPr>
        <p:txBody>
          <a:bodyPr/>
          <a:lstStyle/>
          <a:p>
            <a:endParaRPr lang="en-US"/>
          </a:p>
        </p:txBody>
      </p:sp>
      <p:sp>
        <p:nvSpPr>
          <p:cNvPr id="57" name="Text 55"/>
          <p:cNvSpPr txBox="1"/>
          <p:nvPr/>
        </p:nvSpPr>
        <p:spPr>
          <a:xfrm>
            <a:off x="2011680" y="37261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2.33</a:t>
            </a:r>
            <a:endParaRPr lang="en-US" sz="1400" dirty="0"/>
          </a:p>
        </p:txBody>
      </p:sp>
      <p:sp>
        <p:nvSpPr>
          <p:cNvPr id="58" name="Shape 56"/>
          <p:cNvSpPr/>
          <p:nvPr/>
        </p:nvSpPr>
        <p:spPr>
          <a:xfrm>
            <a:off x="3474720" y="3726180"/>
            <a:ext cx="1463040" cy="342900"/>
          </a:xfrm>
          <a:prstGeom prst="rect">
            <a:avLst/>
          </a:prstGeom>
          <a:solidFill>
            <a:srgbClr val="E9EEF4"/>
          </a:solidFill>
          <a:ln w="6350">
            <a:solidFill>
              <a:srgbClr val="D7DEE7"/>
            </a:solidFill>
            <a:prstDash val="solid"/>
          </a:ln>
        </p:spPr>
        <p:txBody>
          <a:bodyPr/>
          <a:lstStyle/>
          <a:p>
            <a:endParaRPr lang="en-US" sz="1400"/>
          </a:p>
        </p:txBody>
      </p:sp>
      <p:sp>
        <p:nvSpPr>
          <p:cNvPr id="59" name="Text 57"/>
          <p:cNvSpPr txBox="1"/>
          <p:nvPr/>
        </p:nvSpPr>
        <p:spPr>
          <a:xfrm>
            <a:off x="3474720" y="37261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 64</a:t>
            </a:r>
            <a:endParaRPr lang="en-US" sz="1400" dirty="0"/>
          </a:p>
        </p:txBody>
      </p:sp>
      <p:sp>
        <p:nvSpPr>
          <p:cNvPr id="60" name="Shape 58"/>
          <p:cNvSpPr/>
          <p:nvPr/>
        </p:nvSpPr>
        <p:spPr>
          <a:xfrm>
            <a:off x="4937760" y="3726180"/>
            <a:ext cx="1463040" cy="342900"/>
          </a:xfrm>
          <a:prstGeom prst="rect">
            <a:avLst/>
          </a:prstGeom>
          <a:solidFill>
            <a:srgbClr val="E9EEF4"/>
          </a:solidFill>
          <a:ln w="6350">
            <a:solidFill>
              <a:srgbClr val="D7DEE7"/>
            </a:solidFill>
            <a:prstDash val="solid"/>
          </a:ln>
        </p:spPr>
        <p:txBody>
          <a:bodyPr/>
          <a:lstStyle/>
          <a:p>
            <a:endParaRPr lang="en-US" sz="1400"/>
          </a:p>
        </p:txBody>
      </p:sp>
      <p:sp>
        <p:nvSpPr>
          <p:cNvPr id="61" name="Text 59"/>
          <p:cNvSpPr txBox="1"/>
          <p:nvPr/>
        </p:nvSpPr>
        <p:spPr>
          <a:xfrm>
            <a:off x="4937760" y="37261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&lt; 68</a:t>
            </a:r>
            <a:endParaRPr lang="en-US" sz="1400" dirty="0"/>
          </a:p>
        </p:txBody>
      </p:sp>
      <p:sp>
        <p:nvSpPr>
          <p:cNvPr id="62" name="Shape 60"/>
          <p:cNvSpPr/>
          <p:nvPr/>
        </p:nvSpPr>
        <p:spPr>
          <a:xfrm>
            <a:off x="548640" y="4069080"/>
            <a:ext cx="1463040" cy="342900"/>
          </a:xfrm>
          <a:prstGeom prst="rect">
            <a:avLst/>
          </a:prstGeom>
          <a:solidFill>
            <a:srgbClr val="FFFFFF"/>
          </a:solidFill>
          <a:ln w="6350">
            <a:solidFill>
              <a:srgbClr val="D7DEE7"/>
            </a:solidFill>
            <a:prstDash val="solid"/>
          </a:ln>
        </p:spPr>
        <p:txBody>
          <a:bodyPr/>
          <a:lstStyle/>
          <a:p>
            <a:endParaRPr lang="en-US" sz="1400"/>
          </a:p>
        </p:txBody>
      </p:sp>
      <p:sp>
        <p:nvSpPr>
          <p:cNvPr id="63" name="Text 61"/>
          <p:cNvSpPr txBox="1"/>
          <p:nvPr/>
        </p:nvSpPr>
        <p:spPr>
          <a:xfrm>
            <a:off x="548640" y="4069080"/>
            <a:ext cx="1463040" cy="3429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C</a:t>
            </a:r>
            <a:endParaRPr lang="en-US" sz="1400" dirty="0"/>
          </a:p>
        </p:txBody>
      </p:sp>
      <p:sp>
        <p:nvSpPr>
          <p:cNvPr id="64" name="Shape 62"/>
          <p:cNvSpPr/>
          <p:nvPr/>
        </p:nvSpPr>
        <p:spPr>
          <a:xfrm>
            <a:off x="2011680" y="4069080"/>
            <a:ext cx="1463040" cy="342900"/>
          </a:xfrm>
          <a:prstGeom prst="rect">
            <a:avLst/>
          </a:prstGeom>
          <a:solidFill>
            <a:srgbClr val="FFFFFF"/>
          </a:solidFill>
          <a:ln w="6350">
            <a:solidFill>
              <a:srgbClr val="D7DEE7"/>
            </a:solidFill>
            <a:prstDash val="solid"/>
          </a:ln>
        </p:spPr>
        <p:txBody>
          <a:bodyPr/>
          <a:lstStyle/>
          <a:p>
            <a:endParaRPr lang="en-US"/>
          </a:p>
        </p:txBody>
      </p:sp>
      <p:sp>
        <p:nvSpPr>
          <p:cNvPr id="65" name="Text 63"/>
          <p:cNvSpPr txBox="1"/>
          <p:nvPr/>
        </p:nvSpPr>
        <p:spPr>
          <a:xfrm>
            <a:off x="2011680" y="40690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2.00</a:t>
            </a:r>
            <a:endParaRPr lang="en-US" sz="1400" dirty="0"/>
          </a:p>
        </p:txBody>
      </p:sp>
      <p:sp>
        <p:nvSpPr>
          <p:cNvPr id="66" name="Shape 64"/>
          <p:cNvSpPr/>
          <p:nvPr/>
        </p:nvSpPr>
        <p:spPr>
          <a:xfrm>
            <a:off x="3474720" y="4069080"/>
            <a:ext cx="1463040" cy="342900"/>
          </a:xfrm>
          <a:prstGeom prst="rect">
            <a:avLst/>
          </a:prstGeom>
          <a:solidFill>
            <a:srgbClr val="FFFFFF"/>
          </a:solidFill>
          <a:ln w="6350">
            <a:solidFill>
              <a:srgbClr val="D7DEE7"/>
            </a:solidFill>
            <a:prstDash val="solid"/>
          </a:ln>
        </p:spPr>
        <p:txBody>
          <a:bodyPr/>
          <a:lstStyle/>
          <a:p>
            <a:endParaRPr lang="en-US" sz="1400"/>
          </a:p>
        </p:txBody>
      </p:sp>
      <p:sp>
        <p:nvSpPr>
          <p:cNvPr id="67" name="Text 65"/>
          <p:cNvSpPr txBox="1"/>
          <p:nvPr/>
        </p:nvSpPr>
        <p:spPr>
          <a:xfrm>
            <a:off x="3474720" y="40690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 60</a:t>
            </a:r>
            <a:endParaRPr lang="en-US" sz="1400" dirty="0"/>
          </a:p>
        </p:txBody>
      </p:sp>
      <p:sp>
        <p:nvSpPr>
          <p:cNvPr id="68" name="Shape 66"/>
          <p:cNvSpPr/>
          <p:nvPr/>
        </p:nvSpPr>
        <p:spPr>
          <a:xfrm>
            <a:off x="4937760" y="4069080"/>
            <a:ext cx="1463040" cy="342900"/>
          </a:xfrm>
          <a:prstGeom prst="rect">
            <a:avLst/>
          </a:prstGeom>
          <a:solidFill>
            <a:srgbClr val="FFFFFF"/>
          </a:solidFill>
          <a:ln w="6350">
            <a:solidFill>
              <a:srgbClr val="D7DEE7"/>
            </a:solidFill>
            <a:prstDash val="solid"/>
          </a:ln>
        </p:spPr>
        <p:txBody>
          <a:bodyPr/>
          <a:lstStyle/>
          <a:p>
            <a:endParaRPr lang="en-US" sz="1400"/>
          </a:p>
        </p:txBody>
      </p:sp>
      <p:sp>
        <p:nvSpPr>
          <p:cNvPr id="69" name="Text 67"/>
          <p:cNvSpPr txBox="1"/>
          <p:nvPr/>
        </p:nvSpPr>
        <p:spPr>
          <a:xfrm>
            <a:off x="4937760" y="40690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&lt; 64</a:t>
            </a:r>
            <a:endParaRPr lang="en-US" sz="1400" dirty="0"/>
          </a:p>
        </p:txBody>
      </p:sp>
      <p:sp>
        <p:nvSpPr>
          <p:cNvPr id="70" name="Shape 68"/>
          <p:cNvSpPr/>
          <p:nvPr/>
        </p:nvSpPr>
        <p:spPr>
          <a:xfrm>
            <a:off x="548640" y="4411980"/>
            <a:ext cx="1463040" cy="342900"/>
          </a:xfrm>
          <a:prstGeom prst="rect">
            <a:avLst/>
          </a:prstGeom>
          <a:solidFill>
            <a:srgbClr val="E9EEF4"/>
          </a:solidFill>
          <a:ln w="6350">
            <a:solidFill>
              <a:srgbClr val="D7DEE7"/>
            </a:solidFill>
            <a:prstDash val="solid"/>
          </a:ln>
        </p:spPr>
        <p:txBody>
          <a:bodyPr/>
          <a:lstStyle/>
          <a:p>
            <a:endParaRPr lang="en-US" sz="1400"/>
          </a:p>
        </p:txBody>
      </p:sp>
      <p:sp>
        <p:nvSpPr>
          <p:cNvPr id="71" name="Text 69"/>
          <p:cNvSpPr txBox="1"/>
          <p:nvPr/>
        </p:nvSpPr>
        <p:spPr>
          <a:xfrm>
            <a:off x="548640" y="4411980"/>
            <a:ext cx="1463040" cy="3429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C-</a:t>
            </a:r>
            <a:endParaRPr lang="en-US" sz="1400" dirty="0"/>
          </a:p>
        </p:txBody>
      </p:sp>
      <p:sp>
        <p:nvSpPr>
          <p:cNvPr id="72" name="Shape 70"/>
          <p:cNvSpPr/>
          <p:nvPr/>
        </p:nvSpPr>
        <p:spPr>
          <a:xfrm>
            <a:off x="2011680" y="4411980"/>
            <a:ext cx="1463040" cy="342900"/>
          </a:xfrm>
          <a:prstGeom prst="rect">
            <a:avLst/>
          </a:prstGeom>
          <a:solidFill>
            <a:srgbClr val="E9EEF4"/>
          </a:solidFill>
          <a:ln w="6350">
            <a:solidFill>
              <a:srgbClr val="D7DEE7"/>
            </a:solidFill>
            <a:prstDash val="solid"/>
          </a:ln>
        </p:spPr>
        <p:txBody>
          <a:bodyPr/>
          <a:lstStyle/>
          <a:p>
            <a:endParaRPr lang="en-US"/>
          </a:p>
        </p:txBody>
      </p:sp>
      <p:sp>
        <p:nvSpPr>
          <p:cNvPr id="73" name="Text 71"/>
          <p:cNvSpPr txBox="1"/>
          <p:nvPr/>
        </p:nvSpPr>
        <p:spPr>
          <a:xfrm>
            <a:off x="2011680" y="44119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1.67</a:t>
            </a:r>
            <a:endParaRPr lang="en-US" sz="1400" dirty="0"/>
          </a:p>
        </p:txBody>
      </p:sp>
      <p:sp>
        <p:nvSpPr>
          <p:cNvPr id="74" name="Shape 72"/>
          <p:cNvSpPr/>
          <p:nvPr/>
        </p:nvSpPr>
        <p:spPr>
          <a:xfrm>
            <a:off x="3474720" y="4411980"/>
            <a:ext cx="1463040" cy="342900"/>
          </a:xfrm>
          <a:prstGeom prst="rect">
            <a:avLst/>
          </a:prstGeom>
          <a:solidFill>
            <a:srgbClr val="E9EEF4"/>
          </a:solidFill>
          <a:ln w="6350">
            <a:solidFill>
              <a:srgbClr val="D7DEE7"/>
            </a:solidFill>
            <a:prstDash val="solid"/>
          </a:ln>
        </p:spPr>
        <p:txBody>
          <a:bodyPr/>
          <a:lstStyle/>
          <a:p>
            <a:endParaRPr lang="en-US" sz="1400"/>
          </a:p>
        </p:txBody>
      </p:sp>
      <p:sp>
        <p:nvSpPr>
          <p:cNvPr id="75" name="Text 73"/>
          <p:cNvSpPr txBox="1"/>
          <p:nvPr/>
        </p:nvSpPr>
        <p:spPr>
          <a:xfrm>
            <a:off x="3474720" y="44119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 57</a:t>
            </a:r>
            <a:endParaRPr lang="en-US" sz="1400" dirty="0"/>
          </a:p>
        </p:txBody>
      </p:sp>
      <p:sp>
        <p:nvSpPr>
          <p:cNvPr id="76" name="Shape 74"/>
          <p:cNvSpPr/>
          <p:nvPr/>
        </p:nvSpPr>
        <p:spPr>
          <a:xfrm>
            <a:off x="4937760" y="4411980"/>
            <a:ext cx="1463040" cy="342900"/>
          </a:xfrm>
          <a:prstGeom prst="rect">
            <a:avLst/>
          </a:prstGeom>
          <a:solidFill>
            <a:srgbClr val="E9EEF4"/>
          </a:solidFill>
          <a:ln w="6350">
            <a:solidFill>
              <a:srgbClr val="D7DEE7"/>
            </a:solidFill>
            <a:prstDash val="solid"/>
          </a:ln>
        </p:spPr>
        <p:txBody>
          <a:bodyPr/>
          <a:lstStyle/>
          <a:p>
            <a:endParaRPr lang="en-US" sz="1400"/>
          </a:p>
        </p:txBody>
      </p:sp>
      <p:sp>
        <p:nvSpPr>
          <p:cNvPr id="77" name="Text 75"/>
          <p:cNvSpPr txBox="1"/>
          <p:nvPr/>
        </p:nvSpPr>
        <p:spPr>
          <a:xfrm>
            <a:off x="4937760" y="44119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&lt; 60</a:t>
            </a:r>
            <a:endParaRPr lang="en-US" sz="1400" dirty="0"/>
          </a:p>
        </p:txBody>
      </p:sp>
      <p:sp>
        <p:nvSpPr>
          <p:cNvPr id="78" name="Shape 76"/>
          <p:cNvSpPr/>
          <p:nvPr/>
        </p:nvSpPr>
        <p:spPr>
          <a:xfrm>
            <a:off x="548640" y="4754880"/>
            <a:ext cx="1463040" cy="342900"/>
          </a:xfrm>
          <a:prstGeom prst="rect">
            <a:avLst/>
          </a:prstGeom>
          <a:solidFill>
            <a:srgbClr val="FFFFFF"/>
          </a:solidFill>
          <a:ln w="6350">
            <a:solidFill>
              <a:srgbClr val="D7DEE7"/>
            </a:solidFill>
            <a:prstDash val="solid"/>
          </a:ln>
        </p:spPr>
        <p:txBody>
          <a:bodyPr/>
          <a:lstStyle/>
          <a:p>
            <a:endParaRPr lang="en-US" sz="1400"/>
          </a:p>
        </p:txBody>
      </p:sp>
      <p:sp>
        <p:nvSpPr>
          <p:cNvPr id="79" name="Text 77"/>
          <p:cNvSpPr txBox="1"/>
          <p:nvPr/>
        </p:nvSpPr>
        <p:spPr>
          <a:xfrm>
            <a:off x="548640" y="4754880"/>
            <a:ext cx="1463040" cy="3429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D+</a:t>
            </a:r>
            <a:endParaRPr lang="en-US" sz="1400" dirty="0"/>
          </a:p>
        </p:txBody>
      </p:sp>
      <p:sp>
        <p:nvSpPr>
          <p:cNvPr id="80" name="Shape 78"/>
          <p:cNvSpPr/>
          <p:nvPr/>
        </p:nvSpPr>
        <p:spPr>
          <a:xfrm>
            <a:off x="2011680" y="4754880"/>
            <a:ext cx="1463040" cy="342900"/>
          </a:xfrm>
          <a:prstGeom prst="rect">
            <a:avLst/>
          </a:prstGeom>
          <a:solidFill>
            <a:srgbClr val="FFFFFF"/>
          </a:solidFill>
          <a:ln w="6350">
            <a:solidFill>
              <a:srgbClr val="D7DEE7"/>
            </a:solidFill>
            <a:prstDash val="solid"/>
          </a:ln>
        </p:spPr>
        <p:txBody>
          <a:bodyPr/>
          <a:lstStyle/>
          <a:p>
            <a:endParaRPr lang="en-US"/>
          </a:p>
        </p:txBody>
      </p:sp>
      <p:sp>
        <p:nvSpPr>
          <p:cNvPr id="81" name="Text 79"/>
          <p:cNvSpPr txBox="1"/>
          <p:nvPr/>
        </p:nvSpPr>
        <p:spPr>
          <a:xfrm>
            <a:off x="2011680" y="47548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1.33</a:t>
            </a:r>
            <a:endParaRPr lang="en-US" sz="1400" dirty="0"/>
          </a:p>
        </p:txBody>
      </p:sp>
      <p:sp>
        <p:nvSpPr>
          <p:cNvPr id="82" name="Shape 80"/>
          <p:cNvSpPr/>
          <p:nvPr/>
        </p:nvSpPr>
        <p:spPr>
          <a:xfrm>
            <a:off x="3474720" y="4754880"/>
            <a:ext cx="1463040" cy="342900"/>
          </a:xfrm>
          <a:prstGeom prst="rect">
            <a:avLst/>
          </a:prstGeom>
          <a:solidFill>
            <a:srgbClr val="FFFFFF"/>
          </a:solidFill>
          <a:ln w="6350">
            <a:solidFill>
              <a:srgbClr val="D7DEE7"/>
            </a:solidFill>
            <a:prstDash val="solid"/>
          </a:ln>
        </p:spPr>
        <p:txBody>
          <a:bodyPr/>
          <a:lstStyle/>
          <a:p>
            <a:endParaRPr lang="en-US" sz="1400"/>
          </a:p>
        </p:txBody>
      </p:sp>
      <p:sp>
        <p:nvSpPr>
          <p:cNvPr id="83" name="Text 81"/>
          <p:cNvSpPr txBox="1"/>
          <p:nvPr/>
        </p:nvSpPr>
        <p:spPr>
          <a:xfrm>
            <a:off x="3474720" y="47548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 53</a:t>
            </a:r>
            <a:endParaRPr lang="en-US" sz="1400" dirty="0"/>
          </a:p>
        </p:txBody>
      </p:sp>
      <p:sp>
        <p:nvSpPr>
          <p:cNvPr id="84" name="Shape 82"/>
          <p:cNvSpPr/>
          <p:nvPr/>
        </p:nvSpPr>
        <p:spPr>
          <a:xfrm>
            <a:off x="4937760" y="4754880"/>
            <a:ext cx="1463040" cy="342900"/>
          </a:xfrm>
          <a:prstGeom prst="rect">
            <a:avLst/>
          </a:prstGeom>
          <a:solidFill>
            <a:srgbClr val="FFFFFF"/>
          </a:solidFill>
          <a:ln w="6350">
            <a:solidFill>
              <a:srgbClr val="D7DEE7"/>
            </a:solidFill>
            <a:prstDash val="solid"/>
          </a:ln>
        </p:spPr>
        <p:txBody>
          <a:bodyPr/>
          <a:lstStyle/>
          <a:p>
            <a:endParaRPr lang="en-US" sz="1400"/>
          </a:p>
        </p:txBody>
      </p:sp>
      <p:sp>
        <p:nvSpPr>
          <p:cNvPr id="85" name="Text 83"/>
          <p:cNvSpPr txBox="1"/>
          <p:nvPr/>
        </p:nvSpPr>
        <p:spPr>
          <a:xfrm>
            <a:off x="4937760" y="47548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&lt; 57</a:t>
            </a:r>
            <a:endParaRPr lang="en-US" sz="1400" dirty="0"/>
          </a:p>
        </p:txBody>
      </p:sp>
      <p:sp>
        <p:nvSpPr>
          <p:cNvPr id="86" name="Shape 84"/>
          <p:cNvSpPr/>
          <p:nvPr/>
        </p:nvSpPr>
        <p:spPr>
          <a:xfrm>
            <a:off x="548640" y="5097780"/>
            <a:ext cx="1463040" cy="342900"/>
          </a:xfrm>
          <a:prstGeom prst="rect">
            <a:avLst/>
          </a:prstGeom>
          <a:solidFill>
            <a:srgbClr val="E9EEF4"/>
          </a:solidFill>
          <a:ln w="6350">
            <a:solidFill>
              <a:srgbClr val="D7DEE7"/>
            </a:solidFill>
            <a:prstDash val="solid"/>
          </a:ln>
        </p:spPr>
        <p:txBody>
          <a:bodyPr/>
          <a:lstStyle/>
          <a:p>
            <a:endParaRPr lang="en-US" sz="1400"/>
          </a:p>
        </p:txBody>
      </p:sp>
      <p:sp>
        <p:nvSpPr>
          <p:cNvPr id="87" name="Text 85"/>
          <p:cNvSpPr txBox="1"/>
          <p:nvPr/>
        </p:nvSpPr>
        <p:spPr>
          <a:xfrm>
            <a:off x="548640" y="5097780"/>
            <a:ext cx="1463040" cy="3429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D</a:t>
            </a:r>
            <a:endParaRPr lang="en-US" sz="1400" dirty="0"/>
          </a:p>
        </p:txBody>
      </p:sp>
      <p:sp>
        <p:nvSpPr>
          <p:cNvPr id="88" name="Shape 86"/>
          <p:cNvSpPr/>
          <p:nvPr/>
        </p:nvSpPr>
        <p:spPr>
          <a:xfrm>
            <a:off x="2011680" y="5097780"/>
            <a:ext cx="1463040" cy="342900"/>
          </a:xfrm>
          <a:prstGeom prst="rect">
            <a:avLst/>
          </a:prstGeom>
          <a:solidFill>
            <a:srgbClr val="E9EEF4"/>
          </a:solidFill>
          <a:ln w="6350">
            <a:solidFill>
              <a:srgbClr val="D7DEE7"/>
            </a:solidFill>
            <a:prstDash val="solid"/>
          </a:ln>
        </p:spPr>
        <p:txBody>
          <a:bodyPr/>
          <a:lstStyle/>
          <a:p>
            <a:endParaRPr lang="en-US"/>
          </a:p>
        </p:txBody>
      </p:sp>
      <p:sp>
        <p:nvSpPr>
          <p:cNvPr id="89" name="Text 87"/>
          <p:cNvSpPr txBox="1"/>
          <p:nvPr/>
        </p:nvSpPr>
        <p:spPr>
          <a:xfrm>
            <a:off x="2011680" y="50977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1.00</a:t>
            </a:r>
            <a:endParaRPr lang="en-US" sz="1400" dirty="0"/>
          </a:p>
        </p:txBody>
      </p:sp>
      <p:sp>
        <p:nvSpPr>
          <p:cNvPr id="90" name="Shape 88"/>
          <p:cNvSpPr/>
          <p:nvPr/>
        </p:nvSpPr>
        <p:spPr>
          <a:xfrm>
            <a:off x="3474720" y="5097780"/>
            <a:ext cx="1463040" cy="342900"/>
          </a:xfrm>
          <a:prstGeom prst="rect">
            <a:avLst/>
          </a:prstGeom>
          <a:solidFill>
            <a:srgbClr val="E9EEF4"/>
          </a:solidFill>
          <a:ln w="6350">
            <a:solidFill>
              <a:srgbClr val="D7DEE7"/>
            </a:solidFill>
            <a:prstDash val="solid"/>
          </a:ln>
        </p:spPr>
        <p:txBody>
          <a:bodyPr/>
          <a:lstStyle/>
          <a:p>
            <a:endParaRPr lang="en-US"/>
          </a:p>
        </p:txBody>
      </p:sp>
      <p:sp>
        <p:nvSpPr>
          <p:cNvPr id="91" name="Text 89"/>
          <p:cNvSpPr txBox="1"/>
          <p:nvPr/>
        </p:nvSpPr>
        <p:spPr>
          <a:xfrm>
            <a:off x="3474720" y="5097780"/>
            <a:ext cx="1463040" cy="342900"/>
          </a:xfrm>
          <a:prstGeom prst="rect">
            <a:avLst/>
          </a:prstGeom>
          <a:noFill/>
          <a:ln/>
        </p:spPr>
        <p:txBody>
          <a:bodyPr wrap="square" lIns="0" tIns="0" rIns="0" bIns="0" rtlCol="0" anchor="ctr"/>
          <a:lstStyle/>
          <a:p>
            <a:pPr marL="0" indent="0" algn="ctr">
              <a:buNone/>
            </a:pPr>
            <a:r>
              <a:rPr lang="en-US" sz="1250" dirty="0">
                <a:solidFill>
                  <a:srgbClr val="17223B"/>
                </a:solidFill>
                <a:latin typeface="Calibri" pitchFamily="34" charset="0"/>
                <a:ea typeface="Calibri" pitchFamily="34" charset="-122"/>
                <a:cs typeface="Calibri" pitchFamily="34" charset="-120"/>
              </a:rPr>
              <a:t>≥ 50</a:t>
            </a:r>
            <a:endParaRPr lang="en-US" sz="1250" dirty="0"/>
          </a:p>
        </p:txBody>
      </p:sp>
      <p:sp>
        <p:nvSpPr>
          <p:cNvPr id="92" name="Shape 90"/>
          <p:cNvSpPr/>
          <p:nvPr/>
        </p:nvSpPr>
        <p:spPr>
          <a:xfrm>
            <a:off x="4937760" y="5097780"/>
            <a:ext cx="1463040" cy="342900"/>
          </a:xfrm>
          <a:prstGeom prst="rect">
            <a:avLst/>
          </a:prstGeom>
          <a:solidFill>
            <a:srgbClr val="E9EEF4"/>
          </a:solidFill>
          <a:ln w="6350">
            <a:solidFill>
              <a:srgbClr val="D7DEE7"/>
            </a:solidFill>
            <a:prstDash val="solid"/>
          </a:ln>
        </p:spPr>
        <p:txBody>
          <a:bodyPr/>
          <a:lstStyle/>
          <a:p>
            <a:endParaRPr lang="en-US"/>
          </a:p>
        </p:txBody>
      </p:sp>
      <p:sp>
        <p:nvSpPr>
          <p:cNvPr id="93" name="Text 91"/>
          <p:cNvSpPr txBox="1"/>
          <p:nvPr/>
        </p:nvSpPr>
        <p:spPr>
          <a:xfrm>
            <a:off x="4937760" y="5097780"/>
            <a:ext cx="1463040" cy="342900"/>
          </a:xfrm>
          <a:prstGeom prst="rect">
            <a:avLst/>
          </a:prstGeom>
          <a:noFill/>
          <a:ln/>
        </p:spPr>
        <p:txBody>
          <a:bodyPr wrap="square" lIns="0" tIns="0" rIns="0" bIns="0" rtlCol="0" anchor="ctr"/>
          <a:lstStyle/>
          <a:p>
            <a:pPr marL="0" indent="0" algn="ctr">
              <a:buNone/>
            </a:pPr>
            <a:r>
              <a:rPr lang="en-US" sz="1250" dirty="0">
                <a:solidFill>
                  <a:srgbClr val="17223B"/>
                </a:solidFill>
                <a:latin typeface="Calibri" pitchFamily="34" charset="0"/>
                <a:ea typeface="Calibri" pitchFamily="34" charset="-122"/>
                <a:cs typeface="Calibri" pitchFamily="34" charset="-120"/>
              </a:rPr>
              <a:t>&lt; 53</a:t>
            </a:r>
            <a:endParaRPr lang="en-US" sz="1250" dirty="0"/>
          </a:p>
        </p:txBody>
      </p:sp>
      <p:sp>
        <p:nvSpPr>
          <p:cNvPr id="94" name="Shape 92"/>
          <p:cNvSpPr/>
          <p:nvPr/>
        </p:nvSpPr>
        <p:spPr>
          <a:xfrm>
            <a:off x="548640" y="5440680"/>
            <a:ext cx="1463040" cy="342900"/>
          </a:xfrm>
          <a:prstGeom prst="rect">
            <a:avLst/>
          </a:prstGeom>
          <a:solidFill>
            <a:srgbClr val="FFFFFF"/>
          </a:solidFill>
          <a:ln w="6350">
            <a:solidFill>
              <a:srgbClr val="D7DEE7"/>
            </a:solidFill>
            <a:prstDash val="solid"/>
          </a:ln>
        </p:spPr>
        <p:txBody>
          <a:bodyPr/>
          <a:lstStyle/>
          <a:p>
            <a:endParaRPr lang="en-US" sz="1400"/>
          </a:p>
        </p:txBody>
      </p:sp>
      <p:sp>
        <p:nvSpPr>
          <p:cNvPr id="95" name="Text 93"/>
          <p:cNvSpPr txBox="1"/>
          <p:nvPr/>
        </p:nvSpPr>
        <p:spPr>
          <a:xfrm>
            <a:off x="548640" y="5440680"/>
            <a:ext cx="1463040" cy="3429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F</a:t>
            </a:r>
            <a:endParaRPr lang="en-US" sz="1400" dirty="0"/>
          </a:p>
        </p:txBody>
      </p:sp>
      <p:sp>
        <p:nvSpPr>
          <p:cNvPr id="96" name="Shape 94"/>
          <p:cNvSpPr/>
          <p:nvPr/>
        </p:nvSpPr>
        <p:spPr>
          <a:xfrm>
            <a:off x="2011680" y="5440680"/>
            <a:ext cx="1463040" cy="342900"/>
          </a:xfrm>
          <a:prstGeom prst="rect">
            <a:avLst/>
          </a:prstGeom>
          <a:solidFill>
            <a:srgbClr val="FFFFFF"/>
          </a:solidFill>
          <a:ln w="6350">
            <a:solidFill>
              <a:srgbClr val="D7DEE7"/>
            </a:solidFill>
            <a:prstDash val="solid"/>
          </a:ln>
        </p:spPr>
        <p:txBody>
          <a:bodyPr/>
          <a:lstStyle/>
          <a:p>
            <a:endParaRPr lang="en-US" sz="1400"/>
          </a:p>
        </p:txBody>
      </p:sp>
      <p:sp>
        <p:nvSpPr>
          <p:cNvPr id="97" name="Text 95"/>
          <p:cNvSpPr txBox="1"/>
          <p:nvPr/>
        </p:nvSpPr>
        <p:spPr>
          <a:xfrm>
            <a:off x="2011680" y="54406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0.00</a:t>
            </a:r>
            <a:endParaRPr lang="en-US" sz="1400" dirty="0"/>
          </a:p>
        </p:txBody>
      </p:sp>
      <p:sp>
        <p:nvSpPr>
          <p:cNvPr id="98" name="Shape 96"/>
          <p:cNvSpPr/>
          <p:nvPr/>
        </p:nvSpPr>
        <p:spPr>
          <a:xfrm>
            <a:off x="3474720" y="5440680"/>
            <a:ext cx="1463040" cy="342900"/>
          </a:xfrm>
          <a:prstGeom prst="rect">
            <a:avLst/>
          </a:prstGeom>
          <a:solidFill>
            <a:srgbClr val="FFFFFF"/>
          </a:solidFill>
          <a:ln w="6350">
            <a:solidFill>
              <a:srgbClr val="D7DEE7"/>
            </a:solidFill>
            <a:prstDash val="solid"/>
          </a:ln>
        </p:spPr>
        <p:txBody>
          <a:bodyPr/>
          <a:lstStyle/>
          <a:p>
            <a:endParaRPr lang="en-US" sz="1400"/>
          </a:p>
        </p:txBody>
      </p:sp>
      <p:sp>
        <p:nvSpPr>
          <p:cNvPr id="99" name="Text 97"/>
          <p:cNvSpPr txBox="1"/>
          <p:nvPr/>
        </p:nvSpPr>
        <p:spPr>
          <a:xfrm>
            <a:off x="3474720" y="54406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a:t>
            </a:r>
            <a:endParaRPr lang="en-US" sz="1400" dirty="0"/>
          </a:p>
        </p:txBody>
      </p:sp>
      <p:sp>
        <p:nvSpPr>
          <p:cNvPr id="100" name="Shape 98"/>
          <p:cNvSpPr/>
          <p:nvPr/>
        </p:nvSpPr>
        <p:spPr>
          <a:xfrm>
            <a:off x="4937760" y="5440680"/>
            <a:ext cx="1463040" cy="342900"/>
          </a:xfrm>
          <a:prstGeom prst="rect">
            <a:avLst/>
          </a:prstGeom>
          <a:solidFill>
            <a:srgbClr val="FFFFFF"/>
          </a:solidFill>
          <a:ln w="6350">
            <a:solidFill>
              <a:srgbClr val="D7DEE7"/>
            </a:solidFill>
            <a:prstDash val="solid"/>
          </a:ln>
        </p:spPr>
        <p:txBody>
          <a:bodyPr/>
          <a:lstStyle/>
          <a:p>
            <a:endParaRPr lang="en-US" sz="1400"/>
          </a:p>
        </p:txBody>
      </p:sp>
      <p:sp>
        <p:nvSpPr>
          <p:cNvPr id="101" name="Text 99"/>
          <p:cNvSpPr txBox="1"/>
          <p:nvPr/>
        </p:nvSpPr>
        <p:spPr>
          <a:xfrm>
            <a:off x="4937760" y="5440680"/>
            <a:ext cx="1463040" cy="342900"/>
          </a:xfrm>
          <a:prstGeom prst="rect">
            <a:avLst/>
          </a:prstGeom>
          <a:noFill/>
          <a:ln/>
        </p:spPr>
        <p:txBody>
          <a:bodyPr wrap="square" lIns="0" tIns="0" rIns="0" bIns="0" rtlCol="0" anchor="ctr"/>
          <a:lstStyle/>
          <a:p>
            <a:pPr marL="0" indent="0" algn="ctr">
              <a:buNone/>
            </a:pPr>
            <a:r>
              <a:rPr lang="en-US" sz="1400" dirty="0">
                <a:solidFill>
                  <a:srgbClr val="17223B"/>
                </a:solidFill>
                <a:latin typeface="Calibri" pitchFamily="34" charset="0"/>
                <a:ea typeface="Calibri" pitchFamily="34" charset="-122"/>
                <a:cs typeface="Calibri" pitchFamily="34" charset="-120"/>
              </a:rPr>
              <a:t>&lt; 50</a:t>
            </a:r>
            <a:endParaRPr lang="en-US" sz="1400" dirty="0"/>
          </a:p>
        </p:txBody>
      </p:sp>
      <p:sp>
        <p:nvSpPr>
          <p:cNvPr id="102" name="Shape 100"/>
          <p:cNvSpPr/>
          <p:nvPr/>
        </p:nvSpPr>
        <p:spPr>
          <a:xfrm>
            <a:off x="548640" y="5783580"/>
            <a:ext cx="5852160" cy="384048"/>
          </a:xfrm>
          <a:prstGeom prst="rect">
            <a:avLst/>
          </a:prstGeom>
          <a:solidFill>
            <a:srgbClr val="071A33"/>
          </a:solidFill>
          <a:ln/>
        </p:spPr>
        <p:txBody>
          <a:bodyPr/>
          <a:lstStyle/>
          <a:p>
            <a:endParaRPr lang="en-US" sz="1400"/>
          </a:p>
        </p:txBody>
      </p:sp>
      <p:sp>
        <p:nvSpPr>
          <p:cNvPr id="103" name="Text 101"/>
          <p:cNvSpPr txBox="1"/>
          <p:nvPr/>
        </p:nvSpPr>
        <p:spPr>
          <a:xfrm>
            <a:off x="548640" y="5783580"/>
            <a:ext cx="5852160" cy="384048"/>
          </a:xfrm>
          <a:prstGeom prst="rect">
            <a:avLst/>
          </a:prstGeom>
          <a:noFill/>
          <a:ln/>
        </p:spPr>
        <p:txBody>
          <a:bodyPr wrap="square" lIns="0" tIns="0" rIns="0" bIns="0" rtlCol="0" anchor="ctr"/>
          <a:lstStyle/>
          <a:p>
            <a:pPr marL="0" indent="0" algn="ctr">
              <a:buNone/>
            </a:pPr>
            <a:r>
              <a:rPr lang="en-US" sz="1600" i="1" dirty="0">
                <a:solidFill>
                  <a:srgbClr val="FFFFFF"/>
                </a:solidFill>
                <a:latin typeface="Calibri" pitchFamily="34" charset="0"/>
                <a:ea typeface="Calibri" pitchFamily="34" charset="-122"/>
                <a:cs typeface="Calibri" pitchFamily="34" charset="-120"/>
              </a:rPr>
              <a:t>W — Withdrawn</a:t>
            </a:r>
            <a:endParaRPr lang="en-US" sz="1600" dirty="0"/>
          </a:p>
        </p:txBody>
      </p:sp>
      <p:sp>
        <p:nvSpPr>
          <p:cNvPr id="104" name="Shape 102"/>
          <p:cNvSpPr/>
          <p:nvPr/>
        </p:nvSpPr>
        <p:spPr>
          <a:xfrm>
            <a:off x="6675120" y="1554480"/>
            <a:ext cx="4937760" cy="3017520"/>
          </a:xfrm>
          <a:prstGeom prst="roundRect">
            <a:avLst>
              <a:gd name="adj" fmla="val 3636"/>
            </a:avLst>
          </a:prstGeom>
          <a:solidFill>
            <a:srgbClr val="E9EEF4"/>
          </a:solidFill>
          <a:ln w="12700">
            <a:solidFill>
              <a:srgbClr val="D7DEE7"/>
            </a:solidFill>
            <a:prstDash val="solid"/>
          </a:ln>
        </p:spPr>
        <p:txBody>
          <a:bodyPr/>
          <a:lstStyle/>
          <a:p>
            <a:endParaRPr lang="en-US"/>
          </a:p>
        </p:txBody>
      </p:sp>
      <p:sp>
        <p:nvSpPr>
          <p:cNvPr id="105" name="Text 103"/>
          <p:cNvSpPr txBox="1"/>
          <p:nvPr/>
        </p:nvSpPr>
        <p:spPr>
          <a:xfrm>
            <a:off x="6949440" y="1783080"/>
            <a:ext cx="4389120" cy="365760"/>
          </a:xfrm>
          <a:prstGeom prst="rect">
            <a:avLst/>
          </a:prstGeom>
          <a:noFill/>
          <a:ln/>
        </p:spPr>
        <p:txBody>
          <a:bodyPr wrap="square" lIns="0" tIns="0" rIns="0" bIns="0"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Reading the Table</a:t>
            </a:r>
            <a:endParaRPr lang="en-US" sz="2000" dirty="0"/>
          </a:p>
        </p:txBody>
      </p:sp>
      <p:sp>
        <p:nvSpPr>
          <p:cNvPr id="106" name="Text 104"/>
          <p:cNvSpPr txBox="1"/>
          <p:nvPr/>
        </p:nvSpPr>
        <p:spPr>
          <a:xfrm>
            <a:off x="6949440" y="2286000"/>
            <a:ext cx="4389120" cy="219456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17223B"/>
                </a:solidFill>
                <a:latin typeface="Calibri" pitchFamily="34" charset="0"/>
                <a:ea typeface="Calibri" pitchFamily="34" charset="-122"/>
                <a:cs typeface="Calibri" pitchFamily="34" charset="-120"/>
              </a:rPr>
              <a:t>LL = Lower Limit of the marks range for that grade</a:t>
            </a:r>
            <a:endParaRPr lang="en-US" sz="1600" dirty="0"/>
          </a:p>
          <a:p>
            <a:pPr marL="228600" indent="-228600">
              <a:spcAft>
                <a:spcPts val="1400"/>
              </a:spcAft>
              <a:buSzPct val="100000"/>
              <a:buChar char="▪"/>
            </a:pPr>
            <a:r>
              <a:rPr lang="en-US" sz="1600" dirty="0">
                <a:solidFill>
                  <a:srgbClr val="17223B"/>
                </a:solidFill>
                <a:latin typeface="Calibri" pitchFamily="34" charset="0"/>
                <a:ea typeface="Calibri" pitchFamily="34" charset="-122"/>
                <a:cs typeface="Calibri" pitchFamily="34" charset="-120"/>
              </a:rPr>
              <a:t>UL = Upper Limit of the marks range for that grade</a:t>
            </a:r>
            <a:endParaRPr lang="en-US" sz="1600" dirty="0"/>
          </a:p>
          <a:p>
            <a:pPr marL="228600" indent="-228600">
              <a:spcAft>
                <a:spcPts val="1400"/>
              </a:spcAft>
              <a:buSzPct val="100000"/>
              <a:buChar char="▪"/>
            </a:pPr>
            <a:r>
              <a:rPr lang="en-US" sz="1600" dirty="0">
                <a:solidFill>
                  <a:srgbClr val="17223B"/>
                </a:solidFill>
                <a:latin typeface="Calibri" pitchFamily="34" charset="0"/>
                <a:ea typeface="Calibri" pitchFamily="34" charset="-122"/>
                <a:cs typeface="Calibri" pitchFamily="34" charset="-120"/>
              </a:rPr>
              <a:t>GP = Grade Point used in your CGPA calculation</a:t>
            </a:r>
            <a:endParaRPr lang="en-US" sz="1600" dirty="0"/>
          </a:p>
          <a:p>
            <a:pPr marL="228600" indent="-228600">
              <a:spcAft>
                <a:spcPts val="1400"/>
              </a:spcAft>
              <a:buSzPct val="100000"/>
              <a:buChar char="▪"/>
            </a:pPr>
            <a:r>
              <a:rPr lang="en-US" sz="1600" dirty="0">
                <a:solidFill>
                  <a:srgbClr val="17223B"/>
                </a:solidFill>
                <a:latin typeface="Calibri" pitchFamily="34" charset="0"/>
                <a:ea typeface="Calibri" pitchFamily="34" charset="-122"/>
                <a:cs typeface="Calibri" pitchFamily="34" charset="-120"/>
              </a:rPr>
              <a:t>This is the official Bahria University grading system</a:t>
            </a:r>
            <a:endParaRPr lang="en-US" sz="1600" dirty="0"/>
          </a:p>
        </p:txBody>
      </p:sp>
      <p:sp>
        <p:nvSpPr>
          <p:cNvPr id="107" name="Text 105"/>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8" name="Text 106"/>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MATLAB FUNDAMENTALS</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Understanding the “Matrix Laboratory”</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2:43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MATLAB = MATrix LABoratory</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Originated as an interface to the LINPACK and EISPACK matrix libraries</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Developed and sold commercially by MathWorks</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A proprietary language — not free or open-source</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Optimized for engineering, mathematical and scientific computation</a:t>
            </a:r>
            <a:endParaRPr lang="en-US" sz="2000" dirty="0"/>
          </a:p>
        </p:txBody>
      </p:sp>
      <p:sp>
        <p:nvSpPr>
          <p:cNvPr id="7" name="Shape 5"/>
          <p:cNvSpPr/>
          <p:nvPr/>
        </p:nvSpPr>
        <p:spPr>
          <a:xfrm>
            <a:off x="6903720" y="1600200"/>
            <a:ext cx="4709160" cy="4526280"/>
          </a:xfrm>
          <a:prstGeom prst="roundRect">
            <a:avLst>
              <a:gd name="adj" fmla="val 2424"/>
            </a:avLst>
          </a:prstGeom>
          <a:solidFill>
            <a:srgbClr val="E9EEF4"/>
          </a:solidFill>
          <a:ln w="12700">
            <a:solidFill>
              <a:srgbClr val="D7DEE7"/>
            </a:solidFill>
            <a:prstDash val="solid"/>
          </a:ln>
        </p:spPr>
        <p:txBody>
          <a:bodyPr/>
          <a:lstStyle/>
          <a:p>
            <a:endParaRPr lang="en-US"/>
          </a:p>
        </p:txBody>
      </p:sp>
      <p:sp>
        <p:nvSpPr>
          <p:cNvPr id="8" name="Text 6"/>
          <p:cNvSpPr txBox="1"/>
          <p:nvPr/>
        </p:nvSpPr>
        <p:spPr>
          <a:xfrm>
            <a:off x="6903720" y="1920240"/>
            <a:ext cx="4709160" cy="548640"/>
          </a:xfrm>
          <a:prstGeom prst="rect">
            <a:avLst/>
          </a:prstGeom>
          <a:noFill/>
          <a:ln/>
        </p:spPr>
        <p:txBody>
          <a:bodyPr wrap="square" lIns="0" tIns="0" rIns="0" bIns="0" rtlCol="0" anchor="ctr"/>
          <a:lstStyle/>
          <a:p>
            <a:pPr marL="0" indent="0" algn="ctr">
              <a:buNone/>
            </a:pPr>
            <a:r>
              <a:rPr lang="en-US" sz="3000" b="1" dirty="0">
                <a:solidFill>
                  <a:srgbClr val="0B2545"/>
                </a:solidFill>
                <a:latin typeface="Cambria" pitchFamily="34" charset="0"/>
                <a:ea typeface="Cambria" pitchFamily="34" charset="-122"/>
                <a:cs typeface="Cambria" pitchFamily="34" charset="-120"/>
              </a:rPr>
              <a:t>MATLAB</a:t>
            </a:r>
            <a:endParaRPr lang="en-US" sz="3000" dirty="0"/>
          </a:p>
        </p:txBody>
      </p:sp>
      <p:sp>
        <p:nvSpPr>
          <p:cNvPr id="9" name="Shape 7"/>
          <p:cNvSpPr/>
          <p:nvPr/>
        </p:nvSpPr>
        <p:spPr>
          <a:xfrm>
            <a:off x="7315200" y="2651760"/>
            <a:ext cx="548640" cy="548640"/>
          </a:xfrm>
          <a:prstGeom prst="ellipse">
            <a:avLst/>
          </a:prstGeom>
          <a:solidFill>
            <a:srgbClr val="0B2545"/>
          </a:solidFill>
          <a:ln/>
        </p:spPr>
        <p:txBody>
          <a:bodyPr/>
          <a:lstStyle/>
          <a:p>
            <a:endParaRPr lang="en-US"/>
          </a:p>
        </p:txBody>
      </p:sp>
      <p:sp>
        <p:nvSpPr>
          <p:cNvPr id="10" name="Text 8"/>
          <p:cNvSpPr txBox="1"/>
          <p:nvPr/>
        </p:nvSpPr>
        <p:spPr>
          <a:xfrm>
            <a:off x="7315200" y="26517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MA</a:t>
            </a:r>
            <a:endParaRPr lang="en-US" sz="1600" dirty="0"/>
          </a:p>
        </p:txBody>
      </p:sp>
      <p:sp>
        <p:nvSpPr>
          <p:cNvPr id="11" name="Text 9"/>
          <p:cNvSpPr txBox="1"/>
          <p:nvPr/>
        </p:nvSpPr>
        <p:spPr>
          <a:xfrm>
            <a:off x="8046720" y="2651760"/>
            <a:ext cx="3154680" cy="548640"/>
          </a:xfrm>
          <a:prstGeom prst="rect">
            <a:avLst/>
          </a:prstGeom>
          <a:noFill/>
          <a:ln/>
        </p:spPr>
        <p:txBody>
          <a:bodyPr wrap="square" lIns="0" tIns="0" rIns="0" bIns="0" rtlCol="0" anchor="ctr"/>
          <a:lstStyle/>
          <a:p>
            <a:pPr marL="0" indent="0">
              <a:buNone/>
            </a:pPr>
            <a:r>
              <a:rPr lang="en-US" sz="1400" b="1" dirty="0">
                <a:solidFill>
                  <a:srgbClr val="0B2545"/>
                </a:solidFill>
              </a:rPr>
              <a:t>MAT</a:t>
            </a:r>
            <a:endParaRPr lang="en-US" sz="1400" dirty="0"/>
          </a:p>
          <a:p>
            <a:pPr marL="0" indent="0">
              <a:buNone/>
            </a:pPr>
            <a:r>
              <a:rPr lang="en-US" sz="1400" dirty="0">
                <a:solidFill>
                  <a:srgbClr val="5C6B7A"/>
                </a:solidFill>
              </a:rPr>
              <a:t>Matrix</a:t>
            </a:r>
            <a:endParaRPr lang="en-US" sz="1400" dirty="0"/>
          </a:p>
        </p:txBody>
      </p:sp>
      <p:sp>
        <p:nvSpPr>
          <p:cNvPr id="12" name="Shape 10"/>
          <p:cNvSpPr/>
          <p:nvPr/>
        </p:nvSpPr>
        <p:spPr>
          <a:xfrm>
            <a:off x="7315200" y="3429000"/>
            <a:ext cx="548640" cy="548640"/>
          </a:xfrm>
          <a:prstGeom prst="ellipse">
            <a:avLst/>
          </a:prstGeom>
          <a:solidFill>
            <a:srgbClr val="0B2545"/>
          </a:solidFill>
          <a:ln/>
        </p:spPr>
        <p:txBody>
          <a:bodyPr/>
          <a:lstStyle/>
          <a:p>
            <a:endParaRPr lang="en-US"/>
          </a:p>
        </p:txBody>
      </p:sp>
      <p:sp>
        <p:nvSpPr>
          <p:cNvPr id="13" name="Text 11"/>
          <p:cNvSpPr txBox="1"/>
          <p:nvPr/>
        </p:nvSpPr>
        <p:spPr>
          <a:xfrm>
            <a:off x="7315200" y="342900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LA</a:t>
            </a:r>
            <a:endParaRPr lang="en-US" sz="1600" dirty="0"/>
          </a:p>
        </p:txBody>
      </p:sp>
      <p:sp>
        <p:nvSpPr>
          <p:cNvPr id="14" name="Text 12"/>
          <p:cNvSpPr txBox="1"/>
          <p:nvPr/>
        </p:nvSpPr>
        <p:spPr>
          <a:xfrm>
            <a:off x="8046720" y="3429000"/>
            <a:ext cx="3154680" cy="548640"/>
          </a:xfrm>
          <a:prstGeom prst="rect">
            <a:avLst/>
          </a:prstGeom>
          <a:noFill/>
          <a:ln/>
        </p:spPr>
        <p:txBody>
          <a:bodyPr wrap="square" lIns="0" tIns="0" rIns="0" bIns="0" rtlCol="0" anchor="ctr"/>
          <a:lstStyle/>
          <a:p>
            <a:pPr marL="0" indent="0">
              <a:buNone/>
            </a:pPr>
            <a:r>
              <a:rPr lang="en-US" sz="1400" b="1" dirty="0">
                <a:solidFill>
                  <a:srgbClr val="0B2545"/>
                </a:solidFill>
              </a:rPr>
              <a:t>LAB</a:t>
            </a:r>
            <a:endParaRPr lang="en-US" sz="1400" dirty="0"/>
          </a:p>
          <a:p>
            <a:pPr marL="0" indent="0">
              <a:buNone/>
            </a:pPr>
            <a:r>
              <a:rPr lang="en-US" sz="1400" dirty="0">
                <a:solidFill>
                  <a:srgbClr val="5C6B7A"/>
                </a:solidFill>
              </a:rPr>
              <a:t>Laboratory</a:t>
            </a:r>
            <a:endParaRPr lang="en-US" sz="1400" dirty="0"/>
          </a:p>
        </p:txBody>
      </p:sp>
      <p:sp>
        <p:nvSpPr>
          <p:cNvPr id="15" name="Text 13"/>
          <p:cNvSpPr txBox="1"/>
          <p:nvPr/>
        </p:nvSpPr>
        <p:spPr>
          <a:xfrm>
            <a:off x="7178040" y="5623560"/>
            <a:ext cx="4160520" cy="365760"/>
          </a:xfrm>
          <a:prstGeom prst="rect">
            <a:avLst/>
          </a:prstGeom>
          <a:noFill/>
          <a:ln/>
        </p:spPr>
        <p:txBody>
          <a:bodyPr wrap="square" lIns="0" tIns="0" rIns="0" bIns="0" rtlCol="0" anchor="ctr"/>
          <a:lstStyle/>
          <a:p>
            <a:pPr marL="0" indent="0" algn="ctr">
              <a:buNone/>
            </a:pPr>
            <a:r>
              <a:rPr lang="en-US" sz="1150" i="1" dirty="0">
                <a:solidFill>
                  <a:srgbClr val="5C6B7A"/>
                </a:solidFill>
                <a:latin typeface="Calibri" pitchFamily="34" charset="0"/>
                <a:ea typeface="Calibri" pitchFamily="34" charset="-122"/>
                <a:cs typeface="Calibri" pitchFamily="34" charset="-120"/>
              </a:rPr>
              <a:t>Est. by MathWorks • built on LINPACK / EISPACK</a:t>
            </a:r>
            <a:endParaRPr lang="en-US" sz="1150" dirty="0"/>
          </a:p>
        </p:txBody>
      </p:sp>
      <p:sp>
        <p:nvSpPr>
          <p:cNvPr id="16" name="Text 14"/>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7" name="Text 15"/>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MATLAB FUNDAMENTALS</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High-Performance Design: The Array Model</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2:49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Basic data element in MATLAB is always an array</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A scalar is simply a 1×1 matrix</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Data is automatically organized into rows and columns</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Scalars, vectors (1-D) and matrices (2-D) share one unified logic</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Enables processing whole datasets in a single line of code</a:t>
            </a:r>
            <a:endParaRPr lang="en-US" sz="2000" dirty="0"/>
          </a:p>
        </p:txBody>
      </p:sp>
      <p:sp>
        <p:nvSpPr>
          <p:cNvPr id="7" name="Shape 5"/>
          <p:cNvSpPr/>
          <p:nvPr/>
        </p:nvSpPr>
        <p:spPr>
          <a:xfrm>
            <a:off x="6903720" y="1600200"/>
            <a:ext cx="4709160" cy="4526280"/>
          </a:xfrm>
          <a:prstGeom prst="roundRect">
            <a:avLst>
              <a:gd name="adj" fmla="val 2424"/>
            </a:avLst>
          </a:prstGeom>
          <a:solidFill>
            <a:srgbClr val="E9EEF4"/>
          </a:solidFill>
          <a:ln w="12700">
            <a:solidFill>
              <a:srgbClr val="D7DEE7"/>
            </a:solidFill>
            <a:prstDash val="solid"/>
          </a:ln>
        </p:spPr>
        <p:txBody>
          <a:bodyPr/>
          <a:lstStyle/>
          <a:p>
            <a:endParaRPr lang="en-US"/>
          </a:p>
        </p:txBody>
      </p:sp>
      <p:sp>
        <p:nvSpPr>
          <p:cNvPr id="8" name="Shape 6"/>
          <p:cNvSpPr/>
          <p:nvPr/>
        </p:nvSpPr>
        <p:spPr>
          <a:xfrm>
            <a:off x="7360920" y="2103120"/>
            <a:ext cx="512064" cy="512064"/>
          </a:xfrm>
          <a:prstGeom prst="rect">
            <a:avLst/>
          </a:prstGeom>
          <a:solidFill>
            <a:srgbClr val="C9A227"/>
          </a:solidFill>
          <a:ln w="12700">
            <a:solidFill>
              <a:srgbClr val="1C7293"/>
            </a:solidFill>
            <a:prstDash val="solid"/>
          </a:ln>
        </p:spPr>
        <p:txBody>
          <a:bodyPr/>
          <a:lstStyle/>
          <a:p>
            <a:endParaRPr lang="en-US"/>
          </a:p>
        </p:txBody>
      </p:sp>
      <p:sp>
        <p:nvSpPr>
          <p:cNvPr id="9" name="Shape 7"/>
          <p:cNvSpPr/>
          <p:nvPr/>
        </p:nvSpPr>
        <p:spPr>
          <a:xfrm>
            <a:off x="7927848" y="2103120"/>
            <a:ext cx="512064" cy="512064"/>
          </a:xfrm>
          <a:prstGeom prst="rect">
            <a:avLst/>
          </a:prstGeom>
          <a:solidFill>
            <a:srgbClr val="DCE6F0"/>
          </a:solidFill>
          <a:ln w="12700">
            <a:solidFill>
              <a:srgbClr val="1C7293"/>
            </a:solidFill>
            <a:prstDash val="solid"/>
          </a:ln>
        </p:spPr>
        <p:txBody>
          <a:bodyPr/>
          <a:lstStyle/>
          <a:p>
            <a:endParaRPr lang="en-US"/>
          </a:p>
        </p:txBody>
      </p:sp>
      <p:sp>
        <p:nvSpPr>
          <p:cNvPr id="10" name="Shape 8"/>
          <p:cNvSpPr/>
          <p:nvPr/>
        </p:nvSpPr>
        <p:spPr>
          <a:xfrm>
            <a:off x="8494776" y="2103120"/>
            <a:ext cx="512064" cy="512064"/>
          </a:xfrm>
          <a:prstGeom prst="rect">
            <a:avLst/>
          </a:prstGeom>
          <a:solidFill>
            <a:srgbClr val="DCE6F0"/>
          </a:solidFill>
          <a:ln w="12700">
            <a:solidFill>
              <a:srgbClr val="1C7293"/>
            </a:solidFill>
            <a:prstDash val="solid"/>
          </a:ln>
        </p:spPr>
        <p:txBody>
          <a:bodyPr/>
          <a:lstStyle/>
          <a:p>
            <a:endParaRPr lang="en-US"/>
          </a:p>
        </p:txBody>
      </p:sp>
      <p:sp>
        <p:nvSpPr>
          <p:cNvPr id="11" name="Shape 9"/>
          <p:cNvSpPr/>
          <p:nvPr/>
        </p:nvSpPr>
        <p:spPr>
          <a:xfrm>
            <a:off x="9061704" y="2103120"/>
            <a:ext cx="512064" cy="512064"/>
          </a:xfrm>
          <a:prstGeom prst="rect">
            <a:avLst/>
          </a:prstGeom>
          <a:solidFill>
            <a:srgbClr val="DCE6F0"/>
          </a:solidFill>
          <a:ln w="12700">
            <a:solidFill>
              <a:srgbClr val="1C7293"/>
            </a:solidFill>
            <a:prstDash val="solid"/>
          </a:ln>
        </p:spPr>
        <p:txBody>
          <a:bodyPr/>
          <a:lstStyle/>
          <a:p>
            <a:endParaRPr lang="en-US"/>
          </a:p>
        </p:txBody>
      </p:sp>
      <p:sp>
        <p:nvSpPr>
          <p:cNvPr id="12" name="Shape 10"/>
          <p:cNvSpPr/>
          <p:nvPr/>
        </p:nvSpPr>
        <p:spPr>
          <a:xfrm>
            <a:off x="7360920" y="2670048"/>
            <a:ext cx="512064" cy="512064"/>
          </a:xfrm>
          <a:prstGeom prst="rect">
            <a:avLst/>
          </a:prstGeom>
          <a:solidFill>
            <a:srgbClr val="DCE6F0"/>
          </a:solidFill>
          <a:ln w="12700">
            <a:solidFill>
              <a:srgbClr val="1C7293"/>
            </a:solidFill>
            <a:prstDash val="solid"/>
          </a:ln>
        </p:spPr>
        <p:txBody>
          <a:bodyPr/>
          <a:lstStyle/>
          <a:p>
            <a:endParaRPr lang="en-US"/>
          </a:p>
        </p:txBody>
      </p:sp>
      <p:sp>
        <p:nvSpPr>
          <p:cNvPr id="13" name="Shape 11"/>
          <p:cNvSpPr/>
          <p:nvPr/>
        </p:nvSpPr>
        <p:spPr>
          <a:xfrm>
            <a:off x="7927848" y="2670048"/>
            <a:ext cx="512064" cy="512064"/>
          </a:xfrm>
          <a:prstGeom prst="rect">
            <a:avLst/>
          </a:prstGeom>
          <a:solidFill>
            <a:srgbClr val="DCE6F0"/>
          </a:solidFill>
          <a:ln w="12700">
            <a:solidFill>
              <a:srgbClr val="1C7293"/>
            </a:solidFill>
            <a:prstDash val="solid"/>
          </a:ln>
        </p:spPr>
        <p:txBody>
          <a:bodyPr/>
          <a:lstStyle/>
          <a:p>
            <a:endParaRPr lang="en-US"/>
          </a:p>
        </p:txBody>
      </p:sp>
      <p:sp>
        <p:nvSpPr>
          <p:cNvPr id="14" name="Shape 12"/>
          <p:cNvSpPr/>
          <p:nvPr/>
        </p:nvSpPr>
        <p:spPr>
          <a:xfrm>
            <a:off x="8494776" y="2670048"/>
            <a:ext cx="512064" cy="512064"/>
          </a:xfrm>
          <a:prstGeom prst="rect">
            <a:avLst/>
          </a:prstGeom>
          <a:solidFill>
            <a:srgbClr val="DCE6F0"/>
          </a:solidFill>
          <a:ln w="12700">
            <a:solidFill>
              <a:srgbClr val="1C7293"/>
            </a:solidFill>
            <a:prstDash val="solid"/>
          </a:ln>
        </p:spPr>
        <p:txBody>
          <a:bodyPr/>
          <a:lstStyle/>
          <a:p>
            <a:endParaRPr lang="en-US"/>
          </a:p>
        </p:txBody>
      </p:sp>
      <p:sp>
        <p:nvSpPr>
          <p:cNvPr id="15" name="Shape 13"/>
          <p:cNvSpPr/>
          <p:nvPr/>
        </p:nvSpPr>
        <p:spPr>
          <a:xfrm>
            <a:off x="9061704" y="2670048"/>
            <a:ext cx="512064" cy="512064"/>
          </a:xfrm>
          <a:prstGeom prst="rect">
            <a:avLst/>
          </a:prstGeom>
          <a:solidFill>
            <a:srgbClr val="DCE6F0"/>
          </a:solidFill>
          <a:ln w="12700">
            <a:solidFill>
              <a:srgbClr val="1C7293"/>
            </a:solidFill>
            <a:prstDash val="solid"/>
          </a:ln>
        </p:spPr>
        <p:txBody>
          <a:bodyPr/>
          <a:lstStyle/>
          <a:p>
            <a:endParaRPr lang="en-US"/>
          </a:p>
        </p:txBody>
      </p:sp>
      <p:sp>
        <p:nvSpPr>
          <p:cNvPr id="16" name="Shape 14"/>
          <p:cNvSpPr/>
          <p:nvPr/>
        </p:nvSpPr>
        <p:spPr>
          <a:xfrm>
            <a:off x="7360920" y="3236976"/>
            <a:ext cx="512064" cy="512064"/>
          </a:xfrm>
          <a:prstGeom prst="rect">
            <a:avLst/>
          </a:prstGeom>
          <a:solidFill>
            <a:srgbClr val="DCE6F0"/>
          </a:solidFill>
          <a:ln w="12700">
            <a:solidFill>
              <a:srgbClr val="1C7293"/>
            </a:solidFill>
            <a:prstDash val="solid"/>
          </a:ln>
        </p:spPr>
        <p:txBody>
          <a:bodyPr/>
          <a:lstStyle/>
          <a:p>
            <a:endParaRPr lang="en-US"/>
          </a:p>
        </p:txBody>
      </p:sp>
      <p:sp>
        <p:nvSpPr>
          <p:cNvPr id="17" name="Shape 15"/>
          <p:cNvSpPr/>
          <p:nvPr/>
        </p:nvSpPr>
        <p:spPr>
          <a:xfrm>
            <a:off x="7927848" y="3236976"/>
            <a:ext cx="512064" cy="512064"/>
          </a:xfrm>
          <a:prstGeom prst="rect">
            <a:avLst/>
          </a:prstGeom>
          <a:solidFill>
            <a:srgbClr val="DCE6F0"/>
          </a:solidFill>
          <a:ln w="12700">
            <a:solidFill>
              <a:srgbClr val="1C7293"/>
            </a:solidFill>
            <a:prstDash val="solid"/>
          </a:ln>
        </p:spPr>
        <p:txBody>
          <a:bodyPr/>
          <a:lstStyle/>
          <a:p>
            <a:endParaRPr lang="en-US"/>
          </a:p>
        </p:txBody>
      </p:sp>
      <p:sp>
        <p:nvSpPr>
          <p:cNvPr id="18" name="Shape 16"/>
          <p:cNvSpPr/>
          <p:nvPr/>
        </p:nvSpPr>
        <p:spPr>
          <a:xfrm>
            <a:off x="8494776" y="3236976"/>
            <a:ext cx="512064" cy="512064"/>
          </a:xfrm>
          <a:prstGeom prst="rect">
            <a:avLst/>
          </a:prstGeom>
          <a:solidFill>
            <a:srgbClr val="DCE6F0"/>
          </a:solidFill>
          <a:ln w="12700">
            <a:solidFill>
              <a:srgbClr val="1C7293"/>
            </a:solidFill>
            <a:prstDash val="solid"/>
          </a:ln>
        </p:spPr>
        <p:txBody>
          <a:bodyPr/>
          <a:lstStyle/>
          <a:p>
            <a:endParaRPr lang="en-US"/>
          </a:p>
        </p:txBody>
      </p:sp>
      <p:sp>
        <p:nvSpPr>
          <p:cNvPr id="19" name="Shape 17"/>
          <p:cNvSpPr/>
          <p:nvPr/>
        </p:nvSpPr>
        <p:spPr>
          <a:xfrm>
            <a:off x="9061704" y="3236976"/>
            <a:ext cx="512064" cy="512064"/>
          </a:xfrm>
          <a:prstGeom prst="rect">
            <a:avLst/>
          </a:prstGeom>
          <a:solidFill>
            <a:srgbClr val="DCE6F0"/>
          </a:solidFill>
          <a:ln w="12700">
            <a:solidFill>
              <a:srgbClr val="1C7293"/>
            </a:solidFill>
            <a:prstDash val="solid"/>
          </a:ln>
        </p:spPr>
        <p:txBody>
          <a:bodyPr/>
          <a:lstStyle/>
          <a:p>
            <a:endParaRPr lang="en-US"/>
          </a:p>
        </p:txBody>
      </p:sp>
      <p:sp>
        <p:nvSpPr>
          <p:cNvPr id="20" name="Text 18"/>
          <p:cNvSpPr txBox="1"/>
          <p:nvPr/>
        </p:nvSpPr>
        <p:spPr>
          <a:xfrm>
            <a:off x="7360920" y="3895344"/>
            <a:ext cx="2267712" cy="320040"/>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m × n array</a:t>
            </a:r>
            <a:endParaRPr lang="en-US" sz="1200" dirty="0"/>
          </a:p>
        </p:txBody>
      </p:sp>
      <p:sp>
        <p:nvSpPr>
          <p:cNvPr id="21" name="Text 19"/>
          <p:cNvSpPr txBox="1"/>
          <p:nvPr/>
        </p:nvSpPr>
        <p:spPr>
          <a:xfrm>
            <a:off x="7360920" y="4261104"/>
            <a:ext cx="2267712" cy="320040"/>
          </a:xfrm>
          <a:prstGeom prst="rect">
            <a:avLst/>
          </a:prstGeom>
          <a:noFill/>
          <a:ln/>
        </p:spPr>
        <p:txBody>
          <a:bodyPr wrap="square" lIns="0" tIns="0" rIns="0" bIns="0" rtlCol="0" anchor="ctr"/>
          <a:lstStyle/>
          <a:p>
            <a:pPr marL="0" indent="0" algn="ctr">
              <a:buNone/>
            </a:pPr>
            <a:r>
              <a:rPr lang="en-US" sz="1200" i="1" dirty="0">
                <a:solidFill>
                  <a:srgbClr val="5C6B7A"/>
                </a:solidFill>
                <a:latin typeface="Calibri" pitchFamily="34" charset="0"/>
                <a:ea typeface="Calibri" pitchFamily="34" charset="-122"/>
                <a:cs typeface="Calibri" pitchFamily="34" charset="-120"/>
              </a:rPr>
              <a:t>Highlighted cell = a 1×1 scalar</a:t>
            </a:r>
            <a:endParaRPr lang="en-US" sz="1200" dirty="0"/>
          </a:p>
        </p:txBody>
      </p:sp>
      <p:sp>
        <p:nvSpPr>
          <p:cNvPr id="22" name="Text 20"/>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23" name="Text 21"/>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WHY MATLAB</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Efficiency &amp; Accuracy: The Bode Plot Case Study</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2:54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Scenario: run a stability calculation 1,000 times with small changes</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By hand: ~10 minutes per run → 10,000 minutes total</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Manual fatigue causes errors to creep in over time</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MATLAB: script runs in under a second, every time</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Machine precision — identical, error-free results, run 1 to run 1,000</a:t>
            </a:r>
            <a:endParaRPr lang="en-US" sz="2000" dirty="0"/>
          </a:p>
        </p:txBody>
      </p:sp>
      <p:sp>
        <p:nvSpPr>
          <p:cNvPr id="7" name="Shape 5"/>
          <p:cNvSpPr/>
          <p:nvPr/>
        </p:nvSpPr>
        <p:spPr>
          <a:xfrm>
            <a:off x="6903720" y="1600200"/>
            <a:ext cx="2240280" cy="4526280"/>
          </a:xfrm>
          <a:prstGeom prst="roundRect">
            <a:avLst>
              <a:gd name="adj" fmla="val 4898"/>
            </a:avLst>
          </a:prstGeom>
          <a:solidFill>
            <a:srgbClr val="FBEAE7"/>
          </a:solidFill>
          <a:ln w="12700">
            <a:solidFill>
              <a:srgbClr val="D7DEE7"/>
            </a:solidFill>
            <a:prstDash val="solid"/>
          </a:ln>
        </p:spPr>
        <p:txBody>
          <a:bodyPr/>
          <a:lstStyle/>
          <a:p>
            <a:endParaRPr lang="en-US"/>
          </a:p>
        </p:txBody>
      </p:sp>
      <p:sp>
        <p:nvSpPr>
          <p:cNvPr id="8" name="Text 6"/>
          <p:cNvSpPr txBox="1"/>
          <p:nvPr/>
        </p:nvSpPr>
        <p:spPr>
          <a:xfrm>
            <a:off x="6903720" y="1783080"/>
            <a:ext cx="2240280" cy="365760"/>
          </a:xfrm>
          <a:prstGeom prst="rect">
            <a:avLst/>
          </a:prstGeom>
          <a:noFill/>
          <a:ln/>
        </p:spPr>
        <p:txBody>
          <a:bodyPr wrap="square" lIns="0" tIns="0" rIns="0" bIns="0" rtlCol="0" anchor="ctr"/>
          <a:lstStyle/>
          <a:p>
            <a:pPr marL="0" indent="0" algn="ctr">
              <a:buNone/>
            </a:pPr>
            <a:r>
              <a:rPr lang="en-US" sz="1500" b="1" dirty="0">
                <a:solidFill>
                  <a:srgbClr val="A23B2E"/>
                </a:solidFill>
                <a:latin typeface="Calibri" pitchFamily="34" charset="0"/>
                <a:ea typeface="Calibri" pitchFamily="34" charset="-122"/>
                <a:cs typeface="Calibri" pitchFamily="34" charset="-120"/>
              </a:rPr>
              <a:t>Human Engineer</a:t>
            </a:r>
            <a:endParaRPr lang="en-US" sz="1500" dirty="0"/>
          </a:p>
        </p:txBody>
      </p:sp>
      <p:sp>
        <p:nvSpPr>
          <p:cNvPr id="9" name="Text 7"/>
          <p:cNvSpPr txBox="1"/>
          <p:nvPr/>
        </p:nvSpPr>
        <p:spPr>
          <a:xfrm>
            <a:off x="6903720" y="2286000"/>
            <a:ext cx="2240280" cy="685800"/>
          </a:xfrm>
          <a:prstGeom prst="rect">
            <a:avLst/>
          </a:prstGeom>
          <a:noFill/>
          <a:ln/>
        </p:spPr>
        <p:txBody>
          <a:bodyPr wrap="square" lIns="0" tIns="0" rIns="0" bIns="0" rtlCol="0" anchor="ctr"/>
          <a:lstStyle/>
          <a:p>
            <a:pPr marL="0" indent="0" algn="ctr">
              <a:buNone/>
            </a:pPr>
            <a:r>
              <a:rPr lang="en-US" sz="3400" b="1" dirty="0">
                <a:solidFill>
                  <a:srgbClr val="A23B2E"/>
                </a:solidFill>
                <a:latin typeface="Cambria" pitchFamily="34" charset="0"/>
                <a:ea typeface="Cambria" pitchFamily="34" charset="-122"/>
                <a:cs typeface="Cambria" pitchFamily="34" charset="-120"/>
              </a:rPr>
              <a:t>10,000</a:t>
            </a:r>
            <a:endParaRPr lang="en-US" sz="3400" dirty="0"/>
          </a:p>
        </p:txBody>
      </p:sp>
      <p:sp>
        <p:nvSpPr>
          <p:cNvPr id="10" name="Text 8"/>
          <p:cNvSpPr txBox="1"/>
          <p:nvPr/>
        </p:nvSpPr>
        <p:spPr>
          <a:xfrm>
            <a:off x="6903720" y="3063240"/>
            <a:ext cx="2240280" cy="822960"/>
          </a:xfrm>
          <a:prstGeom prst="rect">
            <a:avLst/>
          </a:prstGeom>
          <a:noFill/>
          <a:ln/>
        </p:spPr>
        <p:txBody>
          <a:bodyPr wrap="square" lIns="0" tIns="0" rIns="0" bIns="0" rtlCol="0" anchor="ctr"/>
          <a:lstStyle/>
          <a:p>
            <a:pPr marL="0" indent="0" algn="ctr">
              <a:buNone/>
            </a:pPr>
            <a:r>
              <a:rPr lang="en-US" sz="1200" dirty="0">
                <a:solidFill>
                  <a:srgbClr val="17223B"/>
                </a:solidFill>
                <a:latin typeface="Calibri" pitchFamily="34" charset="0"/>
                <a:ea typeface="Calibri" pitchFamily="34" charset="-122"/>
                <a:cs typeface="Calibri" pitchFamily="34" charset="-120"/>
              </a:rPr>
              <a:t>minutes required</a:t>
            </a:r>
            <a:endParaRPr lang="en-US" sz="1200" dirty="0"/>
          </a:p>
          <a:p>
            <a:pPr marL="0" indent="0" algn="ctr">
              <a:buNone/>
            </a:pPr>
            <a:r>
              <a:rPr lang="en-US" sz="1200" dirty="0">
                <a:solidFill>
                  <a:srgbClr val="17223B"/>
                </a:solidFill>
                <a:latin typeface="Calibri" pitchFamily="34" charset="0"/>
                <a:ea typeface="Calibri" pitchFamily="34" charset="-122"/>
                <a:cs typeface="Calibri" pitchFamily="34" charset="-120"/>
              </a:rPr>
              <a:t>fatigue → rising errors</a:t>
            </a:r>
            <a:endParaRPr lang="en-US" sz="1200" dirty="0"/>
          </a:p>
        </p:txBody>
      </p:sp>
      <p:sp>
        <p:nvSpPr>
          <p:cNvPr id="11" name="Shape 9"/>
          <p:cNvSpPr/>
          <p:nvPr/>
        </p:nvSpPr>
        <p:spPr>
          <a:xfrm>
            <a:off x="9372600" y="1600200"/>
            <a:ext cx="2240280" cy="4526280"/>
          </a:xfrm>
          <a:prstGeom prst="roundRect">
            <a:avLst>
              <a:gd name="adj" fmla="val 4898"/>
            </a:avLst>
          </a:prstGeom>
          <a:solidFill>
            <a:srgbClr val="E4F1EA"/>
          </a:solidFill>
          <a:ln w="12700">
            <a:solidFill>
              <a:srgbClr val="D7DEE7"/>
            </a:solidFill>
            <a:prstDash val="solid"/>
          </a:ln>
        </p:spPr>
        <p:txBody>
          <a:bodyPr/>
          <a:lstStyle/>
          <a:p>
            <a:endParaRPr lang="en-US"/>
          </a:p>
        </p:txBody>
      </p:sp>
      <p:sp>
        <p:nvSpPr>
          <p:cNvPr id="12" name="Text 10"/>
          <p:cNvSpPr txBox="1"/>
          <p:nvPr/>
        </p:nvSpPr>
        <p:spPr>
          <a:xfrm>
            <a:off x="9372600" y="1783080"/>
            <a:ext cx="2240280" cy="365760"/>
          </a:xfrm>
          <a:prstGeom prst="rect">
            <a:avLst/>
          </a:prstGeom>
          <a:noFill/>
          <a:ln/>
        </p:spPr>
        <p:txBody>
          <a:bodyPr wrap="square" lIns="0" tIns="0" rIns="0" bIns="0" rtlCol="0" anchor="ctr"/>
          <a:lstStyle/>
          <a:p>
            <a:pPr marL="0" indent="0" algn="ctr">
              <a:buNone/>
            </a:pPr>
            <a:r>
              <a:rPr lang="en-US" sz="1500" b="1" dirty="0">
                <a:solidFill>
                  <a:srgbClr val="1E7A46"/>
                </a:solidFill>
                <a:latin typeface="Calibri" pitchFamily="34" charset="0"/>
                <a:ea typeface="Calibri" pitchFamily="34" charset="-122"/>
                <a:cs typeface="Calibri" pitchFamily="34" charset="-120"/>
              </a:rPr>
              <a:t>MATLAB</a:t>
            </a:r>
            <a:endParaRPr lang="en-US" sz="1500" dirty="0"/>
          </a:p>
        </p:txBody>
      </p:sp>
      <p:sp>
        <p:nvSpPr>
          <p:cNvPr id="13" name="Text 11"/>
          <p:cNvSpPr txBox="1"/>
          <p:nvPr/>
        </p:nvSpPr>
        <p:spPr>
          <a:xfrm>
            <a:off x="9372600" y="2286000"/>
            <a:ext cx="2240280" cy="685800"/>
          </a:xfrm>
          <a:prstGeom prst="rect">
            <a:avLst/>
          </a:prstGeom>
          <a:noFill/>
          <a:ln/>
        </p:spPr>
        <p:txBody>
          <a:bodyPr wrap="square" lIns="0" tIns="0" rIns="0" bIns="0" rtlCol="0" anchor="ctr"/>
          <a:lstStyle/>
          <a:p>
            <a:pPr marL="0" indent="0" algn="ctr">
              <a:buNone/>
            </a:pPr>
            <a:r>
              <a:rPr lang="en-US" sz="3400" b="1" dirty="0">
                <a:solidFill>
                  <a:srgbClr val="1E7A46"/>
                </a:solidFill>
                <a:latin typeface="Cambria" pitchFamily="34" charset="0"/>
                <a:ea typeface="Cambria" pitchFamily="34" charset="-122"/>
                <a:cs typeface="Cambria" pitchFamily="34" charset="-120"/>
              </a:rPr>
              <a:t>&lt; 1 sec</a:t>
            </a:r>
            <a:endParaRPr lang="en-US" sz="3400" dirty="0"/>
          </a:p>
        </p:txBody>
      </p:sp>
      <p:sp>
        <p:nvSpPr>
          <p:cNvPr id="14" name="Text 12"/>
          <p:cNvSpPr txBox="1"/>
          <p:nvPr/>
        </p:nvSpPr>
        <p:spPr>
          <a:xfrm>
            <a:off x="9372600" y="3063240"/>
            <a:ext cx="2240280" cy="822960"/>
          </a:xfrm>
          <a:prstGeom prst="rect">
            <a:avLst/>
          </a:prstGeom>
          <a:noFill/>
          <a:ln/>
        </p:spPr>
        <p:txBody>
          <a:bodyPr wrap="square" lIns="0" tIns="0" rIns="0" bIns="0" rtlCol="0" anchor="ctr"/>
          <a:lstStyle/>
          <a:p>
            <a:pPr marL="0" indent="0" algn="ctr">
              <a:buNone/>
            </a:pPr>
            <a:r>
              <a:rPr lang="en-US" sz="1200" dirty="0">
                <a:solidFill>
                  <a:srgbClr val="17223B"/>
                </a:solidFill>
                <a:latin typeface="Calibri" pitchFamily="34" charset="0"/>
                <a:ea typeface="Calibri" pitchFamily="34" charset="-122"/>
                <a:cs typeface="Calibri" pitchFamily="34" charset="-120"/>
              </a:rPr>
              <a:t>script execution</a:t>
            </a:r>
            <a:endParaRPr lang="en-US" sz="1200" dirty="0"/>
          </a:p>
          <a:p>
            <a:pPr marL="0" indent="0" algn="ctr">
              <a:buNone/>
            </a:pPr>
            <a:r>
              <a:rPr lang="en-US" sz="1200" dirty="0">
                <a:solidFill>
                  <a:srgbClr val="17223B"/>
                </a:solidFill>
                <a:latin typeface="Calibri" pitchFamily="34" charset="0"/>
                <a:ea typeface="Calibri" pitchFamily="34" charset="-122"/>
                <a:cs typeface="Calibri" pitchFamily="34" charset="-120"/>
              </a:rPr>
              <a:t>zero fatigue → flawless accuracy</a:t>
            </a:r>
            <a:endParaRPr lang="en-US" sz="1200" dirty="0"/>
          </a:p>
        </p:txBody>
      </p:sp>
      <p:sp>
        <p:nvSpPr>
          <p:cNvPr id="15" name="Text 13"/>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6" name="Text 14"/>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WHY MATLAB</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Key Technical Advantages</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3:00 PM</a:t>
            </a:r>
            <a:endParaRPr lang="en-US" sz="1150" dirty="0"/>
          </a:p>
        </p:txBody>
      </p:sp>
      <p:sp>
        <p:nvSpPr>
          <p:cNvPr id="6" name="Shape 4"/>
          <p:cNvSpPr/>
          <p:nvPr/>
        </p:nvSpPr>
        <p:spPr>
          <a:xfrm>
            <a:off x="548640" y="1600200"/>
            <a:ext cx="5394960" cy="2125980"/>
          </a:xfrm>
          <a:prstGeom prst="roundRect">
            <a:avLst>
              <a:gd name="adj" fmla="val 5161"/>
            </a:avLst>
          </a:prstGeom>
          <a:solidFill>
            <a:srgbClr val="E9EEF4"/>
          </a:solidFill>
          <a:ln w="12700">
            <a:solidFill>
              <a:srgbClr val="D7DEE7"/>
            </a:solidFill>
            <a:prstDash val="solid"/>
          </a:ln>
        </p:spPr>
        <p:txBody>
          <a:bodyPr/>
          <a:lstStyle/>
          <a:p>
            <a:endParaRPr lang="en-US"/>
          </a:p>
        </p:txBody>
      </p:sp>
      <p:sp>
        <p:nvSpPr>
          <p:cNvPr id="7" name="Shape 5"/>
          <p:cNvSpPr/>
          <p:nvPr/>
        </p:nvSpPr>
        <p:spPr>
          <a:xfrm>
            <a:off x="777240" y="1828800"/>
            <a:ext cx="502920" cy="502920"/>
          </a:xfrm>
          <a:prstGeom prst="ellipse">
            <a:avLst/>
          </a:prstGeom>
          <a:solidFill>
            <a:srgbClr val="0B2545"/>
          </a:solidFill>
          <a:ln/>
        </p:spPr>
        <p:txBody>
          <a:bodyPr/>
          <a:lstStyle/>
          <a:p>
            <a:endParaRPr lang="en-US"/>
          </a:p>
        </p:txBody>
      </p:sp>
      <p:sp>
        <p:nvSpPr>
          <p:cNvPr id="8" name="Text 6"/>
          <p:cNvSpPr txBox="1"/>
          <p:nvPr/>
        </p:nvSpPr>
        <p:spPr>
          <a:xfrm>
            <a:off x="777240" y="18288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Ez</a:t>
            </a:r>
            <a:endParaRPr lang="en-US" sz="1600" dirty="0"/>
          </a:p>
        </p:txBody>
      </p:sp>
      <p:sp>
        <p:nvSpPr>
          <p:cNvPr id="9" name="Text 7"/>
          <p:cNvSpPr txBox="1"/>
          <p:nvPr/>
        </p:nvSpPr>
        <p:spPr>
          <a:xfrm>
            <a:off x="1417320" y="1783080"/>
            <a:ext cx="4343400" cy="365760"/>
          </a:xfrm>
          <a:prstGeom prst="rect">
            <a:avLst/>
          </a:prstGeom>
          <a:noFill/>
          <a:ln/>
        </p:spPr>
        <p:txBody>
          <a:bodyPr wrap="square" lIns="0" tIns="0" rIns="0" bIns="0"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Easy to Use</a:t>
            </a:r>
            <a:endParaRPr lang="en-US" sz="2000" dirty="0"/>
          </a:p>
        </p:txBody>
      </p:sp>
      <p:sp>
        <p:nvSpPr>
          <p:cNvPr id="10" name="Text 8"/>
          <p:cNvSpPr txBox="1"/>
          <p:nvPr/>
        </p:nvSpPr>
        <p:spPr>
          <a:xfrm>
            <a:off x="1417320" y="2167128"/>
            <a:ext cx="4343400" cy="1440180"/>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Far simpler to write &amp; read than C or FORTRAN</a:t>
            </a:r>
            <a:endParaRPr lang="en-US" dirty="0"/>
          </a:p>
        </p:txBody>
      </p:sp>
      <p:sp>
        <p:nvSpPr>
          <p:cNvPr id="11" name="Shape 9"/>
          <p:cNvSpPr/>
          <p:nvPr/>
        </p:nvSpPr>
        <p:spPr>
          <a:xfrm>
            <a:off x="6217920" y="1600200"/>
            <a:ext cx="5394960" cy="2125980"/>
          </a:xfrm>
          <a:prstGeom prst="roundRect">
            <a:avLst>
              <a:gd name="adj" fmla="val 5161"/>
            </a:avLst>
          </a:prstGeom>
          <a:solidFill>
            <a:srgbClr val="E9EEF4"/>
          </a:solidFill>
          <a:ln w="12700">
            <a:solidFill>
              <a:srgbClr val="D7DEE7"/>
            </a:solidFill>
            <a:prstDash val="solid"/>
          </a:ln>
        </p:spPr>
        <p:txBody>
          <a:bodyPr/>
          <a:lstStyle/>
          <a:p>
            <a:endParaRPr lang="en-US"/>
          </a:p>
        </p:txBody>
      </p:sp>
      <p:sp>
        <p:nvSpPr>
          <p:cNvPr id="12" name="Shape 10"/>
          <p:cNvSpPr/>
          <p:nvPr/>
        </p:nvSpPr>
        <p:spPr>
          <a:xfrm>
            <a:off x="6446520" y="1828800"/>
            <a:ext cx="502920" cy="502920"/>
          </a:xfrm>
          <a:prstGeom prst="ellipse">
            <a:avLst/>
          </a:prstGeom>
          <a:solidFill>
            <a:srgbClr val="0B2545"/>
          </a:solidFill>
          <a:ln/>
        </p:spPr>
        <p:txBody>
          <a:bodyPr/>
          <a:lstStyle/>
          <a:p>
            <a:endParaRPr lang="en-US"/>
          </a:p>
        </p:txBody>
      </p:sp>
      <p:sp>
        <p:nvSpPr>
          <p:cNvPr id="13" name="Text 11"/>
          <p:cNvSpPr txBox="1"/>
          <p:nvPr/>
        </p:nvSpPr>
        <p:spPr>
          <a:xfrm>
            <a:off x="6446520" y="18288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4" name="Text 12"/>
          <p:cNvSpPr txBox="1"/>
          <p:nvPr/>
        </p:nvSpPr>
        <p:spPr>
          <a:xfrm>
            <a:off x="7086600" y="1783080"/>
            <a:ext cx="4343400" cy="365760"/>
          </a:xfrm>
          <a:prstGeom prst="rect">
            <a:avLst/>
          </a:prstGeom>
          <a:noFill/>
          <a:ln/>
        </p:spPr>
        <p:txBody>
          <a:bodyPr wrap="square" lIns="0" tIns="0" rIns="0" bIns="0"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Platform Independent</a:t>
            </a:r>
            <a:endParaRPr lang="en-US" sz="2000" dirty="0"/>
          </a:p>
        </p:txBody>
      </p:sp>
      <p:sp>
        <p:nvSpPr>
          <p:cNvPr id="15" name="Text 13"/>
          <p:cNvSpPr txBox="1"/>
          <p:nvPr/>
        </p:nvSpPr>
        <p:spPr>
          <a:xfrm>
            <a:off x="7086600" y="2167128"/>
            <a:ext cx="4343400" cy="1440180"/>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Same code runs on Windows, macOS, Linux, UNIX</a:t>
            </a:r>
            <a:endParaRPr lang="en-US" dirty="0"/>
          </a:p>
        </p:txBody>
      </p:sp>
      <p:sp>
        <p:nvSpPr>
          <p:cNvPr id="16" name="Shape 14"/>
          <p:cNvSpPr/>
          <p:nvPr/>
        </p:nvSpPr>
        <p:spPr>
          <a:xfrm>
            <a:off x="548640" y="4000500"/>
            <a:ext cx="5394960" cy="2125980"/>
          </a:xfrm>
          <a:prstGeom prst="roundRect">
            <a:avLst>
              <a:gd name="adj" fmla="val 5161"/>
            </a:avLst>
          </a:prstGeom>
          <a:solidFill>
            <a:srgbClr val="E9EEF4"/>
          </a:solidFill>
          <a:ln w="12700">
            <a:solidFill>
              <a:srgbClr val="D7DEE7"/>
            </a:solidFill>
            <a:prstDash val="solid"/>
          </a:ln>
        </p:spPr>
        <p:txBody>
          <a:bodyPr/>
          <a:lstStyle/>
          <a:p>
            <a:endParaRPr lang="en-US"/>
          </a:p>
        </p:txBody>
      </p:sp>
      <p:sp>
        <p:nvSpPr>
          <p:cNvPr id="17" name="Shape 15"/>
          <p:cNvSpPr/>
          <p:nvPr/>
        </p:nvSpPr>
        <p:spPr>
          <a:xfrm>
            <a:off x="777240" y="4229100"/>
            <a:ext cx="502920" cy="502920"/>
          </a:xfrm>
          <a:prstGeom prst="ellipse">
            <a:avLst/>
          </a:prstGeom>
          <a:solidFill>
            <a:srgbClr val="0B2545"/>
          </a:solidFill>
          <a:ln/>
        </p:spPr>
        <p:txBody>
          <a:bodyPr/>
          <a:lstStyle/>
          <a:p>
            <a:endParaRPr lang="en-US"/>
          </a:p>
        </p:txBody>
      </p:sp>
      <p:sp>
        <p:nvSpPr>
          <p:cNvPr id="18" name="Text 16"/>
          <p:cNvSpPr txBox="1"/>
          <p:nvPr/>
        </p:nvSpPr>
        <p:spPr>
          <a:xfrm>
            <a:off x="777240" y="42291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fx</a:t>
            </a:r>
            <a:endParaRPr lang="en-US" sz="1600" dirty="0"/>
          </a:p>
        </p:txBody>
      </p:sp>
      <p:sp>
        <p:nvSpPr>
          <p:cNvPr id="19" name="Text 17"/>
          <p:cNvSpPr txBox="1"/>
          <p:nvPr/>
        </p:nvSpPr>
        <p:spPr>
          <a:xfrm>
            <a:off x="1417320" y="4183380"/>
            <a:ext cx="4343400" cy="365760"/>
          </a:xfrm>
          <a:prstGeom prst="rect">
            <a:avLst/>
          </a:prstGeom>
          <a:noFill/>
          <a:ln/>
        </p:spPr>
        <p:txBody>
          <a:bodyPr wrap="square" lIns="0" tIns="0" rIns="0" bIns="0"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Predefined Functions</a:t>
            </a:r>
            <a:endParaRPr lang="en-US" sz="2000" dirty="0"/>
          </a:p>
        </p:txBody>
      </p:sp>
      <p:sp>
        <p:nvSpPr>
          <p:cNvPr id="20" name="Text 18"/>
          <p:cNvSpPr txBox="1"/>
          <p:nvPr/>
        </p:nvSpPr>
        <p:spPr>
          <a:xfrm>
            <a:off x="1417320" y="4567428"/>
            <a:ext cx="4343400" cy="1440180"/>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Thousands of built-in functions, ready to call</a:t>
            </a:r>
            <a:endParaRPr lang="en-US" dirty="0"/>
          </a:p>
        </p:txBody>
      </p:sp>
      <p:sp>
        <p:nvSpPr>
          <p:cNvPr id="21" name="Shape 19"/>
          <p:cNvSpPr/>
          <p:nvPr/>
        </p:nvSpPr>
        <p:spPr>
          <a:xfrm>
            <a:off x="6217920" y="4000500"/>
            <a:ext cx="5394960" cy="2125980"/>
          </a:xfrm>
          <a:prstGeom prst="roundRect">
            <a:avLst>
              <a:gd name="adj" fmla="val 5161"/>
            </a:avLst>
          </a:prstGeom>
          <a:solidFill>
            <a:srgbClr val="E9EEF4"/>
          </a:solidFill>
          <a:ln w="12700">
            <a:solidFill>
              <a:srgbClr val="D7DEE7"/>
            </a:solidFill>
            <a:prstDash val="solid"/>
          </a:ln>
        </p:spPr>
        <p:txBody>
          <a:bodyPr/>
          <a:lstStyle/>
          <a:p>
            <a:endParaRPr lang="en-US"/>
          </a:p>
        </p:txBody>
      </p:sp>
      <p:sp>
        <p:nvSpPr>
          <p:cNvPr id="22" name="Shape 20"/>
          <p:cNvSpPr/>
          <p:nvPr/>
        </p:nvSpPr>
        <p:spPr>
          <a:xfrm>
            <a:off x="6446520" y="4229100"/>
            <a:ext cx="502920" cy="502920"/>
          </a:xfrm>
          <a:prstGeom prst="ellipse">
            <a:avLst/>
          </a:prstGeom>
          <a:solidFill>
            <a:srgbClr val="0B2545"/>
          </a:solidFill>
          <a:ln/>
        </p:spPr>
        <p:txBody>
          <a:bodyPr/>
          <a:lstStyle/>
          <a:p>
            <a:endParaRPr lang="en-US"/>
          </a:p>
        </p:txBody>
      </p:sp>
      <p:sp>
        <p:nvSpPr>
          <p:cNvPr id="23" name="Text 21"/>
          <p:cNvSpPr txBox="1"/>
          <p:nvPr/>
        </p:nvSpPr>
        <p:spPr>
          <a:xfrm>
            <a:off x="6446520" y="42291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HW</a:t>
            </a:r>
            <a:endParaRPr lang="en-US" sz="1600" dirty="0"/>
          </a:p>
        </p:txBody>
      </p:sp>
      <p:sp>
        <p:nvSpPr>
          <p:cNvPr id="24" name="Text 22"/>
          <p:cNvSpPr txBox="1"/>
          <p:nvPr/>
        </p:nvSpPr>
        <p:spPr>
          <a:xfrm>
            <a:off x="7086600" y="4183380"/>
            <a:ext cx="4343400" cy="365760"/>
          </a:xfrm>
          <a:prstGeom prst="rect">
            <a:avLst/>
          </a:prstGeom>
          <a:noFill/>
          <a:ln/>
        </p:spPr>
        <p:txBody>
          <a:bodyPr wrap="square" lIns="0" tIns="0" rIns="0" bIns="0"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Hardware Interfacing</a:t>
            </a:r>
            <a:endParaRPr lang="en-US" sz="2000" dirty="0"/>
          </a:p>
        </p:txBody>
      </p:sp>
      <p:sp>
        <p:nvSpPr>
          <p:cNvPr id="25" name="Text 23"/>
          <p:cNvSpPr txBox="1"/>
          <p:nvPr/>
        </p:nvSpPr>
        <p:spPr>
          <a:xfrm>
            <a:off x="7086600" y="4567428"/>
            <a:ext cx="4343400" cy="1440180"/>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Connects to DSP chips, DAQ cards, microcontrollers</a:t>
            </a:r>
            <a:endParaRPr lang="en-US" dirty="0"/>
          </a:p>
        </p:txBody>
      </p:sp>
      <p:sp>
        <p:nvSpPr>
          <p:cNvPr id="26" name="Text 24"/>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27" name="Text 25"/>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WHY MATLAB</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Limitations &amp; Open-Source Alternatives</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3:04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Interpreted language — executes line-by-line, slower than compiled C</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Speed fix: write compact, vectorized matrix operations</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Commercial license is costly (Student Suite ≈ $89)</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Free alternatives exist: Octave, Scilab, Freemat</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Alternatives lack MATLAB's polish and commercial toolbox support</a:t>
            </a:r>
            <a:endParaRPr lang="en-US" sz="2000" dirty="0"/>
          </a:p>
        </p:txBody>
      </p:sp>
      <p:sp>
        <p:nvSpPr>
          <p:cNvPr id="7" name="Shape 5"/>
          <p:cNvSpPr/>
          <p:nvPr/>
        </p:nvSpPr>
        <p:spPr>
          <a:xfrm>
            <a:off x="6903720" y="1600200"/>
            <a:ext cx="4709160" cy="4526280"/>
          </a:xfrm>
          <a:prstGeom prst="roundRect">
            <a:avLst>
              <a:gd name="adj" fmla="val 2424"/>
            </a:avLst>
          </a:prstGeom>
          <a:solidFill>
            <a:srgbClr val="E9EEF4"/>
          </a:solidFill>
          <a:ln w="12700">
            <a:solidFill>
              <a:srgbClr val="D7DEE7"/>
            </a:solidFill>
            <a:prstDash val="solid"/>
          </a:ln>
        </p:spPr>
        <p:txBody>
          <a:bodyPr/>
          <a:lstStyle/>
          <a:p>
            <a:endParaRPr lang="en-US"/>
          </a:p>
        </p:txBody>
      </p:sp>
      <p:sp>
        <p:nvSpPr>
          <p:cNvPr id="8" name="Text 6"/>
          <p:cNvSpPr txBox="1"/>
          <p:nvPr/>
        </p:nvSpPr>
        <p:spPr>
          <a:xfrm>
            <a:off x="7178040" y="1828800"/>
            <a:ext cx="4160520" cy="365760"/>
          </a:xfrm>
          <a:prstGeom prst="rect">
            <a:avLst/>
          </a:prstGeom>
          <a:noFill/>
          <a:ln/>
        </p:spPr>
        <p:txBody>
          <a:bodyPr wrap="square" lIns="0" tIns="0" rIns="0" bIns="0" rtlCol="0" anchor="ctr"/>
          <a:lstStyle/>
          <a:p>
            <a:pPr marL="0" indent="0">
              <a:buNone/>
            </a:pPr>
            <a:r>
              <a:rPr lang="en-US" b="1" dirty="0">
                <a:solidFill>
                  <a:srgbClr val="0B2545"/>
                </a:solidFill>
                <a:latin typeface="Calibri" pitchFamily="34" charset="0"/>
                <a:ea typeface="Calibri" pitchFamily="34" charset="-122"/>
                <a:cs typeface="Calibri" pitchFamily="34" charset="-120"/>
              </a:rPr>
              <a:t>Free / Open-Source Alternatives</a:t>
            </a:r>
            <a:endParaRPr lang="en-US" dirty="0"/>
          </a:p>
        </p:txBody>
      </p:sp>
      <p:sp>
        <p:nvSpPr>
          <p:cNvPr id="9" name="Shape 7"/>
          <p:cNvSpPr/>
          <p:nvPr/>
        </p:nvSpPr>
        <p:spPr>
          <a:xfrm>
            <a:off x="7178040" y="2377440"/>
            <a:ext cx="4160520" cy="502920"/>
          </a:xfrm>
          <a:prstGeom prst="roundRect">
            <a:avLst>
              <a:gd name="adj" fmla="val 14545"/>
            </a:avLst>
          </a:prstGeom>
          <a:solidFill>
            <a:srgbClr val="FFFFFF"/>
          </a:solidFill>
          <a:ln w="12700">
            <a:solidFill>
              <a:srgbClr val="D7DEE7"/>
            </a:solidFill>
            <a:prstDash val="solid"/>
          </a:ln>
        </p:spPr>
        <p:txBody>
          <a:bodyPr/>
          <a:lstStyle/>
          <a:p>
            <a:endParaRPr lang="en-US"/>
          </a:p>
        </p:txBody>
      </p:sp>
      <p:sp>
        <p:nvSpPr>
          <p:cNvPr id="10" name="Text 8"/>
          <p:cNvSpPr txBox="1"/>
          <p:nvPr/>
        </p:nvSpPr>
        <p:spPr>
          <a:xfrm>
            <a:off x="7360920" y="2377440"/>
            <a:ext cx="3794760" cy="502920"/>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GNU Octave</a:t>
            </a:r>
            <a:endParaRPr lang="en-US" sz="1600" dirty="0"/>
          </a:p>
        </p:txBody>
      </p:sp>
      <p:sp>
        <p:nvSpPr>
          <p:cNvPr id="11" name="Shape 9"/>
          <p:cNvSpPr/>
          <p:nvPr/>
        </p:nvSpPr>
        <p:spPr>
          <a:xfrm>
            <a:off x="7178040" y="3017520"/>
            <a:ext cx="4160520" cy="502920"/>
          </a:xfrm>
          <a:prstGeom prst="roundRect">
            <a:avLst>
              <a:gd name="adj" fmla="val 14545"/>
            </a:avLst>
          </a:prstGeom>
          <a:solidFill>
            <a:srgbClr val="FFFFFF"/>
          </a:solidFill>
          <a:ln w="12700">
            <a:solidFill>
              <a:srgbClr val="D7DEE7"/>
            </a:solidFill>
            <a:prstDash val="solid"/>
          </a:ln>
        </p:spPr>
        <p:txBody>
          <a:bodyPr/>
          <a:lstStyle/>
          <a:p>
            <a:endParaRPr lang="en-US"/>
          </a:p>
        </p:txBody>
      </p:sp>
      <p:sp>
        <p:nvSpPr>
          <p:cNvPr id="12" name="Text 10"/>
          <p:cNvSpPr txBox="1"/>
          <p:nvPr/>
        </p:nvSpPr>
        <p:spPr>
          <a:xfrm>
            <a:off x="7360920" y="3017520"/>
            <a:ext cx="3794760" cy="502920"/>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Scilab</a:t>
            </a:r>
            <a:endParaRPr lang="en-US" sz="1600" dirty="0"/>
          </a:p>
        </p:txBody>
      </p:sp>
      <p:sp>
        <p:nvSpPr>
          <p:cNvPr id="13" name="Shape 11"/>
          <p:cNvSpPr/>
          <p:nvPr/>
        </p:nvSpPr>
        <p:spPr>
          <a:xfrm>
            <a:off x="7178040" y="3657600"/>
            <a:ext cx="4160520" cy="502920"/>
          </a:xfrm>
          <a:prstGeom prst="roundRect">
            <a:avLst>
              <a:gd name="adj" fmla="val 14545"/>
            </a:avLst>
          </a:prstGeom>
          <a:solidFill>
            <a:srgbClr val="FFFFFF"/>
          </a:solidFill>
          <a:ln w="12700">
            <a:solidFill>
              <a:srgbClr val="D7DEE7"/>
            </a:solidFill>
            <a:prstDash val="solid"/>
          </a:ln>
        </p:spPr>
        <p:txBody>
          <a:bodyPr/>
          <a:lstStyle/>
          <a:p>
            <a:endParaRPr lang="en-US"/>
          </a:p>
        </p:txBody>
      </p:sp>
      <p:sp>
        <p:nvSpPr>
          <p:cNvPr id="14" name="Text 12"/>
          <p:cNvSpPr txBox="1"/>
          <p:nvPr/>
        </p:nvSpPr>
        <p:spPr>
          <a:xfrm>
            <a:off x="7360920" y="3657600"/>
            <a:ext cx="3794760" cy="502920"/>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FreeMat</a:t>
            </a:r>
            <a:endParaRPr lang="en-US" sz="1600" dirty="0"/>
          </a:p>
        </p:txBody>
      </p:sp>
      <p:sp>
        <p:nvSpPr>
          <p:cNvPr id="15" name="Text 13"/>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6" name="Text 14"/>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MATLAB FUNDAMENTALS</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Demystifying MATLAB Release Names</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3:07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Launched commercially in 1984</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Since 2006, MathWorks issues two major releases per year</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“a” suffix = Spring release (March / April)</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“b” suffix = Autumn release (September)</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Example: 2012 → R2012a (spring), R2012b (autumn)</a:t>
            </a:r>
            <a:endParaRPr lang="en-US" sz="2000" dirty="0"/>
          </a:p>
        </p:txBody>
      </p:sp>
      <p:sp>
        <p:nvSpPr>
          <p:cNvPr id="7" name="Shape 5"/>
          <p:cNvSpPr/>
          <p:nvPr/>
        </p:nvSpPr>
        <p:spPr>
          <a:xfrm>
            <a:off x="6903720" y="1600200"/>
            <a:ext cx="4709160" cy="4526280"/>
          </a:xfrm>
          <a:prstGeom prst="roundRect">
            <a:avLst>
              <a:gd name="adj" fmla="val 2424"/>
            </a:avLst>
          </a:prstGeom>
          <a:solidFill>
            <a:srgbClr val="E9EEF4"/>
          </a:solidFill>
          <a:ln w="12700">
            <a:solidFill>
              <a:srgbClr val="D7DEE7"/>
            </a:solidFill>
            <a:prstDash val="solid"/>
          </a:ln>
        </p:spPr>
        <p:txBody>
          <a:bodyPr/>
          <a:lstStyle/>
          <a:p>
            <a:endParaRPr lang="en-US"/>
          </a:p>
        </p:txBody>
      </p:sp>
      <p:sp>
        <p:nvSpPr>
          <p:cNvPr id="8" name="Shape 6"/>
          <p:cNvSpPr/>
          <p:nvPr/>
        </p:nvSpPr>
        <p:spPr>
          <a:xfrm>
            <a:off x="7178040" y="1874520"/>
            <a:ext cx="1943100" cy="502920"/>
          </a:xfrm>
          <a:prstGeom prst="roundRect">
            <a:avLst>
              <a:gd name="adj" fmla="val 14545"/>
            </a:avLst>
          </a:prstGeom>
          <a:solidFill>
            <a:srgbClr val="DCE6F0"/>
          </a:solidFill>
          <a:ln/>
        </p:spPr>
        <p:txBody>
          <a:bodyPr/>
          <a:lstStyle/>
          <a:p>
            <a:endParaRPr lang="en-US"/>
          </a:p>
        </p:txBody>
      </p:sp>
      <p:sp>
        <p:nvSpPr>
          <p:cNvPr id="9" name="Text 7"/>
          <p:cNvSpPr txBox="1"/>
          <p:nvPr/>
        </p:nvSpPr>
        <p:spPr>
          <a:xfrm>
            <a:off x="7178040" y="1874520"/>
            <a:ext cx="194310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R2006a</a:t>
            </a:r>
            <a:endParaRPr lang="en-US" sz="1600" dirty="0"/>
          </a:p>
        </p:txBody>
      </p:sp>
      <p:sp>
        <p:nvSpPr>
          <p:cNvPr id="10" name="Shape 8"/>
          <p:cNvSpPr/>
          <p:nvPr/>
        </p:nvSpPr>
        <p:spPr>
          <a:xfrm>
            <a:off x="9395460" y="1874520"/>
            <a:ext cx="1943100" cy="502920"/>
          </a:xfrm>
          <a:prstGeom prst="roundRect">
            <a:avLst>
              <a:gd name="adj" fmla="val 14545"/>
            </a:avLst>
          </a:prstGeom>
          <a:solidFill>
            <a:srgbClr val="0B2545"/>
          </a:solidFill>
          <a:ln/>
        </p:spPr>
        <p:txBody>
          <a:bodyPr/>
          <a:lstStyle/>
          <a:p>
            <a:endParaRPr lang="en-US"/>
          </a:p>
        </p:txBody>
      </p:sp>
      <p:sp>
        <p:nvSpPr>
          <p:cNvPr id="11" name="Text 9"/>
          <p:cNvSpPr txBox="1"/>
          <p:nvPr/>
        </p:nvSpPr>
        <p:spPr>
          <a:xfrm>
            <a:off x="9395460" y="1874520"/>
            <a:ext cx="19431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R2006b</a:t>
            </a:r>
            <a:endParaRPr lang="en-US" sz="1600" dirty="0"/>
          </a:p>
        </p:txBody>
      </p:sp>
      <p:sp>
        <p:nvSpPr>
          <p:cNvPr id="12" name="Shape 10"/>
          <p:cNvSpPr/>
          <p:nvPr/>
        </p:nvSpPr>
        <p:spPr>
          <a:xfrm>
            <a:off x="7178040" y="2532888"/>
            <a:ext cx="1943100" cy="502920"/>
          </a:xfrm>
          <a:prstGeom prst="roundRect">
            <a:avLst>
              <a:gd name="adj" fmla="val 14545"/>
            </a:avLst>
          </a:prstGeom>
          <a:solidFill>
            <a:srgbClr val="DCE6F0"/>
          </a:solidFill>
          <a:ln/>
        </p:spPr>
        <p:txBody>
          <a:bodyPr/>
          <a:lstStyle/>
          <a:p>
            <a:endParaRPr lang="en-US"/>
          </a:p>
        </p:txBody>
      </p:sp>
      <p:sp>
        <p:nvSpPr>
          <p:cNvPr id="13" name="Text 11"/>
          <p:cNvSpPr txBox="1"/>
          <p:nvPr/>
        </p:nvSpPr>
        <p:spPr>
          <a:xfrm>
            <a:off x="7178040" y="2532888"/>
            <a:ext cx="194310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R2012a</a:t>
            </a:r>
            <a:endParaRPr lang="en-US" sz="1600" dirty="0"/>
          </a:p>
        </p:txBody>
      </p:sp>
      <p:sp>
        <p:nvSpPr>
          <p:cNvPr id="14" name="Shape 12"/>
          <p:cNvSpPr/>
          <p:nvPr/>
        </p:nvSpPr>
        <p:spPr>
          <a:xfrm>
            <a:off x="9395460" y="2532888"/>
            <a:ext cx="1943100" cy="502920"/>
          </a:xfrm>
          <a:prstGeom prst="roundRect">
            <a:avLst>
              <a:gd name="adj" fmla="val 14545"/>
            </a:avLst>
          </a:prstGeom>
          <a:solidFill>
            <a:srgbClr val="0B2545"/>
          </a:solidFill>
          <a:ln/>
        </p:spPr>
        <p:txBody>
          <a:bodyPr/>
          <a:lstStyle/>
          <a:p>
            <a:endParaRPr lang="en-US"/>
          </a:p>
        </p:txBody>
      </p:sp>
      <p:sp>
        <p:nvSpPr>
          <p:cNvPr id="15" name="Text 13"/>
          <p:cNvSpPr txBox="1"/>
          <p:nvPr/>
        </p:nvSpPr>
        <p:spPr>
          <a:xfrm>
            <a:off x="9395460" y="2532888"/>
            <a:ext cx="19431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R2012b</a:t>
            </a:r>
            <a:endParaRPr lang="en-US" sz="1600" dirty="0"/>
          </a:p>
        </p:txBody>
      </p:sp>
      <p:sp>
        <p:nvSpPr>
          <p:cNvPr id="16" name="Shape 14"/>
          <p:cNvSpPr/>
          <p:nvPr/>
        </p:nvSpPr>
        <p:spPr>
          <a:xfrm>
            <a:off x="7178040" y="3191256"/>
            <a:ext cx="1943100" cy="502920"/>
          </a:xfrm>
          <a:prstGeom prst="roundRect">
            <a:avLst>
              <a:gd name="adj" fmla="val 14545"/>
            </a:avLst>
          </a:prstGeom>
          <a:solidFill>
            <a:srgbClr val="DCE6F0"/>
          </a:solidFill>
          <a:ln/>
        </p:spPr>
        <p:txBody>
          <a:bodyPr/>
          <a:lstStyle/>
          <a:p>
            <a:endParaRPr lang="en-US"/>
          </a:p>
        </p:txBody>
      </p:sp>
      <p:sp>
        <p:nvSpPr>
          <p:cNvPr id="17" name="Text 15"/>
          <p:cNvSpPr txBox="1"/>
          <p:nvPr/>
        </p:nvSpPr>
        <p:spPr>
          <a:xfrm>
            <a:off x="7178040" y="3191256"/>
            <a:ext cx="194310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R2018a</a:t>
            </a:r>
            <a:endParaRPr lang="en-US" sz="1600" dirty="0"/>
          </a:p>
        </p:txBody>
      </p:sp>
      <p:sp>
        <p:nvSpPr>
          <p:cNvPr id="18" name="Shape 16"/>
          <p:cNvSpPr/>
          <p:nvPr/>
        </p:nvSpPr>
        <p:spPr>
          <a:xfrm>
            <a:off x="9395460" y="3191256"/>
            <a:ext cx="1943100" cy="502920"/>
          </a:xfrm>
          <a:prstGeom prst="roundRect">
            <a:avLst>
              <a:gd name="adj" fmla="val 14545"/>
            </a:avLst>
          </a:prstGeom>
          <a:solidFill>
            <a:srgbClr val="0B2545"/>
          </a:solidFill>
          <a:ln/>
        </p:spPr>
        <p:txBody>
          <a:bodyPr/>
          <a:lstStyle/>
          <a:p>
            <a:endParaRPr lang="en-US"/>
          </a:p>
        </p:txBody>
      </p:sp>
      <p:sp>
        <p:nvSpPr>
          <p:cNvPr id="19" name="Text 17"/>
          <p:cNvSpPr txBox="1"/>
          <p:nvPr/>
        </p:nvSpPr>
        <p:spPr>
          <a:xfrm>
            <a:off x="9395460" y="3191256"/>
            <a:ext cx="19431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R2018b</a:t>
            </a:r>
            <a:endParaRPr lang="en-US" sz="1600" dirty="0"/>
          </a:p>
        </p:txBody>
      </p:sp>
      <p:sp>
        <p:nvSpPr>
          <p:cNvPr id="20" name="Shape 18"/>
          <p:cNvSpPr/>
          <p:nvPr/>
        </p:nvSpPr>
        <p:spPr>
          <a:xfrm>
            <a:off x="7178040" y="3849624"/>
            <a:ext cx="1943100" cy="502920"/>
          </a:xfrm>
          <a:prstGeom prst="roundRect">
            <a:avLst>
              <a:gd name="adj" fmla="val 14545"/>
            </a:avLst>
          </a:prstGeom>
          <a:solidFill>
            <a:srgbClr val="DCE6F0"/>
          </a:solidFill>
          <a:ln/>
        </p:spPr>
        <p:txBody>
          <a:bodyPr/>
          <a:lstStyle/>
          <a:p>
            <a:endParaRPr lang="en-US"/>
          </a:p>
        </p:txBody>
      </p:sp>
      <p:sp>
        <p:nvSpPr>
          <p:cNvPr id="21" name="Text 19"/>
          <p:cNvSpPr txBox="1"/>
          <p:nvPr/>
        </p:nvSpPr>
        <p:spPr>
          <a:xfrm>
            <a:off x="7178040" y="3849624"/>
            <a:ext cx="194310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R2024a</a:t>
            </a:r>
            <a:endParaRPr lang="en-US" sz="1600" dirty="0"/>
          </a:p>
        </p:txBody>
      </p:sp>
      <p:sp>
        <p:nvSpPr>
          <p:cNvPr id="22" name="Shape 20"/>
          <p:cNvSpPr/>
          <p:nvPr/>
        </p:nvSpPr>
        <p:spPr>
          <a:xfrm>
            <a:off x="9395460" y="3849624"/>
            <a:ext cx="1943100" cy="502920"/>
          </a:xfrm>
          <a:prstGeom prst="roundRect">
            <a:avLst>
              <a:gd name="adj" fmla="val 14545"/>
            </a:avLst>
          </a:prstGeom>
          <a:solidFill>
            <a:srgbClr val="0B2545"/>
          </a:solidFill>
          <a:ln/>
        </p:spPr>
        <p:txBody>
          <a:bodyPr/>
          <a:lstStyle/>
          <a:p>
            <a:endParaRPr lang="en-US"/>
          </a:p>
        </p:txBody>
      </p:sp>
      <p:sp>
        <p:nvSpPr>
          <p:cNvPr id="23" name="Text 21"/>
          <p:cNvSpPr txBox="1"/>
          <p:nvPr/>
        </p:nvSpPr>
        <p:spPr>
          <a:xfrm>
            <a:off x="9395460" y="3849624"/>
            <a:ext cx="19431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R2024b</a:t>
            </a:r>
            <a:endParaRPr lang="en-US" sz="1600" dirty="0"/>
          </a:p>
        </p:txBody>
      </p:sp>
      <p:sp>
        <p:nvSpPr>
          <p:cNvPr id="24" name="Text 22"/>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25" name="Text 23"/>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THE MATLAB DESKTOP</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Exploring the MATLAB Workspace Layout</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3:09 PM</a:t>
            </a:r>
            <a:endParaRPr lang="en-US" sz="1150" dirty="0"/>
          </a:p>
        </p:txBody>
      </p:sp>
      <p:sp>
        <p:nvSpPr>
          <p:cNvPr id="6" name="Shape 4"/>
          <p:cNvSpPr/>
          <p:nvPr/>
        </p:nvSpPr>
        <p:spPr>
          <a:xfrm>
            <a:off x="548640" y="1600200"/>
            <a:ext cx="5394960" cy="2125980"/>
          </a:xfrm>
          <a:prstGeom prst="roundRect">
            <a:avLst>
              <a:gd name="adj" fmla="val 5161"/>
            </a:avLst>
          </a:prstGeom>
          <a:solidFill>
            <a:srgbClr val="DCE6F0"/>
          </a:solidFill>
          <a:ln w="12700">
            <a:solidFill>
              <a:srgbClr val="D7DEE7"/>
            </a:solidFill>
            <a:prstDash val="solid"/>
          </a:ln>
        </p:spPr>
        <p:txBody>
          <a:bodyPr/>
          <a:lstStyle/>
          <a:p>
            <a:endParaRPr lang="en-US"/>
          </a:p>
        </p:txBody>
      </p:sp>
      <p:sp>
        <p:nvSpPr>
          <p:cNvPr id="7" name="Text 5"/>
          <p:cNvSpPr txBox="1"/>
          <p:nvPr/>
        </p:nvSpPr>
        <p:spPr>
          <a:xfrm>
            <a:off x="777240" y="1783080"/>
            <a:ext cx="4937760" cy="365760"/>
          </a:xfrm>
          <a:prstGeom prst="rect">
            <a:avLst/>
          </a:prstGeom>
          <a:noFill/>
          <a:ln/>
        </p:spPr>
        <p:txBody>
          <a:bodyPr wrap="square" lIns="0" tIns="0" rIns="0" bIns="0"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Command Window</a:t>
            </a:r>
            <a:endParaRPr lang="en-US" sz="2000" dirty="0"/>
          </a:p>
        </p:txBody>
      </p:sp>
      <p:sp>
        <p:nvSpPr>
          <p:cNvPr id="8" name="Text 6"/>
          <p:cNvSpPr txBox="1"/>
          <p:nvPr/>
        </p:nvSpPr>
        <p:spPr>
          <a:xfrm>
            <a:off x="777240" y="2167128"/>
            <a:ext cx="4937760" cy="1394460"/>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Type &amp; run commands at the &gt;&gt; prompt</a:t>
            </a:r>
            <a:endParaRPr lang="en-US" dirty="0"/>
          </a:p>
        </p:txBody>
      </p:sp>
      <p:sp>
        <p:nvSpPr>
          <p:cNvPr id="9" name="Shape 7"/>
          <p:cNvSpPr/>
          <p:nvPr/>
        </p:nvSpPr>
        <p:spPr>
          <a:xfrm>
            <a:off x="6217920" y="1600200"/>
            <a:ext cx="5394960" cy="2125980"/>
          </a:xfrm>
          <a:prstGeom prst="roundRect">
            <a:avLst>
              <a:gd name="adj" fmla="val 5161"/>
            </a:avLst>
          </a:prstGeom>
          <a:solidFill>
            <a:srgbClr val="E9EEF4"/>
          </a:solidFill>
          <a:ln w="12700">
            <a:solidFill>
              <a:srgbClr val="D7DEE7"/>
            </a:solidFill>
            <a:prstDash val="solid"/>
          </a:ln>
        </p:spPr>
        <p:txBody>
          <a:bodyPr/>
          <a:lstStyle/>
          <a:p>
            <a:endParaRPr lang="en-US"/>
          </a:p>
        </p:txBody>
      </p:sp>
      <p:sp>
        <p:nvSpPr>
          <p:cNvPr id="10" name="Text 8"/>
          <p:cNvSpPr txBox="1"/>
          <p:nvPr/>
        </p:nvSpPr>
        <p:spPr>
          <a:xfrm>
            <a:off x="6446520" y="1783080"/>
            <a:ext cx="4937760" cy="365760"/>
          </a:xfrm>
          <a:prstGeom prst="rect">
            <a:avLst/>
          </a:prstGeom>
          <a:noFill/>
          <a:ln/>
        </p:spPr>
        <p:txBody>
          <a:bodyPr wrap="square" lIns="0" tIns="0" rIns="0" bIns="0"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Workspace</a:t>
            </a:r>
            <a:endParaRPr lang="en-US" sz="2000" dirty="0"/>
          </a:p>
        </p:txBody>
      </p:sp>
      <p:sp>
        <p:nvSpPr>
          <p:cNvPr id="11" name="Text 9"/>
          <p:cNvSpPr txBox="1"/>
          <p:nvPr/>
        </p:nvSpPr>
        <p:spPr>
          <a:xfrm>
            <a:off x="6446520" y="2167128"/>
            <a:ext cx="4937760" cy="1394460"/>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Shows active variable names, size, class, value</a:t>
            </a:r>
            <a:endParaRPr lang="en-US" dirty="0"/>
          </a:p>
        </p:txBody>
      </p:sp>
      <p:sp>
        <p:nvSpPr>
          <p:cNvPr id="12" name="Shape 10"/>
          <p:cNvSpPr/>
          <p:nvPr/>
        </p:nvSpPr>
        <p:spPr>
          <a:xfrm>
            <a:off x="548640" y="4000500"/>
            <a:ext cx="5394960" cy="2125980"/>
          </a:xfrm>
          <a:prstGeom prst="roundRect">
            <a:avLst>
              <a:gd name="adj" fmla="val 5161"/>
            </a:avLst>
          </a:prstGeom>
          <a:solidFill>
            <a:srgbClr val="DCE6F0"/>
          </a:solidFill>
          <a:ln w="12700">
            <a:solidFill>
              <a:srgbClr val="D7DEE7"/>
            </a:solidFill>
            <a:prstDash val="solid"/>
          </a:ln>
        </p:spPr>
        <p:txBody>
          <a:bodyPr/>
          <a:lstStyle/>
          <a:p>
            <a:endParaRPr lang="en-US"/>
          </a:p>
        </p:txBody>
      </p:sp>
      <p:sp>
        <p:nvSpPr>
          <p:cNvPr id="13" name="Text 11"/>
          <p:cNvSpPr txBox="1"/>
          <p:nvPr/>
        </p:nvSpPr>
        <p:spPr>
          <a:xfrm>
            <a:off x="777240" y="4183380"/>
            <a:ext cx="4937760" cy="365760"/>
          </a:xfrm>
          <a:prstGeom prst="rect">
            <a:avLst/>
          </a:prstGeom>
          <a:noFill/>
          <a:ln/>
        </p:spPr>
        <p:txBody>
          <a:bodyPr wrap="square" lIns="0" tIns="0" rIns="0" bIns="0"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Command History</a:t>
            </a:r>
            <a:endParaRPr lang="en-US" sz="2000" dirty="0"/>
          </a:p>
        </p:txBody>
      </p:sp>
      <p:sp>
        <p:nvSpPr>
          <p:cNvPr id="14" name="Text 12"/>
          <p:cNvSpPr txBox="1"/>
          <p:nvPr/>
        </p:nvSpPr>
        <p:spPr>
          <a:xfrm>
            <a:off x="777240" y="4567428"/>
            <a:ext cx="4937760" cy="1394460"/>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Chronological log of every command, time-stamped</a:t>
            </a:r>
            <a:endParaRPr lang="en-US" dirty="0"/>
          </a:p>
        </p:txBody>
      </p:sp>
      <p:sp>
        <p:nvSpPr>
          <p:cNvPr id="15" name="Shape 13"/>
          <p:cNvSpPr/>
          <p:nvPr/>
        </p:nvSpPr>
        <p:spPr>
          <a:xfrm>
            <a:off x="6217920" y="4000500"/>
            <a:ext cx="5394960" cy="2125980"/>
          </a:xfrm>
          <a:prstGeom prst="roundRect">
            <a:avLst>
              <a:gd name="adj" fmla="val 5161"/>
            </a:avLst>
          </a:prstGeom>
          <a:solidFill>
            <a:srgbClr val="E9EEF4"/>
          </a:solidFill>
          <a:ln w="12700">
            <a:solidFill>
              <a:srgbClr val="D7DEE7"/>
            </a:solidFill>
            <a:prstDash val="solid"/>
          </a:ln>
        </p:spPr>
        <p:txBody>
          <a:bodyPr/>
          <a:lstStyle/>
          <a:p>
            <a:endParaRPr lang="en-US"/>
          </a:p>
        </p:txBody>
      </p:sp>
      <p:sp>
        <p:nvSpPr>
          <p:cNvPr id="16" name="Text 14"/>
          <p:cNvSpPr txBox="1"/>
          <p:nvPr/>
        </p:nvSpPr>
        <p:spPr>
          <a:xfrm>
            <a:off x="6446520" y="4183380"/>
            <a:ext cx="4937760" cy="365760"/>
          </a:xfrm>
          <a:prstGeom prst="rect">
            <a:avLst/>
          </a:prstGeom>
          <a:noFill/>
          <a:ln/>
        </p:spPr>
        <p:txBody>
          <a:bodyPr wrap="square" lIns="0" tIns="0" rIns="0" bIns="0"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Current Folder</a:t>
            </a:r>
            <a:endParaRPr lang="en-US" sz="2000" dirty="0"/>
          </a:p>
        </p:txBody>
      </p:sp>
      <p:sp>
        <p:nvSpPr>
          <p:cNvPr id="17" name="Text 15"/>
          <p:cNvSpPr txBox="1"/>
          <p:nvPr/>
        </p:nvSpPr>
        <p:spPr>
          <a:xfrm>
            <a:off x="6446520" y="4567428"/>
            <a:ext cx="4937760" cy="1394460"/>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Your active working directory — files must live here to run</a:t>
            </a:r>
            <a:endParaRPr lang="en-US" dirty="0"/>
          </a:p>
        </p:txBody>
      </p:sp>
      <p:sp>
        <p:nvSpPr>
          <p:cNvPr id="18" name="Text 16"/>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9" name="Text 17"/>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THE MATLAB DESKTOP</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Customizing &amp; Restoring Your Workspace</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3:13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All desktop panels are fully modular</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Undock: click the drop-down arrow to float a panel</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Close unused panels to maximize coding space</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Restore: Desktop menu → check the missing panel's name</a:t>
            </a:r>
            <a:endParaRPr lang="en-US" sz="2000" dirty="0"/>
          </a:p>
        </p:txBody>
      </p:sp>
      <p:sp>
        <p:nvSpPr>
          <p:cNvPr id="7" name="Shape 5"/>
          <p:cNvSpPr/>
          <p:nvPr/>
        </p:nvSpPr>
        <p:spPr>
          <a:xfrm>
            <a:off x="6903720" y="1600200"/>
            <a:ext cx="4709160" cy="4526280"/>
          </a:xfrm>
          <a:prstGeom prst="roundRect">
            <a:avLst>
              <a:gd name="adj" fmla="val 2424"/>
            </a:avLst>
          </a:prstGeom>
          <a:solidFill>
            <a:srgbClr val="E9EEF4"/>
          </a:solidFill>
          <a:ln w="12700">
            <a:solidFill>
              <a:srgbClr val="D7DEE7"/>
            </a:solidFill>
            <a:prstDash val="solid"/>
          </a:ln>
        </p:spPr>
        <p:txBody>
          <a:bodyPr/>
          <a:lstStyle/>
          <a:p>
            <a:endParaRPr lang="en-US"/>
          </a:p>
        </p:txBody>
      </p:sp>
      <p:sp>
        <p:nvSpPr>
          <p:cNvPr id="8" name="Text 6"/>
          <p:cNvSpPr txBox="1"/>
          <p:nvPr/>
        </p:nvSpPr>
        <p:spPr>
          <a:xfrm>
            <a:off x="7178040" y="1828800"/>
            <a:ext cx="4160520" cy="320040"/>
          </a:xfrm>
          <a:prstGeom prst="rect">
            <a:avLst/>
          </a:prstGeom>
          <a:noFill/>
          <a:ln/>
        </p:spPr>
        <p:txBody>
          <a:bodyPr wrap="square" lIns="0" tIns="0" rIns="0" bIns="0" rtlCol="0" anchor="ctr"/>
          <a:lstStyle/>
          <a:p>
            <a:pPr marL="0" indent="0">
              <a:buNone/>
            </a:pPr>
            <a:r>
              <a:rPr lang="en-US" b="1" dirty="0">
                <a:solidFill>
                  <a:srgbClr val="0B2545"/>
                </a:solidFill>
                <a:latin typeface="Calibri" pitchFamily="34" charset="0"/>
                <a:ea typeface="Calibri" pitchFamily="34" charset="-122"/>
                <a:cs typeface="Calibri" pitchFamily="34" charset="-120"/>
              </a:rPr>
              <a:t>Panel States</a:t>
            </a:r>
            <a:endParaRPr lang="en-US" dirty="0"/>
          </a:p>
        </p:txBody>
      </p:sp>
      <p:sp>
        <p:nvSpPr>
          <p:cNvPr id="9" name="Shape 7"/>
          <p:cNvSpPr/>
          <p:nvPr/>
        </p:nvSpPr>
        <p:spPr>
          <a:xfrm>
            <a:off x="7178040" y="2331720"/>
            <a:ext cx="4160520" cy="457200"/>
          </a:xfrm>
          <a:prstGeom prst="roundRect">
            <a:avLst>
              <a:gd name="adj" fmla="val 16000"/>
            </a:avLst>
          </a:prstGeom>
          <a:solidFill>
            <a:srgbClr val="DCE6F0"/>
          </a:solidFill>
          <a:ln/>
        </p:spPr>
        <p:txBody>
          <a:bodyPr/>
          <a:lstStyle/>
          <a:p>
            <a:endParaRPr lang="en-US"/>
          </a:p>
        </p:txBody>
      </p:sp>
      <p:sp>
        <p:nvSpPr>
          <p:cNvPr id="10" name="Text 8"/>
          <p:cNvSpPr txBox="1"/>
          <p:nvPr/>
        </p:nvSpPr>
        <p:spPr>
          <a:xfrm>
            <a:off x="7360920" y="2331720"/>
            <a:ext cx="3794760" cy="457200"/>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Docked</a:t>
            </a:r>
            <a:endParaRPr lang="en-US" sz="1600" dirty="0"/>
          </a:p>
        </p:txBody>
      </p:sp>
      <p:sp>
        <p:nvSpPr>
          <p:cNvPr id="11" name="Shape 9"/>
          <p:cNvSpPr/>
          <p:nvPr/>
        </p:nvSpPr>
        <p:spPr>
          <a:xfrm>
            <a:off x="7178040" y="2898648"/>
            <a:ext cx="4160520" cy="457200"/>
          </a:xfrm>
          <a:prstGeom prst="roundRect">
            <a:avLst>
              <a:gd name="adj" fmla="val 16000"/>
            </a:avLst>
          </a:prstGeom>
          <a:solidFill>
            <a:srgbClr val="FCEFCB"/>
          </a:solidFill>
          <a:ln/>
        </p:spPr>
        <p:txBody>
          <a:bodyPr/>
          <a:lstStyle/>
          <a:p>
            <a:endParaRPr lang="en-US"/>
          </a:p>
        </p:txBody>
      </p:sp>
      <p:sp>
        <p:nvSpPr>
          <p:cNvPr id="12" name="Text 10"/>
          <p:cNvSpPr txBox="1"/>
          <p:nvPr/>
        </p:nvSpPr>
        <p:spPr>
          <a:xfrm>
            <a:off x="7360920" y="2898648"/>
            <a:ext cx="3794760" cy="457200"/>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Floating (Undocked)</a:t>
            </a:r>
            <a:endParaRPr lang="en-US" sz="1600" dirty="0"/>
          </a:p>
        </p:txBody>
      </p:sp>
      <p:sp>
        <p:nvSpPr>
          <p:cNvPr id="13" name="Shape 11"/>
          <p:cNvSpPr/>
          <p:nvPr/>
        </p:nvSpPr>
        <p:spPr>
          <a:xfrm>
            <a:off x="7178040" y="3465576"/>
            <a:ext cx="4160520" cy="457200"/>
          </a:xfrm>
          <a:prstGeom prst="roundRect">
            <a:avLst>
              <a:gd name="adj" fmla="val 16000"/>
            </a:avLst>
          </a:prstGeom>
          <a:solidFill>
            <a:srgbClr val="F0F0F0"/>
          </a:solidFill>
          <a:ln/>
        </p:spPr>
        <p:txBody>
          <a:bodyPr/>
          <a:lstStyle/>
          <a:p>
            <a:endParaRPr lang="en-US"/>
          </a:p>
        </p:txBody>
      </p:sp>
      <p:sp>
        <p:nvSpPr>
          <p:cNvPr id="14" name="Text 12"/>
          <p:cNvSpPr txBox="1"/>
          <p:nvPr/>
        </p:nvSpPr>
        <p:spPr>
          <a:xfrm>
            <a:off x="7360920" y="3465576"/>
            <a:ext cx="3794760" cy="457200"/>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Closed</a:t>
            </a:r>
            <a:endParaRPr lang="en-US" sz="1600" dirty="0"/>
          </a:p>
        </p:txBody>
      </p:sp>
      <p:sp>
        <p:nvSpPr>
          <p:cNvPr id="15" name="Shape 13"/>
          <p:cNvSpPr/>
          <p:nvPr/>
        </p:nvSpPr>
        <p:spPr>
          <a:xfrm>
            <a:off x="7178040" y="4032504"/>
            <a:ext cx="4160520" cy="457200"/>
          </a:xfrm>
          <a:prstGeom prst="roundRect">
            <a:avLst>
              <a:gd name="adj" fmla="val 16000"/>
            </a:avLst>
          </a:prstGeom>
          <a:solidFill>
            <a:srgbClr val="E4F1EA"/>
          </a:solidFill>
          <a:ln/>
        </p:spPr>
        <p:txBody>
          <a:bodyPr/>
          <a:lstStyle/>
          <a:p>
            <a:endParaRPr lang="en-US"/>
          </a:p>
        </p:txBody>
      </p:sp>
      <p:sp>
        <p:nvSpPr>
          <p:cNvPr id="16" name="Text 14"/>
          <p:cNvSpPr txBox="1"/>
          <p:nvPr/>
        </p:nvSpPr>
        <p:spPr>
          <a:xfrm>
            <a:off x="7360920" y="4032504"/>
            <a:ext cx="3794760" cy="457200"/>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Restored via Desktop menu</a:t>
            </a:r>
            <a:endParaRPr lang="en-US" sz="1600" dirty="0"/>
          </a:p>
        </p:txBody>
      </p:sp>
      <p:sp>
        <p:nvSpPr>
          <p:cNvPr id="17" name="Text 15"/>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8" name="Text 16"/>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VARIABLES &amp; MEMORY</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Working with the Workspace Memory</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3:16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a = 5 stores the value 5 under the name a</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a + 2 retrieves a and returns 7</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Unnamed results are auto-stored in ans</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Workspace memory is volatile — cleared when MATLAB closes</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&gt;&gt; a = 5</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5</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&gt;&gt; a + 2</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ans =</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7</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COMMAND WINDOW BASICS</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Keeping Your Workspace Clean</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3:20 PM</a:t>
            </a:r>
            <a:endParaRPr lang="en-US" sz="1150" dirty="0"/>
          </a:p>
        </p:txBody>
      </p:sp>
      <p:sp>
        <p:nvSpPr>
          <p:cNvPr id="6" name="Shape 4"/>
          <p:cNvSpPr/>
          <p:nvPr/>
        </p:nvSpPr>
        <p:spPr>
          <a:xfrm>
            <a:off x="548640" y="1600200"/>
            <a:ext cx="11064240" cy="777240"/>
          </a:xfrm>
          <a:prstGeom prst="roundRect">
            <a:avLst>
              <a:gd name="adj" fmla="val 9412"/>
            </a:avLst>
          </a:prstGeom>
          <a:solidFill>
            <a:srgbClr val="E9EEF4"/>
          </a:solidFill>
          <a:ln/>
        </p:spPr>
        <p:txBody>
          <a:bodyPr/>
          <a:lstStyle/>
          <a:p>
            <a:endParaRPr lang="en-US"/>
          </a:p>
        </p:txBody>
      </p:sp>
      <p:sp>
        <p:nvSpPr>
          <p:cNvPr id="7" name="Text 5"/>
          <p:cNvSpPr txBox="1"/>
          <p:nvPr/>
        </p:nvSpPr>
        <p:spPr>
          <a:xfrm>
            <a:off x="777240" y="1600200"/>
            <a:ext cx="2011680" cy="777240"/>
          </a:xfrm>
          <a:prstGeom prst="rect">
            <a:avLst/>
          </a:prstGeom>
          <a:noFill/>
          <a:ln/>
        </p:spPr>
        <p:txBody>
          <a:bodyPr wrap="square" lIns="0" tIns="0" rIns="0" bIns="0" rtlCol="0" anchor="ctr"/>
          <a:lstStyle/>
          <a:p>
            <a:pPr marL="0" indent="0">
              <a:buNone/>
            </a:pPr>
            <a:r>
              <a:rPr lang="en-US" sz="2000" b="1" dirty="0">
                <a:solidFill>
                  <a:srgbClr val="0B2545"/>
                </a:solidFill>
                <a:latin typeface="Courier New" pitchFamily="34" charset="0"/>
                <a:ea typeface="Courier New" pitchFamily="34" charset="-122"/>
                <a:cs typeface="Courier New" pitchFamily="34" charset="-120"/>
              </a:rPr>
              <a:t>clc</a:t>
            </a:r>
            <a:endParaRPr lang="en-US" sz="2000" dirty="0"/>
          </a:p>
        </p:txBody>
      </p:sp>
      <p:sp>
        <p:nvSpPr>
          <p:cNvPr id="8" name="Text 6"/>
          <p:cNvSpPr txBox="1"/>
          <p:nvPr/>
        </p:nvSpPr>
        <p:spPr>
          <a:xfrm>
            <a:off x="2834640" y="1600200"/>
            <a:ext cx="8549640" cy="777240"/>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Clears printed text from the Command Window (variables kept)</a:t>
            </a:r>
            <a:endParaRPr lang="en-US" dirty="0"/>
          </a:p>
        </p:txBody>
      </p:sp>
      <p:sp>
        <p:nvSpPr>
          <p:cNvPr id="9" name="Shape 7"/>
          <p:cNvSpPr/>
          <p:nvPr/>
        </p:nvSpPr>
        <p:spPr>
          <a:xfrm>
            <a:off x="548640" y="2514600"/>
            <a:ext cx="11064240" cy="777240"/>
          </a:xfrm>
          <a:prstGeom prst="roundRect">
            <a:avLst>
              <a:gd name="adj" fmla="val 9412"/>
            </a:avLst>
          </a:prstGeom>
          <a:solidFill>
            <a:srgbClr val="E9EEF4"/>
          </a:solidFill>
          <a:ln/>
        </p:spPr>
        <p:txBody>
          <a:bodyPr/>
          <a:lstStyle/>
          <a:p>
            <a:endParaRPr lang="en-US"/>
          </a:p>
        </p:txBody>
      </p:sp>
      <p:sp>
        <p:nvSpPr>
          <p:cNvPr id="10" name="Text 8"/>
          <p:cNvSpPr txBox="1"/>
          <p:nvPr/>
        </p:nvSpPr>
        <p:spPr>
          <a:xfrm>
            <a:off x="777240" y="2514600"/>
            <a:ext cx="2011680" cy="777240"/>
          </a:xfrm>
          <a:prstGeom prst="rect">
            <a:avLst/>
          </a:prstGeom>
          <a:noFill/>
          <a:ln/>
        </p:spPr>
        <p:txBody>
          <a:bodyPr wrap="square" lIns="0" tIns="0" rIns="0" bIns="0" rtlCol="0" anchor="ctr"/>
          <a:lstStyle/>
          <a:p>
            <a:pPr marL="0" indent="0">
              <a:buNone/>
            </a:pPr>
            <a:r>
              <a:rPr lang="en-US" sz="2000" b="1" dirty="0">
                <a:solidFill>
                  <a:srgbClr val="0B2545"/>
                </a:solidFill>
                <a:latin typeface="Courier New" pitchFamily="34" charset="0"/>
                <a:ea typeface="Courier New" pitchFamily="34" charset="-122"/>
                <a:cs typeface="Courier New" pitchFamily="34" charset="-120"/>
              </a:rPr>
              <a:t>clear</a:t>
            </a:r>
            <a:endParaRPr lang="en-US" sz="2000" dirty="0"/>
          </a:p>
        </p:txBody>
      </p:sp>
      <p:sp>
        <p:nvSpPr>
          <p:cNvPr id="11" name="Text 9"/>
          <p:cNvSpPr txBox="1"/>
          <p:nvPr/>
        </p:nvSpPr>
        <p:spPr>
          <a:xfrm>
            <a:off x="2834640" y="2514600"/>
            <a:ext cx="8549640" cy="777240"/>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Erases all stored variables from Workspace memory</a:t>
            </a:r>
            <a:endParaRPr lang="en-US" dirty="0"/>
          </a:p>
        </p:txBody>
      </p:sp>
      <p:sp>
        <p:nvSpPr>
          <p:cNvPr id="12" name="Shape 10"/>
          <p:cNvSpPr/>
          <p:nvPr/>
        </p:nvSpPr>
        <p:spPr>
          <a:xfrm>
            <a:off x="548640" y="3429000"/>
            <a:ext cx="11064240" cy="777240"/>
          </a:xfrm>
          <a:prstGeom prst="roundRect">
            <a:avLst>
              <a:gd name="adj" fmla="val 9412"/>
            </a:avLst>
          </a:prstGeom>
          <a:solidFill>
            <a:srgbClr val="E9EEF4"/>
          </a:solidFill>
          <a:ln/>
        </p:spPr>
        <p:txBody>
          <a:bodyPr/>
          <a:lstStyle/>
          <a:p>
            <a:endParaRPr lang="en-US"/>
          </a:p>
        </p:txBody>
      </p:sp>
      <p:sp>
        <p:nvSpPr>
          <p:cNvPr id="13" name="Text 11"/>
          <p:cNvSpPr txBox="1"/>
          <p:nvPr/>
        </p:nvSpPr>
        <p:spPr>
          <a:xfrm>
            <a:off x="777240" y="3429000"/>
            <a:ext cx="2011680" cy="777240"/>
          </a:xfrm>
          <a:prstGeom prst="rect">
            <a:avLst/>
          </a:prstGeom>
          <a:noFill/>
          <a:ln/>
        </p:spPr>
        <p:txBody>
          <a:bodyPr wrap="square" lIns="0" tIns="0" rIns="0" bIns="0" rtlCol="0" anchor="ctr"/>
          <a:lstStyle/>
          <a:p>
            <a:pPr marL="0" indent="0">
              <a:buNone/>
            </a:pPr>
            <a:r>
              <a:rPr lang="en-US" sz="2000" b="1" dirty="0">
                <a:solidFill>
                  <a:srgbClr val="0B2545"/>
                </a:solidFill>
                <a:latin typeface="Courier New" pitchFamily="34" charset="0"/>
                <a:ea typeface="Courier New" pitchFamily="34" charset="-122"/>
                <a:cs typeface="Courier New" pitchFamily="34" charset="-120"/>
              </a:rPr>
              <a:t>close all</a:t>
            </a:r>
            <a:endParaRPr lang="en-US" sz="2000" dirty="0"/>
          </a:p>
        </p:txBody>
      </p:sp>
      <p:sp>
        <p:nvSpPr>
          <p:cNvPr id="14" name="Text 12"/>
          <p:cNvSpPr txBox="1"/>
          <p:nvPr/>
        </p:nvSpPr>
        <p:spPr>
          <a:xfrm>
            <a:off x="2834640" y="3429000"/>
            <a:ext cx="8549640" cy="777240"/>
          </a:xfrm>
          <a:prstGeom prst="rect">
            <a:avLst/>
          </a:prstGeom>
          <a:noFill/>
          <a:ln/>
        </p:spPr>
        <p:txBody>
          <a:bodyPr wrap="square" lIns="0" tIns="0" rIns="0" bIns="0" rtlCol="0" anchor="ctr"/>
          <a:lstStyle/>
          <a:p>
            <a:pPr marL="0" indent="0">
              <a:buNone/>
            </a:pPr>
            <a:r>
              <a:rPr lang="en-US" dirty="0">
                <a:solidFill>
                  <a:srgbClr val="17223B"/>
                </a:solidFill>
                <a:latin typeface="Calibri" pitchFamily="34" charset="0"/>
                <a:ea typeface="Calibri" pitchFamily="34" charset="-122"/>
                <a:cs typeface="Calibri" pitchFamily="34" charset="-120"/>
              </a:rPr>
              <a:t>Closes all open Figure/graph windows</a:t>
            </a:r>
            <a:endParaRPr lang="en-US" dirty="0"/>
          </a:p>
        </p:txBody>
      </p:sp>
      <p:sp>
        <p:nvSpPr>
          <p:cNvPr id="15" name="Text 13"/>
          <p:cNvSpPr txBox="1"/>
          <p:nvPr/>
        </p:nvSpPr>
        <p:spPr>
          <a:xfrm>
            <a:off x="548640" y="4389120"/>
            <a:ext cx="11064240" cy="365760"/>
          </a:xfrm>
          <a:prstGeom prst="rect">
            <a:avLst/>
          </a:prstGeom>
          <a:noFill/>
          <a:ln/>
        </p:spPr>
        <p:txBody>
          <a:bodyPr wrap="square" lIns="0" tIns="0" rIns="0" bIns="0" rtlCol="0" anchor="ctr"/>
          <a:lstStyle/>
          <a:p>
            <a:pPr marL="0" indent="0">
              <a:buNone/>
            </a:pPr>
            <a:r>
              <a:rPr lang="en-US" sz="1400" i="1" dirty="0">
                <a:solidFill>
                  <a:srgbClr val="5C6B7A"/>
                </a:solidFill>
                <a:latin typeface="Calibri" pitchFamily="34" charset="0"/>
                <a:ea typeface="Calibri" pitchFamily="34" charset="-122"/>
                <a:cs typeface="Calibri" pitchFamily="34" charset="-120"/>
              </a:rPr>
              <a:t>Best practice: run all three at the top of every script.</a:t>
            </a:r>
            <a:endParaRPr lang="en-US" sz="1400" dirty="0"/>
          </a:p>
        </p:txBody>
      </p:sp>
      <p:sp>
        <p:nvSpPr>
          <p:cNvPr id="16" name="Text 14"/>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7" name="Text 15"/>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0134295" y="365760"/>
            <a:ext cx="1508760" cy="365760"/>
          </a:xfrm>
          <a:prstGeom prst="roundRect">
            <a:avLst>
              <a:gd name="adj" fmla="val 50000"/>
            </a:avLst>
          </a:prstGeom>
          <a:solidFill>
            <a:srgbClr val="12335A"/>
          </a:solidFill>
          <a:ln w="12700">
            <a:solidFill>
              <a:srgbClr val="C9A227"/>
            </a:solidFill>
            <a:prstDash val="solid"/>
          </a:ln>
        </p:spPr>
        <p:txBody>
          <a:bodyPr/>
          <a:lstStyle/>
          <a:p>
            <a:endParaRPr lang="en-US"/>
          </a:p>
        </p:txBody>
      </p:sp>
      <p:sp>
        <p:nvSpPr>
          <p:cNvPr id="3" name="Text 1"/>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C9A227"/>
                </a:solidFill>
                <a:latin typeface="Calibri" pitchFamily="34" charset="0"/>
                <a:ea typeface="Calibri" pitchFamily="34" charset="-122"/>
                <a:cs typeface="Calibri" pitchFamily="34" charset="-120"/>
              </a:rPr>
              <a:t>⏱  3:30 PM</a:t>
            </a:r>
            <a:endParaRPr lang="en-US" sz="1150" dirty="0"/>
          </a:p>
        </p:txBody>
      </p:sp>
      <p:sp>
        <p:nvSpPr>
          <p:cNvPr id="4" name="Text 2"/>
          <p:cNvSpPr txBox="1"/>
          <p:nvPr/>
        </p:nvSpPr>
        <p:spPr>
          <a:xfrm>
            <a:off x="0" y="1920240"/>
            <a:ext cx="12191695" cy="1280160"/>
          </a:xfrm>
          <a:prstGeom prst="rect">
            <a:avLst/>
          </a:prstGeom>
          <a:noFill/>
          <a:ln/>
        </p:spPr>
        <p:txBody>
          <a:bodyPr wrap="square" lIns="0" tIns="0" rIns="0" bIns="0" rtlCol="0" anchor="ctr"/>
          <a:lstStyle/>
          <a:p>
            <a:pPr marL="0" indent="0" algn="ctr">
              <a:buNone/>
            </a:pPr>
            <a:r>
              <a:rPr lang="en-US" sz="6000" dirty="0">
                <a:solidFill>
                  <a:srgbClr val="C9A227"/>
                </a:solidFill>
                <a:latin typeface="Calibri" pitchFamily="34" charset="0"/>
                <a:ea typeface="Calibri" pitchFamily="34" charset="-122"/>
                <a:cs typeface="Calibri" pitchFamily="34" charset="-120"/>
              </a:rPr>
              <a:t>☕</a:t>
            </a:r>
            <a:endParaRPr lang="en-US" sz="6000" dirty="0"/>
          </a:p>
        </p:txBody>
      </p:sp>
      <p:sp>
        <p:nvSpPr>
          <p:cNvPr id="5" name="Text 3"/>
          <p:cNvSpPr txBox="1"/>
          <p:nvPr/>
        </p:nvSpPr>
        <p:spPr>
          <a:xfrm>
            <a:off x="0" y="3246120"/>
            <a:ext cx="12191695"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10-MINUTE BREAK</a:t>
            </a:r>
            <a:endParaRPr lang="en-US" sz="3400" dirty="0"/>
          </a:p>
        </p:txBody>
      </p:sp>
      <p:sp>
        <p:nvSpPr>
          <p:cNvPr id="6" name="Text 4"/>
          <p:cNvSpPr txBox="1"/>
          <p:nvPr/>
        </p:nvSpPr>
        <p:spPr>
          <a:xfrm>
            <a:off x="0" y="3931920"/>
            <a:ext cx="12191695" cy="457200"/>
          </a:xfrm>
          <a:prstGeom prst="rect">
            <a:avLst/>
          </a:prstGeom>
          <a:noFill/>
          <a:ln/>
        </p:spPr>
        <p:txBody>
          <a:bodyPr wrap="square" lIns="0" tIns="0" rIns="0" bIns="0" rtlCol="0" anchor="ctr"/>
          <a:lstStyle/>
          <a:p>
            <a:pPr marL="0" indent="0" algn="ctr">
              <a:buNone/>
            </a:pPr>
            <a:r>
              <a:rPr lang="en-US" sz="1500" i="1" dirty="0">
                <a:solidFill>
                  <a:srgbClr val="C7D4E3"/>
                </a:solidFill>
                <a:latin typeface="Calibri" pitchFamily="34" charset="0"/>
                <a:ea typeface="Calibri" pitchFamily="34" charset="-122"/>
                <a:cs typeface="Calibri" pitchFamily="34" charset="-120"/>
              </a:rPr>
              <a:t>Back at 3:40 PM — we'll pick up with the Command Window essentials</a:t>
            </a:r>
            <a:endParaRPr lang="en-US" sz="1500" dirty="0"/>
          </a:p>
        </p:txBody>
      </p:sp>
      <p:sp>
        <p:nvSpPr>
          <p:cNvPr id="7" name="Text 5"/>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8" name="Text 6"/>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COMMAND WINDOW BASICS</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Inspecting Variables &amp; System Properties</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3:34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whos — lists variables with size, bytes, class</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what — lists MATLAB files (.m) in current folder</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ver — shows software version and installed toolboxes</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date / clock — calendar date / 6-element date-time array</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&gt;&gt; whos</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Name   Size   Bytes  Class</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&gt;&gt; what</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M-files in this folder ...</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&gt;&gt; ver</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MATLAB Version: R2024b</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COMMAND WINDOW BASICS</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Session Logs &amp; Search Paths</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3:38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diary filename — records session commands &amp; output to a text file</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diary off / diary on — pause / resume recording</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setpath / editpath — add folders to MATLAB's search list</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Lets you run scripts from any folder, not just Current Directory</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&gt;&gt; diary lab1_log.txt</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 session recorded ...</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&gt;&gt; diary off</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&gt;&gt; editpath</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 Set Path dialog opens ]</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COMMAND WINDOW BASICS</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Executing OS Terminal Commands</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3:41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 prefix passes a command straight to the OS shell</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Example: !md lab1 → creates a folder named “lab1”</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quit / exit — closes MATLAB completely</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&gt;&gt; !md lab1</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 new folder ‘lab1' created ]</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&gt;&gt; quit</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MATH SYNTAX</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Basic Mathematical Operators</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3:44 PM</a:t>
            </a:r>
            <a:endParaRPr lang="en-US" sz="1150" dirty="0"/>
          </a:p>
        </p:txBody>
      </p:sp>
      <p:sp>
        <p:nvSpPr>
          <p:cNvPr id="6" name="Shape 4"/>
          <p:cNvSpPr/>
          <p:nvPr/>
        </p:nvSpPr>
        <p:spPr>
          <a:xfrm>
            <a:off x="621792" y="1673352"/>
            <a:ext cx="3541776" cy="2116836"/>
          </a:xfrm>
          <a:prstGeom prst="roundRect">
            <a:avLst>
              <a:gd name="adj" fmla="val 5184"/>
            </a:avLst>
          </a:prstGeom>
          <a:solidFill>
            <a:srgbClr val="E9EEF4"/>
          </a:solidFill>
          <a:ln w="12700">
            <a:solidFill>
              <a:srgbClr val="D7DEE7"/>
            </a:solidFill>
            <a:prstDash val="solid"/>
          </a:ln>
        </p:spPr>
        <p:txBody>
          <a:bodyPr/>
          <a:lstStyle/>
          <a:p>
            <a:endParaRPr lang="en-US"/>
          </a:p>
        </p:txBody>
      </p:sp>
      <p:sp>
        <p:nvSpPr>
          <p:cNvPr id="7" name="Text 5"/>
          <p:cNvSpPr txBox="1"/>
          <p:nvPr/>
        </p:nvSpPr>
        <p:spPr>
          <a:xfrm>
            <a:off x="777240" y="1783080"/>
            <a:ext cx="3230880" cy="502920"/>
          </a:xfrm>
          <a:prstGeom prst="rect">
            <a:avLst/>
          </a:prstGeom>
          <a:noFill/>
          <a:ln/>
        </p:spPr>
        <p:txBody>
          <a:bodyPr wrap="square" lIns="0" tIns="0" rIns="0" bIns="0" rtlCol="0" anchor="ctr"/>
          <a:lstStyle/>
          <a:p>
            <a:pPr marL="0" indent="0">
              <a:buNone/>
            </a:pPr>
            <a:r>
              <a:rPr lang="en-US" sz="2400" b="1" dirty="0">
                <a:solidFill>
                  <a:srgbClr val="0B2545"/>
                </a:solidFill>
                <a:latin typeface="Courier New" pitchFamily="34" charset="0"/>
                <a:ea typeface="Courier New" pitchFamily="34" charset="-122"/>
                <a:cs typeface="Courier New" pitchFamily="34" charset="-120"/>
              </a:rPr>
              <a:t>+</a:t>
            </a:r>
            <a:endParaRPr lang="en-US" sz="2400" dirty="0"/>
          </a:p>
        </p:txBody>
      </p:sp>
      <p:sp>
        <p:nvSpPr>
          <p:cNvPr id="8" name="Text 6"/>
          <p:cNvSpPr txBox="1"/>
          <p:nvPr/>
        </p:nvSpPr>
        <p:spPr>
          <a:xfrm>
            <a:off x="777240" y="2313432"/>
            <a:ext cx="3230880" cy="320040"/>
          </a:xfrm>
          <a:prstGeom prst="rect">
            <a:avLst/>
          </a:prstGeom>
          <a:noFill/>
          <a:ln/>
        </p:spPr>
        <p:txBody>
          <a:bodyPr wrap="square" lIns="0" tIns="0" rIns="0" bIns="0" rtlCol="0" anchor="ctr"/>
          <a:lstStyle/>
          <a:p>
            <a:pPr marL="0" indent="0">
              <a:buNone/>
            </a:pPr>
            <a:r>
              <a:rPr lang="en-US" sz="2000" b="1" dirty="0">
                <a:solidFill>
                  <a:srgbClr val="17223B"/>
                </a:solidFill>
                <a:latin typeface="Calibri" pitchFamily="34" charset="0"/>
                <a:ea typeface="Calibri" pitchFamily="34" charset="-122"/>
                <a:cs typeface="Calibri" pitchFamily="34" charset="-120"/>
              </a:rPr>
              <a:t>Addition</a:t>
            </a:r>
            <a:endParaRPr lang="en-US" sz="2000" dirty="0"/>
          </a:p>
        </p:txBody>
      </p:sp>
      <p:sp>
        <p:nvSpPr>
          <p:cNvPr id="9" name="Text 7"/>
          <p:cNvSpPr txBox="1"/>
          <p:nvPr/>
        </p:nvSpPr>
        <p:spPr>
          <a:xfrm>
            <a:off x="777240" y="2624328"/>
            <a:ext cx="3230880" cy="320040"/>
          </a:xfrm>
          <a:prstGeom prst="rect">
            <a:avLst/>
          </a:prstGeom>
          <a:noFill/>
          <a:ln/>
        </p:spPr>
        <p:txBody>
          <a:bodyPr wrap="square" lIns="0" tIns="0" rIns="0" bIns="0" rtlCol="0" anchor="ctr"/>
          <a:lstStyle/>
          <a:p>
            <a:pPr marL="0" indent="0">
              <a:buNone/>
            </a:pPr>
            <a:r>
              <a:rPr lang="en-US" dirty="0">
                <a:solidFill>
                  <a:srgbClr val="5C6B7A"/>
                </a:solidFill>
                <a:latin typeface="Courier New" pitchFamily="34" charset="0"/>
                <a:ea typeface="Courier New" pitchFamily="34" charset="-122"/>
                <a:cs typeface="Courier New" pitchFamily="34" charset="-120"/>
              </a:rPr>
              <a:t>a + b</a:t>
            </a:r>
            <a:endParaRPr lang="en-US" dirty="0"/>
          </a:p>
        </p:txBody>
      </p:sp>
      <p:sp>
        <p:nvSpPr>
          <p:cNvPr id="10" name="Shape 8"/>
          <p:cNvSpPr/>
          <p:nvPr/>
        </p:nvSpPr>
        <p:spPr>
          <a:xfrm>
            <a:off x="4309872" y="1673352"/>
            <a:ext cx="3541776" cy="2116836"/>
          </a:xfrm>
          <a:prstGeom prst="roundRect">
            <a:avLst>
              <a:gd name="adj" fmla="val 5184"/>
            </a:avLst>
          </a:prstGeom>
          <a:solidFill>
            <a:srgbClr val="E9EEF4"/>
          </a:solidFill>
          <a:ln w="12700">
            <a:solidFill>
              <a:srgbClr val="D7DEE7"/>
            </a:solidFill>
            <a:prstDash val="solid"/>
          </a:ln>
        </p:spPr>
        <p:txBody>
          <a:bodyPr/>
          <a:lstStyle/>
          <a:p>
            <a:endParaRPr lang="en-US"/>
          </a:p>
        </p:txBody>
      </p:sp>
      <p:sp>
        <p:nvSpPr>
          <p:cNvPr id="11" name="Text 9"/>
          <p:cNvSpPr txBox="1"/>
          <p:nvPr/>
        </p:nvSpPr>
        <p:spPr>
          <a:xfrm>
            <a:off x="4465320" y="1783080"/>
            <a:ext cx="3230880" cy="502920"/>
          </a:xfrm>
          <a:prstGeom prst="rect">
            <a:avLst/>
          </a:prstGeom>
          <a:noFill/>
          <a:ln/>
        </p:spPr>
        <p:txBody>
          <a:bodyPr wrap="square" lIns="0" tIns="0" rIns="0" bIns="0" rtlCol="0" anchor="ctr"/>
          <a:lstStyle/>
          <a:p>
            <a:pPr marL="0" indent="0">
              <a:buNone/>
            </a:pPr>
            <a:r>
              <a:rPr lang="en-US" sz="2400" b="1" dirty="0">
                <a:solidFill>
                  <a:srgbClr val="0B2545"/>
                </a:solidFill>
                <a:latin typeface="Courier New" pitchFamily="34" charset="0"/>
                <a:ea typeface="Courier New" pitchFamily="34" charset="-122"/>
                <a:cs typeface="Courier New" pitchFamily="34" charset="-120"/>
              </a:rPr>
              <a:t>-</a:t>
            </a:r>
            <a:endParaRPr lang="en-US" sz="2400" dirty="0"/>
          </a:p>
        </p:txBody>
      </p:sp>
      <p:sp>
        <p:nvSpPr>
          <p:cNvPr id="12" name="Text 10"/>
          <p:cNvSpPr txBox="1"/>
          <p:nvPr/>
        </p:nvSpPr>
        <p:spPr>
          <a:xfrm>
            <a:off x="4465320" y="2313432"/>
            <a:ext cx="3230880" cy="320040"/>
          </a:xfrm>
          <a:prstGeom prst="rect">
            <a:avLst/>
          </a:prstGeom>
          <a:noFill/>
          <a:ln/>
        </p:spPr>
        <p:txBody>
          <a:bodyPr wrap="square" lIns="0" tIns="0" rIns="0" bIns="0" rtlCol="0" anchor="ctr"/>
          <a:lstStyle/>
          <a:p>
            <a:pPr marL="0" indent="0">
              <a:buNone/>
            </a:pPr>
            <a:r>
              <a:rPr lang="en-US" sz="2000" b="1" dirty="0">
                <a:solidFill>
                  <a:srgbClr val="17223B"/>
                </a:solidFill>
                <a:latin typeface="Calibri" pitchFamily="34" charset="0"/>
                <a:ea typeface="Calibri" pitchFamily="34" charset="-122"/>
                <a:cs typeface="Calibri" pitchFamily="34" charset="-120"/>
              </a:rPr>
              <a:t>Subtraction</a:t>
            </a:r>
            <a:endParaRPr lang="en-US" sz="2000" dirty="0"/>
          </a:p>
        </p:txBody>
      </p:sp>
      <p:sp>
        <p:nvSpPr>
          <p:cNvPr id="13" name="Text 11"/>
          <p:cNvSpPr txBox="1"/>
          <p:nvPr/>
        </p:nvSpPr>
        <p:spPr>
          <a:xfrm>
            <a:off x="4465320" y="2624328"/>
            <a:ext cx="3230880" cy="320040"/>
          </a:xfrm>
          <a:prstGeom prst="rect">
            <a:avLst/>
          </a:prstGeom>
          <a:noFill/>
          <a:ln/>
        </p:spPr>
        <p:txBody>
          <a:bodyPr wrap="square" lIns="0" tIns="0" rIns="0" bIns="0" rtlCol="0" anchor="ctr"/>
          <a:lstStyle/>
          <a:p>
            <a:pPr marL="0" indent="0">
              <a:buNone/>
            </a:pPr>
            <a:r>
              <a:rPr lang="en-US" dirty="0">
                <a:solidFill>
                  <a:srgbClr val="5C6B7A"/>
                </a:solidFill>
                <a:latin typeface="Courier New" pitchFamily="34" charset="0"/>
                <a:ea typeface="Courier New" pitchFamily="34" charset="-122"/>
                <a:cs typeface="Courier New" pitchFamily="34" charset="-120"/>
              </a:rPr>
              <a:t>a - b</a:t>
            </a:r>
            <a:endParaRPr lang="en-US" dirty="0"/>
          </a:p>
        </p:txBody>
      </p:sp>
      <p:sp>
        <p:nvSpPr>
          <p:cNvPr id="14" name="Shape 12"/>
          <p:cNvSpPr/>
          <p:nvPr/>
        </p:nvSpPr>
        <p:spPr>
          <a:xfrm>
            <a:off x="7997952" y="1673352"/>
            <a:ext cx="3541776" cy="2116836"/>
          </a:xfrm>
          <a:prstGeom prst="roundRect">
            <a:avLst>
              <a:gd name="adj" fmla="val 5184"/>
            </a:avLst>
          </a:prstGeom>
          <a:solidFill>
            <a:srgbClr val="E9EEF4"/>
          </a:solidFill>
          <a:ln w="12700">
            <a:solidFill>
              <a:srgbClr val="D7DEE7"/>
            </a:solidFill>
            <a:prstDash val="solid"/>
          </a:ln>
        </p:spPr>
        <p:txBody>
          <a:bodyPr/>
          <a:lstStyle/>
          <a:p>
            <a:endParaRPr lang="en-US"/>
          </a:p>
        </p:txBody>
      </p:sp>
      <p:sp>
        <p:nvSpPr>
          <p:cNvPr id="15" name="Text 13"/>
          <p:cNvSpPr txBox="1"/>
          <p:nvPr/>
        </p:nvSpPr>
        <p:spPr>
          <a:xfrm>
            <a:off x="8153400" y="1783080"/>
            <a:ext cx="3230880" cy="502920"/>
          </a:xfrm>
          <a:prstGeom prst="rect">
            <a:avLst/>
          </a:prstGeom>
          <a:noFill/>
          <a:ln/>
        </p:spPr>
        <p:txBody>
          <a:bodyPr wrap="square" lIns="0" tIns="0" rIns="0" bIns="0" rtlCol="0" anchor="ctr"/>
          <a:lstStyle/>
          <a:p>
            <a:pPr marL="0" indent="0">
              <a:buNone/>
            </a:pPr>
            <a:r>
              <a:rPr lang="en-US" sz="2400" b="1" dirty="0">
                <a:solidFill>
                  <a:srgbClr val="0B2545"/>
                </a:solidFill>
                <a:latin typeface="Courier New" pitchFamily="34" charset="0"/>
                <a:ea typeface="Courier New" pitchFamily="34" charset="-122"/>
                <a:cs typeface="Courier New" pitchFamily="34" charset="-120"/>
              </a:rPr>
              <a:t>*</a:t>
            </a:r>
            <a:endParaRPr lang="en-US" sz="2400" dirty="0"/>
          </a:p>
        </p:txBody>
      </p:sp>
      <p:sp>
        <p:nvSpPr>
          <p:cNvPr id="16" name="Text 14"/>
          <p:cNvSpPr txBox="1"/>
          <p:nvPr/>
        </p:nvSpPr>
        <p:spPr>
          <a:xfrm>
            <a:off x="8153400" y="2313432"/>
            <a:ext cx="3230880" cy="320040"/>
          </a:xfrm>
          <a:prstGeom prst="rect">
            <a:avLst/>
          </a:prstGeom>
          <a:noFill/>
          <a:ln/>
        </p:spPr>
        <p:txBody>
          <a:bodyPr wrap="square" lIns="0" tIns="0" rIns="0" bIns="0" rtlCol="0" anchor="ctr"/>
          <a:lstStyle/>
          <a:p>
            <a:pPr marL="0" indent="0">
              <a:buNone/>
            </a:pPr>
            <a:r>
              <a:rPr lang="en-US" sz="2000" b="1" dirty="0">
                <a:solidFill>
                  <a:srgbClr val="17223B"/>
                </a:solidFill>
                <a:latin typeface="Calibri" pitchFamily="34" charset="0"/>
                <a:ea typeface="Calibri" pitchFamily="34" charset="-122"/>
                <a:cs typeface="Calibri" pitchFamily="34" charset="-120"/>
              </a:rPr>
              <a:t>Multiplication</a:t>
            </a:r>
            <a:endParaRPr lang="en-US" sz="2000" dirty="0"/>
          </a:p>
        </p:txBody>
      </p:sp>
      <p:sp>
        <p:nvSpPr>
          <p:cNvPr id="17" name="Text 15"/>
          <p:cNvSpPr txBox="1"/>
          <p:nvPr/>
        </p:nvSpPr>
        <p:spPr>
          <a:xfrm>
            <a:off x="8153400" y="2624328"/>
            <a:ext cx="3230880" cy="320040"/>
          </a:xfrm>
          <a:prstGeom prst="rect">
            <a:avLst/>
          </a:prstGeom>
          <a:noFill/>
          <a:ln/>
        </p:spPr>
        <p:txBody>
          <a:bodyPr wrap="square" lIns="0" tIns="0" rIns="0" bIns="0" rtlCol="0" anchor="ctr"/>
          <a:lstStyle/>
          <a:p>
            <a:pPr marL="0" indent="0">
              <a:buNone/>
            </a:pPr>
            <a:r>
              <a:rPr lang="en-US" dirty="0">
                <a:solidFill>
                  <a:srgbClr val="5C6B7A"/>
                </a:solidFill>
                <a:latin typeface="Courier New" pitchFamily="34" charset="0"/>
                <a:ea typeface="Courier New" pitchFamily="34" charset="-122"/>
                <a:cs typeface="Courier New" pitchFamily="34" charset="-120"/>
              </a:rPr>
              <a:t>4 * u  (not 4u)</a:t>
            </a:r>
            <a:endParaRPr lang="en-US" dirty="0"/>
          </a:p>
        </p:txBody>
      </p:sp>
      <p:sp>
        <p:nvSpPr>
          <p:cNvPr id="18" name="Shape 16"/>
          <p:cNvSpPr/>
          <p:nvPr/>
        </p:nvSpPr>
        <p:spPr>
          <a:xfrm>
            <a:off x="621792" y="3936492"/>
            <a:ext cx="3541776" cy="2116836"/>
          </a:xfrm>
          <a:prstGeom prst="roundRect">
            <a:avLst>
              <a:gd name="adj" fmla="val 5184"/>
            </a:avLst>
          </a:prstGeom>
          <a:solidFill>
            <a:srgbClr val="E9EEF4"/>
          </a:solidFill>
          <a:ln w="12700">
            <a:solidFill>
              <a:srgbClr val="D7DEE7"/>
            </a:solidFill>
            <a:prstDash val="solid"/>
          </a:ln>
        </p:spPr>
        <p:txBody>
          <a:bodyPr/>
          <a:lstStyle/>
          <a:p>
            <a:endParaRPr lang="en-US"/>
          </a:p>
        </p:txBody>
      </p:sp>
      <p:sp>
        <p:nvSpPr>
          <p:cNvPr id="19" name="Text 17"/>
          <p:cNvSpPr txBox="1"/>
          <p:nvPr/>
        </p:nvSpPr>
        <p:spPr>
          <a:xfrm>
            <a:off x="777240" y="4046220"/>
            <a:ext cx="3230880" cy="502920"/>
          </a:xfrm>
          <a:prstGeom prst="rect">
            <a:avLst/>
          </a:prstGeom>
          <a:noFill/>
          <a:ln/>
        </p:spPr>
        <p:txBody>
          <a:bodyPr wrap="square" lIns="0" tIns="0" rIns="0" bIns="0" rtlCol="0" anchor="ctr"/>
          <a:lstStyle/>
          <a:p>
            <a:pPr marL="0" indent="0">
              <a:buNone/>
            </a:pPr>
            <a:r>
              <a:rPr lang="en-US" sz="2400" b="1" dirty="0">
                <a:solidFill>
                  <a:srgbClr val="0B2545"/>
                </a:solidFill>
                <a:latin typeface="Courier New" pitchFamily="34" charset="0"/>
                <a:ea typeface="Courier New" pitchFamily="34" charset="-122"/>
                <a:cs typeface="Courier New" pitchFamily="34" charset="-120"/>
              </a:rPr>
              <a:t>/</a:t>
            </a:r>
            <a:endParaRPr lang="en-US" sz="2400" dirty="0"/>
          </a:p>
        </p:txBody>
      </p:sp>
      <p:sp>
        <p:nvSpPr>
          <p:cNvPr id="20" name="Text 18"/>
          <p:cNvSpPr txBox="1"/>
          <p:nvPr/>
        </p:nvSpPr>
        <p:spPr>
          <a:xfrm>
            <a:off x="777240" y="4576572"/>
            <a:ext cx="3230880" cy="320040"/>
          </a:xfrm>
          <a:prstGeom prst="rect">
            <a:avLst/>
          </a:prstGeom>
          <a:noFill/>
          <a:ln/>
        </p:spPr>
        <p:txBody>
          <a:bodyPr wrap="square" lIns="0" tIns="0" rIns="0" bIns="0" rtlCol="0" anchor="ctr"/>
          <a:lstStyle/>
          <a:p>
            <a:pPr marL="0" indent="0">
              <a:buNone/>
            </a:pPr>
            <a:r>
              <a:rPr lang="en-US" sz="2000" b="1" dirty="0">
                <a:solidFill>
                  <a:srgbClr val="17223B"/>
                </a:solidFill>
                <a:latin typeface="Calibri" pitchFamily="34" charset="0"/>
                <a:ea typeface="Calibri" pitchFamily="34" charset="-122"/>
                <a:cs typeface="Calibri" pitchFamily="34" charset="-120"/>
              </a:rPr>
              <a:t>Right Division</a:t>
            </a:r>
            <a:endParaRPr lang="en-US" sz="2000" dirty="0"/>
          </a:p>
        </p:txBody>
      </p:sp>
      <p:sp>
        <p:nvSpPr>
          <p:cNvPr id="21" name="Text 19"/>
          <p:cNvSpPr txBox="1"/>
          <p:nvPr/>
        </p:nvSpPr>
        <p:spPr>
          <a:xfrm>
            <a:off x="777240" y="4887468"/>
            <a:ext cx="3230880" cy="320040"/>
          </a:xfrm>
          <a:prstGeom prst="rect">
            <a:avLst/>
          </a:prstGeom>
          <a:noFill/>
          <a:ln/>
        </p:spPr>
        <p:txBody>
          <a:bodyPr wrap="square" lIns="0" tIns="0" rIns="0" bIns="0" rtlCol="0" anchor="ctr"/>
          <a:lstStyle/>
          <a:p>
            <a:pPr marL="0" indent="0">
              <a:buNone/>
            </a:pPr>
            <a:r>
              <a:rPr lang="en-US" dirty="0">
                <a:solidFill>
                  <a:srgbClr val="5C6B7A"/>
                </a:solidFill>
                <a:latin typeface="Courier New" pitchFamily="34" charset="0"/>
                <a:ea typeface="Courier New" pitchFamily="34" charset="-122"/>
                <a:cs typeface="Courier New" pitchFamily="34" charset="-120"/>
              </a:rPr>
              <a:t>u / v</a:t>
            </a:r>
            <a:endParaRPr lang="en-US" dirty="0"/>
          </a:p>
        </p:txBody>
      </p:sp>
      <p:sp>
        <p:nvSpPr>
          <p:cNvPr id="22" name="Shape 20"/>
          <p:cNvSpPr/>
          <p:nvPr/>
        </p:nvSpPr>
        <p:spPr>
          <a:xfrm>
            <a:off x="4309872" y="3936492"/>
            <a:ext cx="3541776" cy="2116836"/>
          </a:xfrm>
          <a:prstGeom prst="roundRect">
            <a:avLst>
              <a:gd name="adj" fmla="val 5184"/>
            </a:avLst>
          </a:prstGeom>
          <a:solidFill>
            <a:srgbClr val="E9EEF4"/>
          </a:solidFill>
          <a:ln w="12700">
            <a:solidFill>
              <a:srgbClr val="D7DEE7"/>
            </a:solidFill>
            <a:prstDash val="solid"/>
          </a:ln>
        </p:spPr>
        <p:txBody>
          <a:bodyPr/>
          <a:lstStyle/>
          <a:p>
            <a:endParaRPr lang="en-US"/>
          </a:p>
        </p:txBody>
      </p:sp>
      <p:sp>
        <p:nvSpPr>
          <p:cNvPr id="23" name="Text 21"/>
          <p:cNvSpPr txBox="1"/>
          <p:nvPr/>
        </p:nvSpPr>
        <p:spPr>
          <a:xfrm>
            <a:off x="4465320" y="4046220"/>
            <a:ext cx="3230880" cy="502920"/>
          </a:xfrm>
          <a:prstGeom prst="rect">
            <a:avLst/>
          </a:prstGeom>
          <a:noFill/>
          <a:ln/>
        </p:spPr>
        <p:txBody>
          <a:bodyPr wrap="square" lIns="0" tIns="0" rIns="0" bIns="0" rtlCol="0" anchor="ctr"/>
          <a:lstStyle/>
          <a:p>
            <a:pPr marL="0" indent="0">
              <a:buNone/>
            </a:pPr>
            <a:r>
              <a:rPr lang="en-US" sz="2400" b="1" dirty="0">
                <a:solidFill>
                  <a:srgbClr val="0B2545"/>
                </a:solidFill>
                <a:latin typeface="Courier New" pitchFamily="34" charset="0"/>
                <a:ea typeface="Courier New" pitchFamily="34" charset="-122"/>
                <a:cs typeface="Courier New" pitchFamily="34" charset="-120"/>
              </a:rPr>
              <a:t>^</a:t>
            </a:r>
            <a:endParaRPr lang="en-US" sz="2400" dirty="0"/>
          </a:p>
        </p:txBody>
      </p:sp>
      <p:sp>
        <p:nvSpPr>
          <p:cNvPr id="24" name="Text 22"/>
          <p:cNvSpPr txBox="1"/>
          <p:nvPr/>
        </p:nvSpPr>
        <p:spPr>
          <a:xfrm>
            <a:off x="4465320" y="4576572"/>
            <a:ext cx="3230880" cy="320040"/>
          </a:xfrm>
          <a:prstGeom prst="rect">
            <a:avLst/>
          </a:prstGeom>
          <a:noFill/>
          <a:ln/>
        </p:spPr>
        <p:txBody>
          <a:bodyPr wrap="square" lIns="0" tIns="0" rIns="0" bIns="0" rtlCol="0" anchor="ctr"/>
          <a:lstStyle/>
          <a:p>
            <a:pPr marL="0" indent="0">
              <a:buNone/>
            </a:pPr>
            <a:r>
              <a:rPr lang="en-US" sz="2000" b="1" dirty="0">
                <a:solidFill>
                  <a:srgbClr val="17223B"/>
                </a:solidFill>
                <a:latin typeface="Calibri" pitchFamily="34" charset="0"/>
                <a:ea typeface="Calibri" pitchFamily="34" charset="-122"/>
                <a:cs typeface="Calibri" pitchFamily="34" charset="-120"/>
              </a:rPr>
              <a:t>Power</a:t>
            </a:r>
            <a:endParaRPr lang="en-US" sz="2000" dirty="0"/>
          </a:p>
        </p:txBody>
      </p:sp>
      <p:sp>
        <p:nvSpPr>
          <p:cNvPr id="25" name="Text 23"/>
          <p:cNvSpPr txBox="1"/>
          <p:nvPr/>
        </p:nvSpPr>
        <p:spPr>
          <a:xfrm>
            <a:off x="4465320" y="4887468"/>
            <a:ext cx="3230880" cy="320040"/>
          </a:xfrm>
          <a:prstGeom prst="rect">
            <a:avLst/>
          </a:prstGeom>
          <a:noFill/>
          <a:ln/>
        </p:spPr>
        <p:txBody>
          <a:bodyPr wrap="square" lIns="0" tIns="0" rIns="0" bIns="0" rtlCol="0" anchor="ctr"/>
          <a:lstStyle/>
          <a:p>
            <a:pPr marL="0" indent="0">
              <a:buNone/>
            </a:pPr>
            <a:r>
              <a:rPr lang="en-US" dirty="0">
                <a:solidFill>
                  <a:srgbClr val="5C6B7A"/>
                </a:solidFill>
                <a:latin typeface="Courier New" pitchFamily="34" charset="0"/>
                <a:ea typeface="Courier New" pitchFamily="34" charset="-122"/>
                <a:cs typeface="Courier New" pitchFamily="34" charset="-120"/>
              </a:rPr>
              <a:t>2^3</a:t>
            </a:r>
            <a:endParaRPr lang="en-US" dirty="0"/>
          </a:p>
        </p:txBody>
      </p:sp>
      <p:sp>
        <p:nvSpPr>
          <p:cNvPr id="26" name="Shape 24"/>
          <p:cNvSpPr/>
          <p:nvPr/>
        </p:nvSpPr>
        <p:spPr>
          <a:xfrm>
            <a:off x="7997952" y="3936492"/>
            <a:ext cx="3541776" cy="2116836"/>
          </a:xfrm>
          <a:prstGeom prst="roundRect">
            <a:avLst>
              <a:gd name="adj" fmla="val 5184"/>
            </a:avLst>
          </a:prstGeom>
          <a:solidFill>
            <a:srgbClr val="E9EEF4"/>
          </a:solidFill>
          <a:ln w="12700">
            <a:solidFill>
              <a:srgbClr val="D7DEE7"/>
            </a:solidFill>
            <a:prstDash val="solid"/>
          </a:ln>
        </p:spPr>
        <p:txBody>
          <a:bodyPr/>
          <a:lstStyle/>
          <a:p>
            <a:endParaRPr lang="en-US"/>
          </a:p>
        </p:txBody>
      </p:sp>
      <p:sp>
        <p:nvSpPr>
          <p:cNvPr id="27" name="Text 25"/>
          <p:cNvSpPr txBox="1"/>
          <p:nvPr/>
        </p:nvSpPr>
        <p:spPr>
          <a:xfrm>
            <a:off x="8153400" y="4046220"/>
            <a:ext cx="3230880" cy="502920"/>
          </a:xfrm>
          <a:prstGeom prst="rect">
            <a:avLst/>
          </a:prstGeom>
          <a:noFill/>
          <a:ln/>
        </p:spPr>
        <p:txBody>
          <a:bodyPr wrap="square" lIns="0" tIns="0" rIns="0" bIns="0" rtlCol="0" anchor="ctr"/>
          <a:lstStyle/>
          <a:p>
            <a:pPr marL="0" indent="0">
              <a:buNone/>
            </a:pPr>
            <a:r>
              <a:rPr lang="en-US" sz="2400" b="1" dirty="0">
                <a:solidFill>
                  <a:srgbClr val="0B2545"/>
                </a:solidFill>
                <a:latin typeface="Courier New" pitchFamily="34" charset="0"/>
                <a:ea typeface="Courier New" pitchFamily="34" charset="-122"/>
                <a:cs typeface="Courier New" pitchFamily="34" charset="-120"/>
              </a:rPr>
              <a:t>sqrt()</a:t>
            </a:r>
            <a:endParaRPr lang="en-US" sz="2400" dirty="0"/>
          </a:p>
        </p:txBody>
      </p:sp>
      <p:sp>
        <p:nvSpPr>
          <p:cNvPr id="28" name="Text 26"/>
          <p:cNvSpPr txBox="1"/>
          <p:nvPr/>
        </p:nvSpPr>
        <p:spPr>
          <a:xfrm>
            <a:off x="8153400" y="4576572"/>
            <a:ext cx="3230880" cy="320040"/>
          </a:xfrm>
          <a:prstGeom prst="rect">
            <a:avLst/>
          </a:prstGeom>
          <a:noFill/>
          <a:ln/>
        </p:spPr>
        <p:txBody>
          <a:bodyPr wrap="square" lIns="0" tIns="0" rIns="0" bIns="0" rtlCol="0" anchor="ctr"/>
          <a:lstStyle/>
          <a:p>
            <a:pPr marL="0" indent="0">
              <a:buNone/>
            </a:pPr>
            <a:r>
              <a:rPr lang="en-US" sz="2000" b="1" dirty="0">
                <a:solidFill>
                  <a:srgbClr val="17223B"/>
                </a:solidFill>
                <a:latin typeface="Calibri" pitchFamily="34" charset="0"/>
                <a:ea typeface="Calibri" pitchFamily="34" charset="-122"/>
                <a:cs typeface="Calibri" pitchFamily="34" charset="-120"/>
              </a:rPr>
              <a:t>Square Root</a:t>
            </a:r>
            <a:endParaRPr lang="en-US" sz="2000" dirty="0"/>
          </a:p>
        </p:txBody>
      </p:sp>
      <p:sp>
        <p:nvSpPr>
          <p:cNvPr id="29" name="Text 27"/>
          <p:cNvSpPr txBox="1"/>
          <p:nvPr/>
        </p:nvSpPr>
        <p:spPr>
          <a:xfrm>
            <a:off x="8153400" y="4887468"/>
            <a:ext cx="3230880" cy="320040"/>
          </a:xfrm>
          <a:prstGeom prst="rect">
            <a:avLst/>
          </a:prstGeom>
          <a:noFill/>
          <a:ln/>
        </p:spPr>
        <p:txBody>
          <a:bodyPr wrap="square" lIns="0" tIns="0" rIns="0" bIns="0" rtlCol="0" anchor="ctr"/>
          <a:lstStyle/>
          <a:p>
            <a:pPr marL="0" indent="0">
              <a:buNone/>
            </a:pPr>
            <a:r>
              <a:rPr lang="en-US" dirty="0">
                <a:solidFill>
                  <a:srgbClr val="5C6B7A"/>
                </a:solidFill>
                <a:latin typeface="Courier New" pitchFamily="34" charset="0"/>
                <a:ea typeface="Courier New" pitchFamily="34" charset="-122"/>
                <a:cs typeface="Courier New" pitchFamily="34" charset="-120"/>
              </a:rPr>
              <a:t>sqrt(4)</a:t>
            </a:r>
            <a:endParaRPr lang="en-US" dirty="0"/>
          </a:p>
        </p:txBody>
      </p:sp>
      <p:sp>
        <p:nvSpPr>
          <p:cNvPr id="30" name="Text 28"/>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31" name="Text 29"/>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MATH SYNTAX</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Order of Precedence &amp; Built-in Constants</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3:48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Evaluated left-to-right using standard PEMDAS rules</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1. Parentheses ( )   2. Power ^   3. × and ÷   4. + and –</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pi — reserved constant for π (3.14159…)</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i / j — built-in imaginary units for complex numbers</a:t>
            </a:r>
            <a:endParaRPr lang="en-US" sz="2000" dirty="0"/>
          </a:p>
        </p:txBody>
      </p:sp>
      <p:sp>
        <p:nvSpPr>
          <p:cNvPr id="7" name="Shape 5"/>
          <p:cNvSpPr/>
          <p:nvPr/>
        </p:nvSpPr>
        <p:spPr>
          <a:xfrm>
            <a:off x="6903720" y="1600200"/>
            <a:ext cx="4709160" cy="4526280"/>
          </a:xfrm>
          <a:prstGeom prst="roundRect">
            <a:avLst>
              <a:gd name="adj" fmla="val 2424"/>
            </a:avLst>
          </a:prstGeom>
          <a:solidFill>
            <a:srgbClr val="E9EEF4"/>
          </a:solidFill>
          <a:ln w="12700">
            <a:solidFill>
              <a:srgbClr val="D7DEE7"/>
            </a:solidFill>
            <a:prstDash val="solid"/>
          </a:ln>
        </p:spPr>
        <p:txBody>
          <a:bodyPr/>
          <a:lstStyle/>
          <a:p>
            <a:endParaRPr lang="en-US"/>
          </a:p>
        </p:txBody>
      </p:sp>
      <p:sp>
        <p:nvSpPr>
          <p:cNvPr id="8" name="Shape 6"/>
          <p:cNvSpPr/>
          <p:nvPr/>
        </p:nvSpPr>
        <p:spPr>
          <a:xfrm>
            <a:off x="7086600" y="1783080"/>
            <a:ext cx="4343400" cy="930402"/>
          </a:xfrm>
          <a:prstGeom prst="roundRect">
            <a:avLst>
              <a:gd name="adj" fmla="val 11794"/>
            </a:avLst>
          </a:prstGeom>
          <a:solidFill>
            <a:srgbClr val="C9A227"/>
          </a:solidFill>
          <a:ln w="12700">
            <a:solidFill>
              <a:srgbClr val="D7DEE7"/>
            </a:solidFill>
            <a:prstDash val="solid"/>
          </a:ln>
        </p:spPr>
        <p:txBody>
          <a:bodyPr/>
          <a:lstStyle/>
          <a:p>
            <a:endParaRPr lang="en-US"/>
          </a:p>
        </p:txBody>
      </p:sp>
      <p:sp>
        <p:nvSpPr>
          <p:cNvPr id="9" name="Text 7"/>
          <p:cNvSpPr txBox="1"/>
          <p:nvPr/>
        </p:nvSpPr>
        <p:spPr>
          <a:xfrm>
            <a:off x="7086600" y="1783080"/>
            <a:ext cx="4343400" cy="930402"/>
          </a:xfrm>
          <a:prstGeom prst="rect">
            <a:avLst/>
          </a:prstGeom>
          <a:noFill/>
          <a:ln/>
        </p:spPr>
        <p:txBody>
          <a:bodyPr wrap="square" lIns="0" tIns="0" rIns="0" bIns="0" rtlCol="0" anchor="ctr"/>
          <a:lstStyle/>
          <a:p>
            <a:pPr marL="0" indent="0" algn="ctr">
              <a:buNone/>
            </a:pPr>
            <a:r>
              <a:rPr lang="en-US" sz="1600" b="1" dirty="0">
                <a:solidFill>
                  <a:srgbClr val="0B2545"/>
                </a:solidFill>
                <a:latin typeface="Calibri" pitchFamily="34" charset="0"/>
                <a:ea typeface="Calibri" pitchFamily="34" charset="-122"/>
                <a:cs typeface="Calibri" pitchFamily="34" charset="-120"/>
              </a:rPr>
              <a:t>( ) Parentheses</a:t>
            </a:r>
            <a:endParaRPr lang="en-US" sz="1600" dirty="0"/>
          </a:p>
        </p:txBody>
      </p:sp>
      <p:sp>
        <p:nvSpPr>
          <p:cNvPr id="10" name="Shape 8"/>
          <p:cNvSpPr/>
          <p:nvPr/>
        </p:nvSpPr>
        <p:spPr>
          <a:xfrm>
            <a:off x="7338060" y="2823210"/>
            <a:ext cx="3840480" cy="930402"/>
          </a:xfrm>
          <a:prstGeom prst="roundRect">
            <a:avLst>
              <a:gd name="adj" fmla="val 11794"/>
            </a:avLst>
          </a:prstGeom>
          <a:solidFill>
            <a:srgbClr val="DCE6F0"/>
          </a:solidFill>
          <a:ln w="12700">
            <a:solidFill>
              <a:srgbClr val="D7DEE7"/>
            </a:solidFill>
            <a:prstDash val="solid"/>
          </a:ln>
        </p:spPr>
        <p:txBody>
          <a:bodyPr/>
          <a:lstStyle/>
          <a:p>
            <a:endParaRPr lang="en-US"/>
          </a:p>
        </p:txBody>
      </p:sp>
      <p:sp>
        <p:nvSpPr>
          <p:cNvPr id="11" name="Text 9"/>
          <p:cNvSpPr txBox="1"/>
          <p:nvPr/>
        </p:nvSpPr>
        <p:spPr>
          <a:xfrm>
            <a:off x="7338060" y="2823210"/>
            <a:ext cx="3840480" cy="930402"/>
          </a:xfrm>
          <a:prstGeom prst="rect">
            <a:avLst/>
          </a:prstGeom>
          <a:noFill/>
          <a:ln/>
        </p:spPr>
        <p:txBody>
          <a:bodyPr wrap="square" lIns="0" tIns="0" rIns="0" bIns="0" rtlCol="0" anchor="ctr"/>
          <a:lstStyle/>
          <a:p>
            <a:pPr marL="0" indent="0" algn="ctr">
              <a:buNone/>
            </a:pPr>
            <a:r>
              <a:rPr lang="en-US" sz="1600" b="1" dirty="0">
                <a:solidFill>
                  <a:srgbClr val="17223B"/>
                </a:solidFill>
                <a:latin typeface="Calibri" pitchFamily="34" charset="0"/>
                <a:ea typeface="Calibri" pitchFamily="34" charset="-122"/>
                <a:cs typeface="Calibri" pitchFamily="34" charset="-120"/>
              </a:rPr>
              <a:t>^  Power</a:t>
            </a:r>
            <a:endParaRPr lang="en-US" sz="1600" dirty="0"/>
          </a:p>
        </p:txBody>
      </p:sp>
      <p:sp>
        <p:nvSpPr>
          <p:cNvPr id="12" name="Shape 10"/>
          <p:cNvSpPr/>
          <p:nvPr/>
        </p:nvSpPr>
        <p:spPr>
          <a:xfrm>
            <a:off x="7589520" y="3863340"/>
            <a:ext cx="3337560" cy="930402"/>
          </a:xfrm>
          <a:prstGeom prst="roundRect">
            <a:avLst>
              <a:gd name="adj" fmla="val 11794"/>
            </a:avLst>
          </a:prstGeom>
          <a:solidFill>
            <a:srgbClr val="DCE6F0"/>
          </a:solidFill>
          <a:ln w="12700">
            <a:solidFill>
              <a:srgbClr val="D7DEE7"/>
            </a:solidFill>
            <a:prstDash val="solid"/>
          </a:ln>
        </p:spPr>
        <p:txBody>
          <a:bodyPr/>
          <a:lstStyle/>
          <a:p>
            <a:endParaRPr lang="en-US"/>
          </a:p>
        </p:txBody>
      </p:sp>
      <p:sp>
        <p:nvSpPr>
          <p:cNvPr id="13" name="Text 11"/>
          <p:cNvSpPr txBox="1"/>
          <p:nvPr/>
        </p:nvSpPr>
        <p:spPr>
          <a:xfrm>
            <a:off x="7589520" y="3863340"/>
            <a:ext cx="3337560" cy="930402"/>
          </a:xfrm>
          <a:prstGeom prst="rect">
            <a:avLst/>
          </a:prstGeom>
          <a:noFill/>
          <a:ln/>
        </p:spPr>
        <p:txBody>
          <a:bodyPr wrap="square" lIns="0" tIns="0" rIns="0" bIns="0" rtlCol="0" anchor="ctr"/>
          <a:lstStyle/>
          <a:p>
            <a:pPr marL="0" indent="0" algn="ctr">
              <a:buNone/>
            </a:pPr>
            <a:r>
              <a:rPr lang="en-US" sz="1600" b="1" dirty="0">
                <a:solidFill>
                  <a:srgbClr val="17223B"/>
                </a:solidFill>
                <a:latin typeface="Calibri" pitchFamily="34" charset="0"/>
                <a:ea typeface="Calibri" pitchFamily="34" charset="-122"/>
                <a:cs typeface="Calibri" pitchFamily="34" charset="-120"/>
              </a:rPr>
              <a:t>× ÷  Mult. / Div.</a:t>
            </a:r>
            <a:endParaRPr lang="en-US" sz="1600" dirty="0"/>
          </a:p>
        </p:txBody>
      </p:sp>
      <p:sp>
        <p:nvSpPr>
          <p:cNvPr id="14" name="Shape 12"/>
          <p:cNvSpPr/>
          <p:nvPr/>
        </p:nvSpPr>
        <p:spPr>
          <a:xfrm>
            <a:off x="7840980" y="4903470"/>
            <a:ext cx="2834640" cy="930402"/>
          </a:xfrm>
          <a:prstGeom prst="roundRect">
            <a:avLst>
              <a:gd name="adj" fmla="val 11794"/>
            </a:avLst>
          </a:prstGeom>
          <a:solidFill>
            <a:srgbClr val="DCE6F0"/>
          </a:solidFill>
          <a:ln w="12700">
            <a:solidFill>
              <a:srgbClr val="D7DEE7"/>
            </a:solidFill>
            <a:prstDash val="solid"/>
          </a:ln>
        </p:spPr>
        <p:txBody>
          <a:bodyPr/>
          <a:lstStyle/>
          <a:p>
            <a:endParaRPr lang="en-US"/>
          </a:p>
        </p:txBody>
      </p:sp>
      <p:sp>
        <p:nvSpPr>
          <p:cNvPr id="15" name="Text 13"/>
          <p:cNvSpPr txBox="1"/>
          <p:nvPr/>
        </p:nvSpPr>
        <p:spPr>
          <a:xfrm>
            <a:off x="7840980" y="4903470"/>
            <a:ext cx="2834640" cy="930402"/>
          </a:xfrm>
          <a:prstGeom prst="rect">
            <a:avLst/>
          </a:prstGeom>
          <a:noFill/>
          <a:ln/>
        </p:spPr>
        <p:txBody>
          <a:bodyPr wrap="square" lIns="0" tIns="0" rIns="0" bIns="0" rtlCol="0" anchor="ctr"/>
          <a:lstStyle/>
          <a:p>
            <a:pPr marL="0" indent="0" algn="ctr">
              <a:buNone/>
            </a:pPr>
            <a:r>
              <a:rPr lang="en-US" sz="1600" b="1" dirty="0">
                <a:solidFill>
                  <a:srgbClr val="17223B"/>
                </a:solidFill>
                <a:latin typeface="Calibri" pitchFamily="34" charset="0"/>
                <a:ea typeface="Calibri" pitchFamily="34" charset="-122"/>
                <a:cs typeface="Calibri" pitchFamily="34" charset="-120"/>
              </a:rPr>
              <a:t>+ –  Add / Subtract</a:t>
            </a:r>
            <a:endParaRPr lang="en-US" sz="1600" dirty="0"/>
          </a:p>
        </p:txBody>
      </p:sp>
      <p:sp>
        <p:nvSpPr>
          <p:cNvPr id="16" name="Text 14"/>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7" name="Text 15"/>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MATH SYNTAX</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Built-In Mathematical Functions</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3:52 PM</a:t>
            </a:r>
            <a:endParaRPr lang="en-US" sz="1150" dirty="0"/>
          </a:p>
        </p:txBody>
      </p:sp>
      <p:sp>
        <p:nvSpPr>
          <p:cNvPr id="6" name="Shape 4"/>
          <p:cNvSpPr/>
          <p:nvPr/>
        </p:nvSpPr>
        <p:spPr>
          <a:xfrm>
            <a:off x="548640" y="1600200"/>
            <a:ext cx="3505200" cy="4526280"/>
          </a:xfrm>
          <a:prstGeom prst="roundRect">
            <a:avLst>
              <a:gd name="adj" fmla="val 3130"/>
            </a:avLst>
          </a:prstGeom>
          <a:solidFill>
            <a:srgbClr val="E9EEF4"/>
          </a:solidFill>
          <a:ln w="12700">
            <a:solidFill>
              <a:srgbClr val="D7DEE7"/>
            </a:solidFill>
            <a:prstDash val="solid"/>
          </a:ln>
        </p:spPr>
        <p:txBody>
          <a:bodyPr/>
          <a:lstStyle/>
          <a:p>
            <a:endParaRPr lang="en-US"/>
          </a:p>
        </p:txBody>
      </p:sp>
      <p:sp>
        <p:nvSpPr>
          <p:cNvPr id="7" name="Text 5"/>
          <p:cNvSpPr txBox="1"/>
          <p:nvPr/>
        </p:nvSpPr>
        <p:spPr>
          <a:xfrm>
            <a:off x="731520" y="1783080"/>
            <a:ext cx="3139440" cy="411480"/>
          </a:xfrm>
          <a:prstGeom prst="rect">
            <a:avLst/>
          </a:prstGeom>
          <a:noFill/>
          <a:ln/>
        </p:spPr>
        <p:txBody>
          <a:bodyPr wrap="square" lIns="0" tIns="0" rIns="0" bIns="0"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Trigonometric</a:t>
            </a:r>
            <a:endParaRPr lang="en-US" sz="2000" dirty="0"/>
          </a:p>
        </p:txBody>
      </p:sp>
      <p:sp>
        <p:nvSpPr>
          <p:cNvPr id="8" name="Text 6"/>
          <p:cNvSpPr txBox="1"/>
          <p:nvPr/>
        </p:nvSpPr>
        <p:spPr>
          <a:xfrm>
            <a:off x="731520" y="2286000"/>
            <a:ext cx="3139440" cy="3611880"/>
          </a:xfrm>
          <a:prstGeom prst="rect">
            <a:avLst/>
          </a:prstGeom>
          <a:noFill/>
          <a:ln/>
        </p:spPr>
        <p:txBody>
          <a:bodyPr wrap="square" lIns="0" tIns="0" rIns="0" bIns="0" rtlCol="0" anchor="ctr"/>
          <a:lstStyle/>
          <a:p>
            <a:pPr marL="228600" indent="-228600">
              <a:spcAft>
                <a:spcPts val="1400"/>
              </a:spcAft>
              <a:buSzPct val="100000"/>
              <a:buChar char="▪"/>
            </a:pPr>
            <a:r>
              <a:rPr lang="en-US" sz="1600" dirty="0">
                <a:solidFill>
                  <a:srgbClr val="17223B"/>
                </a:solidFill>
                <a:latin typeface="Calibri" pitchFamily="34" charset="0"/>
                <a:ea typeface="Calibri" pitchFamily="34" charset="-122"/>
                <a:cs typeface="Calibri" pitchFamily="34" charset="-120"/>
              </a:rPr>
              <a:t>sin(x), cos(x), tan(x)</a:t>
            </a:r>
            <a:endParaRPr lang="en-US" sz="1600" dirty="0"/>
          </a:p>
          <a:p>
            <a:pPr marL="228600" indent="-228600">
              <a:spcAft>
                <a:spcPts val="1400"/>
              </a:spcAft>
              <a:buSzPct val="100000"/>
              <a:buChar char="▪"/>
            </a:pPr>
            <a:r>
              <a:rPr lang="en-US" sz="1600" dirty="0">
                <a:solidFill>
                  <a:srgbClr val="17223B"/>
                </a:solidFill>
                <a:latin typeface="Calibri" pitchFamily="34" charset="0"/>
                <a:ea typeface="Calibri" pitchFamily="34" charset="-122"/>
                <a:cs typeface="Calibri" pitchFamily="34" charset="-120"/>
              </a:rPr>
              <a:t>asin(x), acos(x), atan(x)</a:t>
            </a:r>
            <a:endParaRPr lang="en-US" sz="1600" dirty="0"/>
          </a:p>
        </p:txBody>
      </p:sp>
      <p:sp>
        <p:nvSpPr>
          <p:cNvPr id="9" name="Shape 7"/>
          <p:cNvSpPr/>
          <p:nvPr/>
        </p:nvSpPr>
        <p:spPr>
          <a:xfrm>
            <a:off x="4328160" y="1600200"/>
            <a:ext cx="3505200" cy="4526280"/>
          </a:xfrm>
          <a:prstGeom prst="roundRect">
            <a:avLst>
              <a:gd name="adj" fmla="val 3130"/>
            </a:avLst>
          </a:prstGeom>
          <a:solidFill>
            <a:srgbClr val="E9EEF4"/>
          </a:solidFill>
          <a:ln w="12700">
            <a:solidFill>
              <a:srgbClr val="D7DEE7"/>
            </a:solidFill>
            <a:prstDash val="solid"/>
          </a:ln>
        </p:spPr>
        <p:txBody>
          <a:bodyPr/>
          <a:lstStyle/>
          <a:p>
            <a:endParaRPr lang="en-US"/>
          </a:p>
        </p:txBody>
      </p:sp>
      <p:sp>
        <p:nvSpPr>
          <p:cNvPr id="10" name="Text 8"/>
          <p:cNvSpPr txBox="1"/>
          <p:nvPr/>
        </p:nvSpPr>
        <p:spPr>
          <a:xfrm>
            <a:off x="4511040" y="1783080"/>
            <a:ext cx="3139440" cy="411480"/>
          </a:xfrm>
          <a:prstGeom prst="rect">
            <a:avLst/>
          </a:prstGeom>
          <a:noFill/>
          <a:ln/>
        </p:spPr>
        <p:txBody>
          <a:bodyPr wrap="square" lIns="0" tIns="0" rIns="0" bIns="0"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Exponential / Log</a:t>
            </a:r>
            <a:endParaRPr lang="en-US" sz="2000" dirty="0"/>
          </a:p>
        </p:txBody>
      </p:sp>
      <p:sp>
        <p:nvSpPr>
          <p:cNvPr id="11" name="Text 9"/>
          <p:cNvSpPr txBox="1"/>
          <p:nvPr/>
        </p:nvSpPr>
        <p:spPr>
          <a:xfrm>
            <a:off x="4511040" y="2286000"/>
            <a:ext cx="3139440" cy="3611880"/>
          </a:xfrm>
          <a:prstGeom prst="rect">
            <a:avLst/>
          </a:prstGeom>
          <a:noFill/>
          <a:ln/>
        </p:spPr>
        <p:txBody>
          <a:bodyPr wrap="square" lIns="0" tIns="0" rIns="0" bIns="0" rtlCol="0" anchor="ctr"/>
          <a:lstStyle/>
          <a:p>
            <a:pPr marL="228600" indent="-228600">
              <a:spcAft>
                <a:spcPts val="1400"/>
              </a:spcAft>
              <a:buSzPct val="100000"/>
              <a:buChar char="▪"/>
            </a:pPr>
            <a:r>
              <a:rPr lang="en-US" sz="1600" dirty="0">
                <a:solidFill>
                  <a:srgbClr val="17223B"/>
                </a:solidFill>
                <a:latin typeface="Calibri" pitchFamily="34" charset="0"/>
                <a:ea typeface="Calibri" pitchFamily="34" charset="-122"/>
                <a:cs typeface="Calibri" pitchFamily="34" charset="-120"/>
              </a:rPr>
              <a:t>exp(x)  →  eˣ</a:t>
            </a:r>
            <a:endParaRPr lang="en-US" sz="1600" dirty="0"/>
          </a:p>
          <a:p>
            <a:pPr marL="228600" indent="-228600">
              <a:spcAft>
                <a:spcPts val="1400"/>
              </a:spcAft>
              <a:buSzPct val="100000"/>
              <a:buChar char="▪"/>
            </a:pPr>
            <a:r>
              <a:rPr lang="en-US" sz="1600" dirty="0">
                <a:solidFill>
                  <a:srgbClr val="17223B"/>
                </a:solidFill>
                <a:latin typeface="Calibri" pitchFamily="34" charset="0"/>
                <a:ea typeface="Calibri" pitchFamily="34" charset="-122"/>
                <a:cs typeface="Calibri" pitchFamily="34" charset="-120"/>
              </a:rPr>
              <a:t>log(x)  →  natural log</a:t>
            </a:r>
            <a:endParaRPr lang="en-US" sz="1600" dirty="0"/>
          </a:p>
        </p:txBody>
      </p:sp>
      <p:sp>
        <p:nvSpPr>
          <p:cNvPr id="12" name="Shape 10"/>
          <p:cNvSpPr/>
          <p:nvPr/>
        </p:nvSpPr>
        <p:spPr>
          <a:xfrm>
            <a:off x="8107680" y="1600200"/>
            <a:ext cx="3505200" cy="4526280"/>
          </a:xfrm>
          <a:prstGeom prst="roundRect">
            <a:avLst>
              <a:gd name="adj" fmla="val 3130"/>
            </a:avLst>
          </a:prstGeom>
          <a:solidFill>
            <a:srgbClr val="E9EEF4"/>
          </a:solidFill>
          <a:ln w="12700">
            <a:solidFill>
              <a:srgbClr val="D7DEE7"/>
            </a:solidFill>
            <a:prstDash val="solid"/>
          </a:ln>
        </p:spPr>
        <p:txBody>
          <a:bodyPr/>
          <a:lstStyle/>
          <a:p>
            <a:endParaRPr lang="en-US"/>
          </a:p>
        </p:txBody>
      </p:sp>
      <p:sp>
        <p:nvSpPr>
          <p:cNvPr id="13" name="Text 11"/>
          <p:cNvSpPr txBox="1"/>
          <p:nvPr/>
        </p:nvSpPr>
        <p:spPr>
          <a:xfrm>
            <a:off x="8290560" y="1783080"/>
            <a:ext cx="3139440" cy="411480"/>
          </a:xfrm>
          <a:prstGeom prst="rect">
            <a:avLst/>
          </a:prstGeom>
          <a:noFill/>
          <a:ln/>
        </p:spPr>
        <p:txBody>
          <a:bodyPr wrap="square" lIns="0" tIns="0" rIns="0" bIns="0"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Modulo</a:t>
            </a:r>
            <a:endParaRPr lang="en-US" sz="2000" dirty="0"/>
          </a:p>
        </p:txBody>
      </p:sp>
      <p:sp>
        <p:nvSpPr>
          <p:cNvPr id="14" name="Text 12"/>
          <p:cNvSpPr txBox="1"/>
          <p:nvPr/>
        </p:nvSpPr>
        <p:spPr>
          <a:xfrm>
            <a:off x="8290560" y="2286000"/>
            <a:ext cx="3139440" cy="3611880"/>
          </a:xfrm>
          <a:prstGeom prst="rect">
            <a:avLst/>
          </a:prstGeom>
          <a:noFill/>
          <a:ln/>
        </p:spPr>
        <p:txBody>
          <a:bodyPr wrap="square" lIns="0" tIns="0" rIns="0" bIns="0" rtlCol="0" anchor="ctr"/>
          <a:lstStyle/>
          <a:p>
            <a:pPr marL="228600" indent="-228600">
              <a:spcAft>
                <a:spcPts val="1400"/>
              </a:spcAft>
              <a:buSzPct val="100000"/>
              <a:buChar char="▪"/>
            </a:pPr>
            <a:r>
              <a:rPr lang="en-US" sz="1600" dirty="0">
                <a:solidFill>
                  <a:srgbClr val="17223B"/>
                </a:solidFill>
                <a:latin typeface="Calibri" pitchFamily="34" charset="0"/>
                <a:ea typeface="Calibri" pitchFamily="34" charset="-122"/>
                <a:cs typeface="Calibri" pitchFamily="34" charset="-120"/>
              </a:rPr>
              <a:t>rem(x, y)  →  remainder of x ÷ y</a:t>
            </a:r>
            <a:endParaRPr lang="en-US" sz="1600" dirty="0"/>
          </a:p>
        </p:txBody>
      </p:sp>
      <p:sp>
        <p:nvSpPr>
          <p:cNvPr id="15" name="Text 13"/>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6" name="Text 14"/>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MATH SYNTAX</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Translating Complex Equations to MATLAB Code</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3:56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Group full numerator and denominator with parentheses</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Without grouping, division runs first and breaks the result</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Always include an explicit * for every multiplication</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y = (v^3 * pi) / (v^3 - u^3)</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 from: y = v³π / (v³ − u³)</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c = exp(-0.2 * t) * cos(2 * t)</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 from: c = e^(-0.2t) cos(2t)</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SCRIPTS &amp; M-FILES</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MATLAB Scripts and M-File Rules</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3:59 PM</a:t>
            </a:r>
            <a:endParaRPr lang="en-US" sz="1150" dirty="0"/>
          </a:p>
        </p:txBody>
      </p:sp>
      <p:sp>
        <p:nvSpPr>
          <p:cNvPr id="6" name="Shape 4"/>
          <p:cNvSpPr/>
          <p:nvPr/>
        </p:nvSpPr>
        <p:spPr>
          <a:xfrm>
            <a:off x="548640" y="1600200"/>
            <a:ext cx="5394960" cy="4526280"/>
          </a:xfrm>
          <a:prstGeom prst="roundRect">
            <a:avLst>
              <a:gd name="adj" fmla="val 2424"/>
            </a:avLst>
          </a:prstGeom>
          <a:solidFill>
            <a:srgbClr val="E4F1EA"/>
          </a:solidFill>
          <a:ln w="12700">
            <a:solidFill>
              <a:srgbClr val="D7DEE7"/>
            </a:solidFill>
            <a:prstDash val="solid"/>
          </a:ln>
        </p:spPr>
        <p:txBody>
          <a:bodyPr/>
          <a:lstStyle/>
          <a:p>
            <a:endParaRPr lang="en-US"/>
          </a:p>
        </p:txBody>
      </p:sp>
      <p:sp>
        <p:nvSpPr>
          <p:cNvPr id="7" name="Text 5"/>
          <p:cNvSpPr txBox="1"/>
          <p:nvPr/>
        </p:nvSpPr>
        <p:spPr>
          <a:xfrm>
            <a:off x="777240" y="1783080"/>
            <a:ext cx="4937760" cy="365760"/>
          </a:xfrm>
          <a:prstGeom prst="rect">
            <a:avLst/>
          </a:prstGeom>
          <a:noFill/>
          <a:ln/>
        </p:spPr>
        <p:txBody>
          <a:bodyPr wrap="square" lIns="0" tIns="0" rIns="0" bIns="0" rtlCol="0" anchor="ctr"/>
          <a:lstStyle/>
          <a:p>
            <a:pPr marL="0" indent="0">
              <a:buNone/>
            </a:pPr>
            <a:r>
              <a:rPr lang="en-US" sz="2000" b="1" dirty="0">
                <a:solidFill>
                  <a:srgbClr val="1E7A46"/>
                </a:solidFill>
                <a:latin typeface="Calibri" pitchFamily="34" charset="0"/>
                <a:ea typeface="Calibri" pitchFamily="34" charset="-122"/>
                <a:cs typeface="Calibri" pitchFamily="34" charset="-120"/>
              </a:rPr>
              <a:t>✓ Valid Names</a:t>
            </a:r>
            <a:endParaRPr lang="en-US" sz="2000" dirty="0"/>
          </a:p>
        </p:txBody>
      </p:sp>
      <p:sp>
        <p:nvSpPr>
          <p:cNvPr id="8" name="Text 6"/>
          <p:cNvSpPr txBox="1"/>
          <p:nvPr/>
        </p:nvSpPr>
        <p:spPr>
          <a:xfrm>
            <a:off x="777240" y="2286000"/>
            <a:ext cx="4937760" cy="3703320"/>
          </a:xfrm>
          <a:prstGeom prst="rect">
            <a:avLst/>
          </a:prstGeom>
          <a:noFill/>
          <a:ln/>
        </p:spPr>
        <p:txBody>
          <a:bodyPr wrap="square" lIns="0" tIns="0" rIns="0" bIns="0" rtlCol="0" anchor="t"/>
          <a:lstStyle/>
          <a:p>
            <a:pPr marL="228600" indent="-228600">
              <a:spcAft>
                <a:spcPts val="1400"/>
              </a:spcAft>
              <a:buSzPct val="100000"/>
              <a:buChar char="▪"/>
            </a:pPr>
            <a:r>
              <a:rPr lang="en-US" dirty="0">
                <a:solidFill>
                  <a:srgbClr val="17223B"/>
                </a:solidFill>
                <a:latin typeface="Calibri" pitchFamily="34" charset="0"/>
                <a:ea typeface="Calibri" pitchFamily="34" charset="-122"/>
                <a:cs typeface="Calibri" pitchFamily="34" charset="-120"/>
              </a:rPr>
              <a:t>area1.m</a:t>
            </a:r>
            <a:endParaRPr lang="en-US" dirty="0"/>
          </a:p>
          <a:p>
            <a:pPr marL="228600" indent="-228600">
              <a:spcAft>
                <a:spcPts val="1400"/>
              </a:spcAft>
              <a:buSzPct val="100000"/>
              <a:buChar char="▪"/>
            </a:pPr>
            <a:r>
              <a:rPr lang="en-US" dirty="0">
                <a:solidFill>
                  <a:srgbClr val="17223B"/>
                </a:solidFill>
                <a:latin typeface="Calibri" pitchFamily="34" charset="0"/>
                <a:ea typeface="Calibri" pitchFamily="34" charset="-122"/>
                <a:cs typeface="Calibri" pitchFamily="34" charset="-120"/>
              </a:rPr>
              <a:t>borehole_log.m</a:t>
            </a:r>
            <a:endParaRPr lang="en-US" dirty="0"/>
          </a:p>
          <a:p>
            <a:pPr marL="228600" indent="-228600">
              <a:spcAft>
                <a:spcPts val="1400"/>
              </a:spcAft>
              <a:buSzPct val="100000"/>
              <a:buChar char="▪"/>
            </a:pPr>
            <a:r>
              <a:rPr lang="en-US" dirty="0">
                <a:solidFill>
                  <a:srgbClr val="17223B"/>
                </a:solidFill>
                <a:latin typeface="Calibri" pitchFamily="34" charset="0"/>
                <a:ea typeface="Calibri" pitchFamily="34" charset="-122"/>
                <a:cs typeface="Calibri" pitchFamily="34" charset="-120"/>
              </a:rPr>
              <a:t>circle_area.m</a:t>
            </a:r>
            <a:endParaRPr lang="en-US" dirty="0"/>
          </a:p>
        </p:txBody>
      </p:sp>
      <p:sp>
        <p:nvSpPr>
          <p:cNvPr id="9" name="Shape 7"/>
          <p:cNvSpPr/>
          <p:nvPr/>
        </p:nvSpPr>
        <p:spPr>
          <a:xfrm>
            <a:off x="6217920" y="1600200"/>
            <a:ext cx="5394960" cy="4526280"/>
          </a:xfrm>
          <a:prstGeom prst="roundRect">
            <a:avLst>
              <a:gd name="adj" fmla="val 2424"/>
            </a:avLst>
          </a:prstGeom>
          <a:solidFill>
            <a:srgbClr val="FBEAE7"/>
          </a:solidFill>
          <a:ln w="12700">
            <a:solidFill>
              <a:srgbClr val="D7DEE7"/>
            </a:solidFill>
            <a:prstDash val="solid"/>
          </a:ln>
        </p:spPr>
        <p:txBody>
          <a:bodyPr/>
          <a:lstStyle/>
          <a:p>
            <a:endParaRPr lang="en-US"/>
          </a:p>
        </p:txBody>
      </p:sp>
      <p:sp>
        <p:nvSpPr>
          <p:cNvPr id="10" name="Text 8"/>
          <p:cNvSpPr txBox="1"/>
          <p:nvPr/>
        </p:nvSpPr>
        <p:spPr>
          <a:xfrm>
            <a:off x="6446520" y="1783080"/>
            <a:ext cx="4937760" cy="365760"/>
          </a:xfrm>
          <a:prstGeom prst="rect">
            <a:avLst/>
          </a:prstGeom>
          <a:noFill/>
          <a:ln/>
        </p:spPr>
        <p:txBody>
          <a:bodyPr wrap="square" lIns="0" tIns="0" rIns="0" bIns="0" rtlCol="0" anchor="ctr"/>
          <a:lstStyle/>
          <a:p>
            <a:pPr marL="0" indent="0">
              <a:buNone/>
            </a:pPr>
            <a:r>
              <a:rPr lang="en-US" sz="2000" b="1" dirty="0">
                <a:solidFill>
                  <a:srgbClr val="A23B2E"/>
                </a:solidFill>
                <a:latin typeface="Calibri" pitchFamily="34" charset="0"/>
                <a:ea typeface="Calibri" pitchFamily="34" charset="-122"/>
                <a:cs typeface="Calibri" pitchFamily="34" charset="-120"/>
              </a:rPr>
              <a:t>✗ Invalid Names</a:t>
            </a:r>
            <a:endParaRPr lang="en-US" sz="2000" dirty="0"/>
          </a:p>
        </p:txBody>
      </p:sp>
      <p:sp>
        <p:nvSpPr>
          <p:cNvPr id="11" name="Text 9"/>
          <p:cNvSpPr txBox="1"/>
          <p:nvPr/>
        </p:nvSpPr>
        <p:spPr>
          <a:xfrm>
            <a:off x="6446520" y="2286000"/>
            <a:ext cx="4937760" cy="3703320"/>
          </a:xfrm>
          <a:prstGeom prst="rect">
            <a:avLst/>
          </a:prstGeom>
          <a:noFill/>
          <a:ln/>
        </p:spPr>
        <p:txBody>
          <a:bodyPr wrap="square" lIns="0" tIns="0" rIns="0" bIns="0" rtlCol="0" anchor="t"/>
          <a:lstStyle/>
          <a:p>
            <a:pPr marL="228600" indent="-228600">
              <a:spcAft>
                <a:spcPts val="1400"/>
              </a:spcAft>
              <a:buSzPct val="100000"/>
              <a:buChar char="▪"/>
            </a:pPr>
            <a:r>
              <a:rPr lang="en-US" dirty="0">
                <a:solidFill>
                  <a:srgbClr val="17223B"/>
                </a:solidFill>
                <a:latin typeface="Calibri" pitchFamily="34" charset="0"/>
                <a:ea typeface="Calibri" pitchFamily="34" charset="-122"/>
                <a:cs typeface="Calibri" pitchFamily="34" charset="-120"/>
              </a:rPr>
              <a:t>1area.m  (starts with a number)</a:t>
            </a:r>
            <a:endParaRPr lang="en-US" dirty="0"/>
          </a:p>
          <a:p>
            <a:pPr marL="228600" indent="-228600">
              <a:spcAft>
                <a:spcPts val="1400"/>
              </a:spcAft>
              <a:buSzPct val="100000"/>
              <a:buChar char="▪"/>
            </a:pPr>
            <a:r>
              <a:rPr lang="en-US" dirty="0">
                <a:solidFill>
                  <a:srgbClr val="17223B"/>
                </a:solidFill>
                <a:latin typeface="Calibri" pitchFamily="34" charset="0"/>
                <a:ea typeface="Calibri" pitchFamily="34" charset="-122"/>
                <a:cs typeface="Calibri" pitchFamily="34" charset="-120"/>
              </a:rPr>
              <a:t>area log.m  (contains a space)</a:t>
            </a:r>
            <a:endParaRPr lang="en-US" dirty="0"/>
          </a:p>
          <a:p>
            <a:pPr marL="228600" indent="-228600">
              <a:spcAft>
                <a:spcPts val="1400"/>
              </a:spcAft>
              <a:buSzPct val="100000"/>
              <a:buChar char="▪"/>
            </a:pPr>
            <a:r>
              <a:rPr lang="en-US" dirty="0">
                <a:solidFill>
                  <a:srgbClr val="17223B"/>
                </a:solidFill>
                <a:latin typeface="Calibri" pitchFamily="34" charset="0"/>
                <a:ea typeface="Calibri" pitchFamily="34" charset="-122"/>
                <a:cs typeface="Calibri" pitchFamily="34" charset="-120"/>
              </a:rPr>
              <a:t>plot.m  (shadows a MATLAB function)</a:t>
            </a:r>
            <a:endParaRPr lang="en-US" dirty="0"/>
          </a:p>
        </p:txBody>
      </p:sp>
      <p:sp>
        <p:nvSpPr>
          <p:cNvPr id="12" name="Text 10"/>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3" name="Text 11"/>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SCRIPTS &amp; M-FILES</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How MATLAB Searches for Commands</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4:03 PM</a:t>
            </a:r>
            <a:endParaRPr lang="en-US" sz="1150" dirty="0"/>
          </a:p>
        </p:txBody>
      </p:sp>
      <p:sp>
        <p:nvSpPr>
          <p:cNvPr id="6" name="Shape 4"/>
          <p:cNvSpPr/>
          <p:nvPr/>
        </p:nvSpPr>
        <p:spPr>
          <a:xfrm>
            <a:off x="548640" y="1874520"/>
            <a:ext cx="2560320" cy="3977640"/>
          </a:xfrm>
          <a:prstGeom prst="roundRect">
            <a:avLst>
              <a:gd name="adj" fmla="val 4286"/>
            </a:avLst>
          </a:prstGeom>
          <a:solidFill>
            <a:srgbClr val="0B2545"/>
          </a:solidFill>
          <a:ln w="12700">
            <a:solidFill>
              <a:srgbClr val="D7DEE7"/>
            </a:solidFill>
            <a:prstDash val="solid"/>
          </a:ln>
        </p:spPr>
        <p:txBody>
          <a:bodyPr/>
          <a:lstStyle/>
          <a:p>
            <a:endParaRPr lang="en-US"/>
          </a:p>
        </p:txBody>
      </p:sp>
      <p:sp>
        <p:nvSpPr>
          <p:cNvPr id="7" name="Text 5"/>
          <p:cNvSpPr txBox="1"/>
          <p:nvPr/>
        </p:nvSpPr>
        <p:spPr>
          <a:xfrm>
            <a:off x="685800" y="1874520"/>
            <a:ext cx="2286000" cy="397764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 Workspace — active variable?</a:t>
            </a:r>
            <a:endParaRPr lang="en-US" dirty="0"/>
          </a:p>
        </p:txBody>
      </p:sp>
      <p:sp>
        <p:nvSpPr>
          <p:cNvPr id="8" name="Shape 6"/>
          <p:cNvSpPr/>
          <p:nvPr/>
        </p:nvSpPr>
        <p:spPr>
          <a:xfrm>
            <a:off x="3383280" y="1874520"/>
            <a:ext cx="2560320" cy="3977640"/>
          </a:xfrm>
          <a:prstGeom prst="roundRect">
            <a:avLst>
              <a:gd name="adj" fmla="val 4286"/>
            </a:avLst>
          </a:prstGeom>
          <a:solidFill>
            <a:srgbClr val="1C7293"/>
          </a:solidFill>
          <a:ln w="12700">
            <a:solidFill>
              <a:srgbClr val="D7DEE7"/>
            </a:solidFill>
            <a:prstDash val="solid"/>
          </a:ln>
        </p:spPr>
        <p:txBody>
          <a:bodyPr/>
          <a:lstStyle/>
          <a:p>
            <a:endParaRPr lang="en-US"/>
          </a:p>
        </p:txBody>
      </p:sp>
      <p:sp>
        <p:nvSpPr>
          <p:cNvPr id="9" name="Text 7"/>
          <p:cNvSpPr txBox="1"/>
          <p:nvPr/>
        </p:nvSpPr>
        <p:spPr>
          <a:xfrm>
            <a:off x="3520440" y="1874520"/>
            <a:ext cx="2286000" cy="397764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 Current Directory — M-file here?</a:t>
            </a:r>
            <a:endParaRPr lang="en-US" dirty="0"/>
          </a:p>
        </p:txBody>
      </p:sp>
      <p:sp>
        <p:nvSpPr>
          <p:cNvPr id="10" name="Shape 8"/>
          <p:cNvSpPr/>
          <p:nvPr/>
        </p:nvSpPr>
        <p:spPr>
          <a:xfrm>
            <a:off x="6217920" y="1874520"/>
            <a:ext cx="2560320" cy="3977640"/>
          </a:xfrm>
          <a:prstGeom prst="roundRect">
            <a:avLst>
              <a:gd name="adj" fmla="val 4286"/>
            </a:avLst>
          </a:prstGeom>
          <a:solidFill>
            <a:srgbClr val="3D7EA6"/>
          </a:solidFill>
          <a:ln w="12700">
            <a:solidFill>
              <a:srgbClr val="D7DEE7"/>
            </a:solidFill>
            <a:prstDash val="solid"/>
          </a:ln>
        </p:spPr>
        <p:txBody>
          <a:bodyPr/>
          <a:lstStyle/>
          <a:p>
            <a:endParaRPr lang="en-US"/>
          </a:p>
        </p:txBody>
      </p:sp>
      <p:sp>
        <p:nvSpPr>
          <p:cNvPr id="11" name="Text 9"/>
          <p:cNvSpPr txBox="1"/>
          <p:nvPr/>
        </p:nvSpPr>
        <p:spPr>
          <a:xfrm>
            <a:off x="6355080" y="1874520"/>
            <a:ext cx="2286000" cy="397764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 Search Path — scan added folders</a:t>
            </a:r>
            <a:endParaRPr lang="en-US" dirty="0"/>
          </a:p>
        </p:txBody>
      </p:sp>
      <p:sp>
        <p:nvSpPr>
          <p:cNvPr id="12" name="Shape 10"/>
          <p:cNvSpPr/>
          <p:nvPr/>
        </p:nvSpPr>
        <p:spPr>
          <a:xfrm>
            <a:off x="9052560" y="1874520"/>
            <a:ext cx="2560320" cy="3977640"/>
          </a:xfrm>
          <a:prstGeom prst="roundRect">
            <a:avLst>
              <a:gd name="adj" fmla="val 4286"/>
            </a:avLst>
          </a:prstGeom>
          <a:solidFill>
            <a:srgbClr val="A23B2E"/>
          </a:solidFill>
          <a:ln w="12700">
            <a:solidFill>
              <a:srgbClr val="D7DEE7"/>
            </a:solidFill>
            <a:prstDash val="solid"/>
          </a:ln>
        </p:spPr>
        <p:txBody>
          <a:bodyPr/>
          <a:lstStyle/>
          <a:p>
            <a:endParaRPr lang="en-US"/>
          </a:p>
        </p:txBody>
      </p:sp>
      <p:sp>
        <p:nvSpPr>
          <p:cNvPr id="13" name="Text 11"/>
          <p:cNvSpPr txBox="1"/>
          <p:nvPr/>
        </p:nvSpPr>
        <p:spPr>
          <a:xfrm>
            <a:off x="9189720" y="1874520"/>
            <a:ext cx="2286000" cy="397764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Not found → “Undefined function or variable” error</a:t>
            </a:r>
            <a:endParaRPr lang="en-US" dirty="0"/>
          </a:p>
        </p:txBody>
      </p:sp>
      <p:sp>
        <p:nvSpPr>
          <p:cNvPr id="14" name="Text 12"/>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5" name="Text 13"/>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SCRIPTS &amp; M-FILES</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Output Suppression &amp; Code Layout</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4:06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Semicolon ( ; ) suppresses a line's output in the Command Window</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Improves performance by avoiding screen rendering overhead</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Ellipsis ( ... ) splits a long expression across multiple lines</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r = 3;          % suppressed</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area = pi * r^2  % printed</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total = a + b + c + ...</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d + e;   % continued</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HANDS-ON LAB</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Lab 1 &amp; 2: Scripting and Interactive Input</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4:09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Lab 1: compute a circle's area from its radius</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Save as circle_area.m — never plot.m or area.m</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Lab 2: prompt the user, convert °F to Kelvin</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input() reads a value typed by the user at runtime</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circle_area.m</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r = 3;</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area = pi * r^2</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temp_convert.m</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clc;</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tF = input('Enter °F: ');</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tK = (5/9)*(tF-32) + 273.15;</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disp(['Kelvin: ', num2str(tK)])</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HANDS-ON LAB</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Lab 3: Distance Between Survey Coordinates</a:t>
            </a:r>
            <a:endParaRPr lang="en-US" sz="30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4:17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Common task: distance between two survey/borehole stations</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Pythagorean distance formula: d = √[(x₁−x₂)² + (y₁−y₂)²]</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Prompt for all four coordinates with input()</a:t>
            </a:r>
            <a:endParaRPr lang="en-US" sz="2000" dirty="0"/>
          </a:p>
          <a:p>
            <a:pPr marL="228600" indent="-228600">
              <a:spcAft>
                <a:spcPts val="1400"/>
              </a:spcAft>
              <a:buSzPct val="100000"/>
              <a:buChar char="▪"/>
            </a:pPr>
            <a:r>
              <a:rPr lang="en-US" sz="2000" dirty="0">
                <a:solidFill>
                  <a:srgbClr val="17223B"/>
                </a:solidFill>
                <a:latin typeface="Calibri" pitchFamily="34" charset="0"/>
                <a:ea typeface="Calibri" pitchFamily="34" charset="-122"/>
                <a:cs typeface="Calibri" pitchFamily="34" charset="-120"/>
              </a:rPr>
              <a:t>Tip: double-check every index when copy-pasting variables</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clc;</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x1 = input('Enter x1: ');</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x2 = input('Enter x2: ');</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y1 = input('Enter y1: ');</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y2 = input('Enter y2: ');</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d = sqrt((x1-x2)^2 + (y1-y2)^2)</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WRAP-UP</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Week 1 Checklist &amp; Next Steps</a:t>
            </a:r>
            <a:endParaRPr lang="en-US" sz="3000" dirty="0"/>
          </a:p>
        </p:txBody>
      </p:sp>
      <p:sp>
        <p:nvSpPr>
          <p:cNvPr id="4" name="Shape 2"/>
          <p:cNvSpPr/>
          <p:nvPr/>
        </p:nvSpPr>
        <p:spPr>
          <a:xfrm>
            <a:off x="10134295" y="365760"/>
            <a:ext cx="1508760" cy="365760"/>
          </a:xfrm>
          <a:prstGeom prst="roundRect">
            <a:avLst>
              <a:gd name="adj" fmla="val 50000"/>
            </a:avLst>
          </a:prstGeom>
          <a:solidFill>
            <a:srgbClr val="12335A"/>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C9A227"/>
                </a:solidFill>
                <a:latin typeface="Calibri" pitchFamily="34" charset="0"/>
                <a:ea typeface="Calibri" pitchFamily="34" charset="-122"/>
                <a:cs typeface="Calibri" pitchFamily="34" charset="-120"/>
              </a:rPr>
              <a:t>⏱  4:25 PM</a:t>
            </a:r>
            <a:endParaRPr lang="en-US" sz="1150" dirty="0"/>
          </a:p>
        </p:txBody>
      </p:sp>
      <p:sp>
        <p:nvSpPr>
          <p:cNvPr id="6" name="Shape 4"/>
          <p:cNvSpPr/>
          <p:nvPr/>
        </p:nvSpPr>
        <p:spPr>
          <a:xfrm>
            <a:off x="548640" y="1691640"/>
            <a:ext cx="11064240" cy="777240"/>
          </a:xfrm>
          <a:prstGeom prst="roundRect">
            <a:avLst>
              <a:gd name="adj" fmla="val 11765"/>
            </a:avLst>
          </a:prstGeom>
          <a:solidFill>
            <a:srgbClr val="12335A"/>
          </a:solidFill>
          <a:ln/>
        </p:spPr>
        <p:txBody>
          <a:bodyPr/>
          <a:lstStyle/>
          <a:p>
            <a:endParaRPr lang="en-US"/>
          </a:p>
        </p:txBody>
      </p:sp>
      <p:sp>
        <p:nvSpPr>
          <p:cNvPr id="7" name="Shape 5"/>
          <p:cNvSpPr/>
          <p:nvPr/>
        </p:nvSpPr>
        <p:spPr>
          <a:xfrm>
            <a:off x="731520" y="1828800"/>
            <a:ext cx="502920" cy="502920"/>
          </a:xfrm>
          <a:prstGeom prst="ellipse">
            <a:avLst/>
          </a:prstGeom>
          <a:solidFill>
            <a:srgbClr val="C9A227"/>
          </a:solidFill>
          <a:ln/>
        </p:spPr>
        <p:txBody>
          <a:bodyPr/>
          <a:lstStyle/>
          <a:p>
            <a:endParaRPr lang="en-US"/>
          </a:p>
        </p:txBody>
      </p:sp>
      <p:sp>
        <p:nvSpPr>
          <p:cNvPr id="8" name="Text 6"/>
          <p:cNvSpPr txBox="1"/>
          <p:nvPr/>
        </p:nvSpPr>
        <p:spPr>
          <a:xfrm>
            <a:off x="731520" y="18288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9" name="Text 7"/>
          <p:cNvSpPr txBox="1"/>
          <p:nvPr/>
        </p:nvSpPr>
        <p:spPr>
          <a:xfrm>
            <a:off x="1417320" y="1691640"/>
            <a:ext cx="9966960" cy="777240"/>
          </a:xfrm>
          <a:prstGeom prst="rect">
            <a:avLst/>
          </a:prstGeom>
          <a:noFill/>
          <a:ln/>
        </p:spPr>
        <p:txBody>
          <a:bodyPr wrap="square" lIns="0" tIns="0" rIns="0" bIns="0" rtlCol="0" anchor="ctr"/>
          <a:lstStyle/>
          <a:p>
            <a:pPr marL="0" indent="0">
              <a:buNone/>
            </a:pPr>
            <a:r>
              <a:rPr lang="en-US" dirty="0">
                <a:solidFill>
                  <a:srgbClr val="FFFFFF"/>
                </a:solidFill>
                <a:latin typeface="Calibri" pitchFamily="34" charset="0"/>
                <a:ea typeface="Calibri" pitchFamily="34" charset="-122"/>
                <a:cs typeface="Calibri" pitchFamily="34" charset="-120"/>
              </a:rPr>
              <a:t>Submit completed .m files for Labs 1, 2 and 3</a:t>
            </a:r>
            <a:endParaRPr lang="en-US" dirty="0"/>
          </a:p>
        </p:txBody>
      </p:sp>
      <p:sp>
        <p:nvSpPr>
          <p:cNvPr id="10" name="Shape 8"/>
          <p:cNvSpPr/>
          <p:nvPr/>
        </p:nvSpPr>
        <p:spPr>
          <a:xfrm>
            <a:off x="548640" y="2651760"/>
            <a:ext cx="11064240" cy="777240"/>
          </a:xfrm>
          <a:prstGeom prst="roundRect">
            <a:avLst>
              <a:gd name="adj" fmla="val 11765"/>
            </a:avLst>
          </a:prstGeom>
          <a:solidFill>
            <a:srgbClr val="12335A"/>
          </a:solidFill>
          <a:ln/>
        </p:spPr>
        <p:txBody>
          <a:bodyPr/>
          <a:lstStyle/>
          <a:p>
            <a:endParaRPr lang="en-US"/>
          </a:p>
        </p:txBody>
      </p:sp>
      <p:sp>
        <p:nvSpPr>
          <p:cNvPr id="11" name="Shape 9"/>
          <p:cNvSpPr/>
          <p:nvPr/>
        </p:nvSpPr>
        <p:spPr>
          <a:xfrm>
            <a:off x="731520" y="2788920"/>
            <a:ext cx="502920" cy="502920"/>
          </a:xfrm>
          <a:prstGeom prst="ellipse">
            <a:avLst/>
          </a:prstGeom>
          <a:solidFill>
            <a:srgbClr val="C9A227"/>
          </a:solidFill>
          <a:ln/>
        </p:spPr>
        <p:txBody>
          <a:bodyPr/>
          <a:lstStyle/>
          <a:p>
            <a:endParaRPr lang="en-US"/>
          </a:p>
        </p:txBody>
      </p:sp>
      <p:sp>
        <p:nvSpPr>
          <p:cNvPr id="12" name="Text 10"/>
          <p:cNvSpPr txBox="1"/>
          <p:nvPr/>
        </p:nvSpPr>
        <p:spPr>
          <a:xfrm>
            <a:off x="731520" y="27889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3" name="Text 11"/>
          <p:cNvSpPr txBox="1"/>
          <p:nvPr/>
        </p:nvSpPr>
        <p:spPr>
          <a:xfrm>
            <a:off x="1417320" y="2651760"/>
            <a:ext cx="9966960" cy="777240"/>
          </a:xfrm>
          <a:prstGeom prst="rect">
            <a:avLst/>
          </a:prstGeom>
          <a:noFill/>
          <a:ln/>
        </p:spPr>
        <p:txBody>
          <a:bodyPr wrap="square" lIns="0" tIns="0" rIns="0" bIns="0" rtlCol="0" anchor="ctr"/>
          <a:lstStyle/>
          <a:p>
            <a:pPr marL="0" indent="0">
              <a:buNone/>
            </a:pPr>
            <a:r>
              <a:rPr lang="en-US" dirty="0">
                <a:solidFill>
                  <a:srgbClr val="FFFFFF"/>
                </a:solidFill>
                <a:latin typeface="Calibri" pitchFamily="34" charset="0"/>
                <a:ea typeface="Calibri" pitchFamily="34" charset="-122"/>
                <a:cs typeface="Calibri" pitchFamily="34" charset="-120"/>
              </a:rPr>
              <a:t>Confirm MATLAB is installed — desktop or MATLAB Mobile</a:t>
            </a:r>
            <a:endParaRPr lang="en-US" dirty="0"/>
          </a:p>
        </p:txBody>
      </p:sp>
      <p:sp>
        <p:nvSpPr>
          <p:cNvPr id="14" name="Shape 12"/>
          <p:cNvSpPr/>
          <p:nvPr/>
        </p:nvSpPr>
        <p:spPr>
          <a:xfrm>
            <a:off x="548640" y="3611880"/>
            <a:ext cx="11064240" cy="777240"/>
          </a:xfrm>
          <a:prstGeom prst="roundRect">
            <a:avLst>
              <a:gd name="adj" fmla="val 11765"/>
            </a:avLst>
          </a:prstGeom>
          <a:solidFill>
            <a:srgbClr val="12335A"/>
          </a:solidFill>
          <a:ln/>
        </p:spPr>
        <p:txBody>
          <a:bodyPr/>
          <a:lstStyle/>
          <a:p>
            <a:endParaRPr lang="en-US"/>
          </a:p>
        </p:txBody>
      </p:sp>
      <p:sp>
        <p:nvSpPr>
          <p:cNvPr id="15" name="Shape 13"/>
          <p:cNvSpPr/>
          <p:nvPr/>
        </p:nvSpPr>
        <p:spPr>
          <a:xfrm>
            <a:off x="731520" y="3749040"/>
            <a:ext cx="502920" cy="502920"/>
          </a:xfrm>
          <a:prstGeom prst="ellipse">
            <a:avLst/>
          </a:prstGeom>
          <a:solidFill>
            <a:srgbClr val="C9A227"/>
          </a:solidFill>
          <a:ln/>
        </p:spPr>
        <p:txBody>
          <a:bodyPr/>
          <a:lstStyle/>
          <a:p>
            <a:endParaRPr lang="en-US"/>
          </a:p>
        </p:txBody>
      </p:sp>
      <p:sp>
        <p:nvSpPr>
          <p:cNvPr id="16" name="Text 14"/>
          <p:cNvSpPr txBox="1"/>
          <p:nvPr/>
        </p:nvSpPr>
        <p:spPr>
          <a:xfrm>
            <a:off x="731520" y="37490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7" name="Text 15"/>
          <p:cNvSpPr txBox="1"/>
          <p:nvPr/>
        </p:nvSpPr>
        <p:spPr>
          <a:xfrm>
            <a:off x="1417320" y="3611880"/>
            <a:ext cx="9966960" cy="777240"/>
          </a:xfrm>
          <a:prstGeom prst="rect">
            <a:avLst/>
          </a:prstGeom>
          <a:noFill/>
          <a:ln/>
        </p:spPr>
        <p:txBody>
          <a:bodyPr wrap="square" lIns="0" tIns="0" rIns="0" bIns="0" rtlCol="0" anchor="ctr"/>
          <a:lstStyle/>
          <a:p>
            <a:pPr marL="0" indent="0">
              <a:buNone/>
            </a:pPr>
            <a:r>
              <a:rPr lang="en-US" dirty="0">
                <a:solidFill>
                  <a:srgbClr val="FFFFFF"/>
                </a:solidFill>
                <a:latin typeface="Calibri" pitchFamily="34" charset="0"/>
                <a:ea typeface="Calibri" pitchFamily="34" charset="-122"/>
                <a:cs typeface="Calibri" pitchFamily="34" charset="-120"/>
              </a:rPr>
              <a:t>Preview next week: Vectors, Matrices &amp; Indexing</a:t>
            </a:r>
            <a:endParaRPr lang="en-US" dirty="0"/>
          </a:p>
        </p:txBody>
      </p:sp>
      <p:sp>
        <p:nvSpPr>
          <p:cNvPr id="18" name="Text 16"/>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9" name="Text 17"/>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1  |  29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4090</Words>
  <Application>Microsoft Office PowerPoint</Application>
  <PresentationFormat>Widescreen</PresentationFormat>
  <Paragraphs>544</Paragraphs>
  <Slides>29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FAHEEM SHAUKAT</cp:lastModifiedBy>
  <cp:revision>6</cp:revision>
  <dcterms:created xsi:type="dcterms:W3CDTF">2026-09-03T18:57:31Z</dcterms:created>
  <dcterms:modified xsi:type="dcterms:W3CDTF">2026-09-03T20:54:37Z</dcterms:modified>
</cp:coreProperties>
</file>