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6 is a recap of Weeks 1-5 (environment, vectors/matrices, matrix operations, plotting) plus the one topic not yet covered on its own: relational and logical operators. This prepares students for if-statements in Week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Week 1: the MATLAB desktop, variables with no type declarations, arithmetic operators, and the role of the semicolon. Tricky question reinforces MATLAB's order of operations (^ before * / before + -), a classic beginner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Week 2: everyday commands. The tricky question targets a very common beginner confusion -- clc vs clear -- which matters because students often think their data is gone when it is only the screen that was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Week 3: vector/matrix creation and indexing. The tricky question drills the column-major linear-indexing trap, which repeatedly trips up students who assume row-major (left-to-right)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Week 4: element-wise vs. true matrix operations. The tricky question shows numerically that A.*B and A*B are not just syntactically different but produce different numbers -- a conceptual gap many students carry into later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Week 5: basic plotting syntax. The tricky question addresses a frequent beginner error -- writing out color names instead of using MATLAB's short line-specifier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combined exercise using every Week 1-5 skill at once: vector creation, indexing, and plotting with an inverted y-axis -- the standard convention for well logs where depth increases downward.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break. Resume promptly at 3:40 PM with relational and logical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slide: everything up to now has been sequential. Today introduces the ability to ask true/false questions about data -- the essential prerequisite for Week 7's if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Relational operators compare values and always return a logical result. Applied to a vector, the comparison is elementwise, producing a logical array -- a concept students will reuse constantly from here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Logical operators combine multiple conditions. The truth table is the standard reference; the worked example shows combining two relational tests with 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tricky questions together: the classic = vs == confusion (MATLAB actually catches this one with a helpful error, unlike some languages), and operator precedence between relational and logical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applied example: a vector of gravity readings, flagged with a relational operator, filtered with logical indexing g(g&gt;980), and counted with sum(). These three steps -- flag, filter, count -- are the complete pattern students will reuse constantly. Verified: 980.1&gt;980 is true, so all four values above 980 are correctly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In-class exercise reusing the flag/filter/count pattern with OR instead of a single condition. Solution verified by hand: 1800&lt;2000 true, 3400 false, 5600&gt;5500 true, 2100 false, 4800 false, 6000&gt;5500 true -&gt; 3 anomalous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consolidated list of every tricky-question lesson from today, framed as beginner-level takeaways to remember going into Week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assignment reusing the flag/filter/count pattern on a new dataset. Summary ties together Weeks 1-5 plus today's new logical-operator skills, and previews Week 7's if statement as the natural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A3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40080"/>
            <a:ext cx="1463040" cy="14630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A227"/>
            </a:solidFill>
            <a:prstDash val="solid"/>
          </a:ln>
        </p:spPr>
      </p:sp>
      <p:pic>
        <p:nvPicPr>
          <p:cNvPr id="4" name="Image 0" descr="/home/claude/bahr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9552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777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17043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 &amp; Environmental Sciences (Geophysics)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321 / GEL 321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with MATLAB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Recap (Weeks 1–5) + Logical Constructs: Relational &amp; Logical Operators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/ CLO-2: Consolidating MATLAB fundamentals, then testing conditions on geophysical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5394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5532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Dr. Faheem Shaukat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7D4E3"/>
                </a:solidFill>
              </a:rPr>
              <a:t>Visiting Faculty Member — Department of Software Engineering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0" y="53949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5532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The Missing Piece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7D4E3"/>
                </a:solidFill>
              </a:rPr>
              <a:t>Before we teach MATLAB to decide (Week 7), it must learn to ask a true/false question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 PM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2-Hour Class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2:30–4:30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1064240" cy="54864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2:37 – 3:20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5361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Weeks 1–5 — environment, vectors/matrices, matrix ops, plotting (with a tricky question each)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536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min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84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3:20 – 3:30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0848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a combined geophysics practice problem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0848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1064240" cy="548640"/>
          </a:xfrm>
          <a:prstGeom prst="rect">
            <a:avLst/>
          </a:prstGeom>
          <a:solidFill>
            <a:srgbClr val="FBF1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33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3:30 – 3:40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6334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10-Minute Break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2633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82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3:40 – 4:08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1821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topic: relational &amp; logical operators — the missing piece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31821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11064240" cy="54864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730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4:08 – 4:16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73075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flagging/filtering outlier gravity readings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37307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79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4:16 – 4:22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2793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problem (with solution)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42793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828032"/>
            <a:ext cx="11064240" cy="54864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8280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4:22 – 4:26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48280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 &amp; common mistakes for beginners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4828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376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4:26 – 4:30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53766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exercise, summary &amp; Week 7 preview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53766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ties together everything from Weeks 1–5, then adds the one missing piece — testing whether something is TRUE or FALSE — which Week 7 needs to build decision-making scripts.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WEEK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MATLAB Environment &amp; Basic Arithmetic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layout: Command Window, Workspace, Editor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no type declaration needed (x = 5 just works)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operators: + − * / ^   (order of operations applies)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 ; suppresses output; omitting it prints the result as 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What is the result of  10 - 2*3^2  in MATLAB?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follows standard order of operations: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1) exponent first:   3^2 = 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2) multiplication:   2*9 = 18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3) subtraction:      10 - 18 = -8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10 - 2*3^2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-8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WEEK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Math &amp; Common Commands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2:45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— clears the Command Window display only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— removes variables from the Workspace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short / format long — controls how numbers are displayed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whos — list the variables currently in memory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functions: sqrt(), abs(), round(), sin()/cos() (radians)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If you run clc, does it delete your variables too?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No! clc only clears the DISPLAY in the Command Window.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Your variables are untouched -- check with whos: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= 42;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clc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whos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Size   Bytes  Class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     1x1    8      double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x is still there. Use 'clear' to remove variables.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WEEK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&amp; Matrices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2:53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vector: v = [1 2 3];   Column vector: v = [1;2;3];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operator: start:step:end  (e.g., 0:10:50)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creation: rows separated by ; — A = [1 2; 3 4];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A(row, col);   sub-matrices via the colon operator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size(A), length(v) — check dimensions before you index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A = [10 20 30; 40 50 60];  What is A(4) 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stores matrices in COLUMN-MAJOR order --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linear indexing counts DOWN each column first: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A(1)=10  A(2)=40  A(3)=20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A(4)=50  A(5)=30  A(6)=60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 = [10 20 30; 40 50 60];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A(4)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50          % NOT 20 -- a very common mistake!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WEEK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3:02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Concatenation: [A B] (side by side), [A; B] (stacked) — sizes must match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operators: .*  ./  .^  — operate position by position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operators: *  /  ^ — follow linear-algebra rules (dimensions must agree)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A.*B needs the SAME size; A*B needs columns(A) = rows(B)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A = [1 2; 3 4],  B = [5 6; 7 8].  Is A.*B(1,1) the same as A*B(1,1)?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A.*B  -&gt; element-wise: (1,1) = 1*5 = 5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A*B   -&gt; matrix mult:  (1,1) = 1*5 + 2*7 = 19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A.*B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 5   12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21   32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A*B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19   22       % completely different result!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43   50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WEEK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— Basic 2-D Plotting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3:11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plot(x, y) — the basic 2-D plotting command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specifiers: 'r--' (red dashed), 'bo-' (blue circles + line), etc.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xlabel(), ylabel(), title(), legend() — always label your axes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— overlay multiple plots; grid on — add a grid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What is wrong with:  plot(x, y, 'red')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line specifiers are SHORT CODES, not color names: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'r' = red,  'b' = blue,  'g' = green ...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'red' is not a valid line-spec string.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WRONG: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y, 'red')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CORRECT: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plot(x, y, 'r')          % or 'r-', 'ro', 'r--', etc.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Geophysics Practice Problem — Weeks 1–5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223B"/>
                </a:solidFill>
              </a:rPr>
              <a:t>A well-log dataset has these depth and Gamma-Ray vectors: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[1000 1050 1100 1150 1200];   (m)       GR = [40 55 68 82 90];   (API)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23B"/>
                </a:solidFill>
              </a:rPr>
              <a:t>(a) Create both vectors.   (b) Extract GR at the 3rd depth sample using indexing.   (c) Plot GR vs depth, with depth on the y-axis and inverted (standard for well logs), using red circles joined by a 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2971800"/>
          </a:xfrm>
          <a:prstGeom prst="roundRect">
            <a:avLst>
              <a:gd name="adj" fmla="val 3077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621024"/>
            <a:ext cx="1066190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[1000 1050 1100 1150 1200];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    = [40 55 68 82 90];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GR(3)              % (b) answer: ans = 68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plot(GR, depth, 'ro-');     % (c)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set(gca, 'YDir', 'reverse');  % invert depth axis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xlabel('Gamma Ray (API)');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ylabel('Depth (m)');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title('Well-Log GR vs Depth');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3:30 PM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02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3:40 PM — we'll pick up with relational &amp; logical operators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script so far has run straight through, top to bottom, with no choices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geophysical data is noisy: bad sensor readings, outliers, missing values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MATLAB can DECIDE anything (Week 7's if statement), it must be able to ask a TRUE / FALSE question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question-asking tool is what we build today: relational and logical operators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1828800"/>
            <a:ext cx="45262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9A227"/>
                </a:solidFill>
              </a:rPr>
              <a:t>Today's new skill, in one line: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FFFFFF"/>
                </a:solidFill>
              </a:rPr>
              <a:t>“Is this reading greater than 980?”
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7D4E3"/>
                </a:solidFill>
              </a:rPr>
              <a:t>MATLAB answers every such question with exactly one of two values: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=  TRUE          0  =  FALSE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values; the result is always logical: 1 (true) or 0 (false)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vector, the comparison applies to EVERY element at once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554480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75420" y="1554480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75420" y="1554480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1796143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796143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420" y="1796143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5420" y="1796143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037806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037806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~=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75420" y="2037806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5420" y="2037806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279469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2279469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5420" y="2279469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5420" y="2279469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2521131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521131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5420" y="2521131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75420" y="2521131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762794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762794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75420" y="2762794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75420" y="2762794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 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3004457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3004457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75420" y="3004457"/>
            <a:ext cx="2537460" cy="241663"/>
          </a:xfrm>
          <a:prstGeom prst="roundRect">
            <a:avLst>
              <a:gd name="adj" fmla="val 37838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75420" y="3004457"/>
            <a:ext cx="2537460" cy="2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 to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37960" y="342900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39128" y="3575304"/>
            <a:ext cx="467258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3        % ans = 1  (true)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10      % ans = 0  (false)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[1 5 3 8];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&gt; 4        % ans = 0  1  0  1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3:54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or more TRUE/FALSE conditions into one result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(AND) — both sides must be true     |  (OR) — at least one side true     ~  (NOT) — flips true/false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5544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52944" y="155448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52944" y="15544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67928" y="155448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67928" y="15544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&amp; 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82912" y="155448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15544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| 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97896" y="1554480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97896" y="15544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938528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93852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52944" y="1938528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52944" y="193852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67928" y="1938528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67928" y="193852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82912" y="1938528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193852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97896" y="1938528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97896" y="193852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2322576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32257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52944" y="2322576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52944" y="232257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67928" y="2322576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67928" y="232257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82912" y="2322576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82912" y="232257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597896" y="2322576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97896" y="2322576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2706624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270662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52944" y="2706624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52944" y="270662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67928" y="2706624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67928" y="270662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582912" y="2706624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82912" y="270662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597896" y="2706624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97896" y="270662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37960" y="3090672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37960" y="309067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552944" y="3090672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552944" y="309067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67928" y="3090672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67928" y="309067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582912" y="3090672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582912" y="309067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597896" y="3090672"/>
            <a:ext cx="1014984" cy="384048"/>
          </a:xfrm>
          <a:prstGeom prst="roundRect">
            <a:avLst>
              <a:gd name="adj" fmla="val 23810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97896" y="3090672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37960" y="3657600"/>
            <a:ext cx="5074920" cy="2788920"/>
          </a:xfrm>
          <a:prstGeom prst="roundRect">
            <a:avLst>
              <a:gd name="adj" fmla="val 327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39128" y="3803904"/>
            <a:ext cx="467258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7;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&gt; 5) &amp; (x &lt; 10)     % ans = 1  (both true)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&gt; 5) &amp; (x &lt; 6)      % ans = 0  (2nd is false)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Beginner Mistake: = vs ==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4:02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753405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538764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What happens if you type:  if x =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753405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724912"/>
            <a:ext cx="5351069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In MATLAB this is NOT silently accepted --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it is a SYNTAX ERROR: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Incorrect use of '=' operator.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assign a value, use '='.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compare for equality, use '=='.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protects you here. Still ALWAYS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use '==' to compare, '=' only to assign.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0645" y="1554480"/>
            <a:ext cx="5082235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13525" y="1627632"/>
            <a:ext cx="47164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E"/>
                </a:solidFill>
              </a:rPr>
              <a:t>TRICKY QUESTION
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223B"/>
                </a:solidFill>
              </a:rPr>
              <a:t>What does  5 &gt; 3 &amp; 2 &gt; 4  evaluate to?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0645" y="2578608"/>
            <a:ext cx="5082235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31813" y="2724912"/>
            <a:ext cx="4679899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Relational operators (&gt;) are evaluated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BEFORE logical operators (&amp;):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5 &gt; 3  -&gt; 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2 &gt; 4  -&gt; 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1 &amp; 0  -&gt; 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5 &gt; 3 &amp; 2 &gt; 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Use parentheses for clarity anyway!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&amp; Filtering Outlier Gravity Readings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4:08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00784"/>
            <a:ext cx="1066190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[980.1 979.8 981.5 978.9 980.7 982.0 979.3];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g &gt; 980          % logical array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outliers = 1  0  1  0  1  1  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= g(g &gt; 980)        % logical indexing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flagged = 980.1  981.5  980.7  982.0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num_outliers = sum(g &gt; 980)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num_outliers = 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Flag Anomalous Velocities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08955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= [1800 3400 5600 2100 4800 6000];   (m/s)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17223B"/>
                </a:solidFill>
              </a:rPr>
              <a:t>A layer is “anomalous” if Vp &lt; 2000  OR  Vp &gt; 5500.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17223B"/>
                </a:solidFill>
              </a:rPr>
              <a:t>Write MATLAB code to flag the anomalous layers and count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66790" y="1554480"/>
            <a:ext cx="574609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67958" y="1700784"/>
            <a:ext cx="534375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= [1800 3400 5600 2100 4800 6000];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anomalous = (Vp &lt; 2000) | (Vp &gt; 5500);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anomalous =  1  0  1  0  0  1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= Vp(anomalous)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flagged = 1800  5600  6000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sum(anomalous)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count = 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Remember These!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4:22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73355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7335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5448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'=' assigns a value; '==' compares two values — never confuse them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6982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254889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" y="25488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36982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relational/logical test on a vector returns a logical ARRAY, not one true/false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8516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336423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944" y="33642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18516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sum(logical_array) counts how many elements are TRUE — very useful for counting outliers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0050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" y="417957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" y="41795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00050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 clears the screen only; clear removes variables — they are NOT the same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1584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" y="499491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" y="49949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481584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starts at 1, and linear indexing runs down columns first (column-major)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631180"/>
            <a:ext cx="11064240" cy="723900"/>
          </a:xfrm>
          <a:prstGeom prst="roundRect">
            <a:avLst>
              <a:gd name="adj" fmla="val 10105"/>
            </a:avLst>
          </a:prstGeom>
          <a:solidFill>
            <a:srgbClr val="12335A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" y="581025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4944" y="58102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631180"/>
            <a:ext cx="1024128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use parentheses around each condition: (a &gt; b) &amp; (c &lt; d)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Exercise, Summary &amp;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Exercise: write a script that (1) creates depth &amp; Vp vectors for 6+ samples, (2) flags samples where Vp &gt;= 5000 (basement rock), (3) extracts those depths with logical indexing, (4) reports the count with sum(), (5) bonus: plot Vp vs depth marking flagged points differently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skills: Weeks 1–5 consolidated, plus relational &amp; logical operators, logical indexing, and sum() for counting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(Week 7): turning these true/false tests into real decisions with the if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39128" y="1700784"/>
            <a:ext cx="467258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Week 6 Lab -- starter skeleton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[ ... ];        % 6+ samples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   = [ ... ];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basement = Vp &gt;= 5000;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flagged_depths = depth(basement);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sum(basement);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fprintf('%d basement layer(s) found\n', count);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2026-10-12T20:38:35Z</dcterms:created>
  <dcterms:modified xsi:type="dcterms:W3CDTF">2026-10-12T20:38:35Z</dcterms:modified>
</cp:coreProperties>
</file>