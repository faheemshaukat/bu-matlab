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5755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7 is dedicated entirely to the if statement -- single-branch, dual-branch, multi-branch, nested -- taught slowly with tricky questions and two geophysics applications. switch-case is deferred to Week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Theory opener: sequential execution versus selection. Uses the textbook's own definition of selection/branching statements and motivates it with sqrt of a negative number (the same motivation the book uses for its first if example).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single-branch if: runs its block only when the condition is true, otherwise does nothing at all. Tricky question reinforces that a false condition with no else produces no output and no error -- a common point of confusion for beginners who expect some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Names the two parts of every if (condition and action), shows if/end as the bracket, and uses the textbook's num&lt;0 example run twice -- once true, once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hands-on practice slide: a short, complete, runnable script using input() with no hardcoded test data -- students must run it themselves in MATLAB and compare outcomes for two different entered values, rather than reading an answer off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depth on what a 'condition' actually is in MATLAB: not just a relational comparison, but any expression -- with the book's nonzero-is-true / zero-is-false rule, and the common isempty() idiom for checking whether a result (e.g. from find()) came back empty.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Attaway 4.1.1: false is 0, true is any nonzero value. Table makes the rule concrete. Connects to the earlier tricky question about if -7 and sets up the 'always true' pitfall from the textbook shown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versions of the textbook's sqrt-protection script. The second shows an if whose action is more than one statement. Note the doubled single quote inside disp.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if-else: the else branch requires no condition of its own. The tricky question targets the well-known 'else if' vs 'elseif' gotcha -- writing it as two words silently creates a nested if requiring an extra end, rather than the clean single-keyword elseif.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Attaway 4.2: if-else as error-checking, and the error function. Key contrast: fprintf lets the script continue, error() halts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hands-on practice slide, this time for if-else, again using input() with no hardcoded values so students must run it and observe the branch taken for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Multi-branch if-elseif-else: first true condition wins, rest are skipped. The tricky question exposes the ordering trap -- a loose condition placed first silently makes a tighter condition unreachable. This directly motivates the condition order used in today's lithology classifier.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 hands-on practice slide, covering if-elseif-else with three suggested velocities to try -- students confirm the branch logic by running it rather than being told the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Attaway 4.3: the same piecewise function written three ways. Emphasise that the three conditions are mutually exclusive, so nesting or elseif lets MATLAB stop early. Once x &lt; -1 is true, the later tests never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Chained comparisons do not work like algebra in MATLAB. The first comparison returns 0 or 1 and that number is then compared with the second bound -- always true for bounds like 2. Always split into two comparisons joined with &amp;&amp; (or &amp;).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more common beginner mistakes presented together: forgetting the closing end, and the (incorrect) assumption that MATLAB cares about indentation the way Python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 from the textbook's Common Pitfalls section: a condition like letter == 'y' || 'Y' is always true because 'Y' alone is a nonzero (truthy) value being OR'd in -- the exact same nonzero-is-true rule taught earlier in this lecture, now shown as a real, documented bug pattern from Attaway Chapter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Gamma Ray logs measure natural formation radioactivity. Shales read high GR (&gt;75 API); clean sandstones read low GR (&lt;45 API); siltstone is the transition zone. Note the condition order: tightest (GR&lt;45) first -- exactly the lesson from the previous tricky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Textbook Quick Question: swapping two values requires a temporary variable. The if only fires when the values are out of order, so correct input is left untouched.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10-minute break. Resume promptly at 3:54 PM with nested if-else.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Nesting places one if-else inside another. The outer if validates that a sensor reading is physically plausible before the inner if-elseif-else attempts classification. The tricky question targets the very common error of miscounting nested end keywords.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Attaway 4.5: the is-functions. They return logical values, so they slot straight into an if without ==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silent trap carried over from Week 6: passing a vector directly into if requires every element to be true. The tricky question shows a realistic case where the expected message never prints, motivating any()/all() as the safe, explicit alternative.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 1 (earlier) assumed clean input. This version adds the outer validation layer from the nested-if slide, producing the complete, realistic version of the classifier a student would actually submit.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In-class exercise reusing the validate-then-classify nested-if pattern on a new geophysical quantity (resistivity). Solution verified by hand: 25 passes validation, then 10&lt;=25&lt;50 so it falls in the Transition branch.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cover the Prediction and Why columns, predict each result, then run the code. Each row targets one idea: zero is false; separate ifs versus elseif; vector conditions need all elements true; swap with a temporary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Menu of textbook problems for extra practice, each solvable with today's tools. The storm exercise intentionally contains a gap between 38 and 39 to provoke a discussion about boundary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compact, practical side-by-side reference consolidating every if-form covered today, so students have one slide to revisit when deciding which construct fits a new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Consolidated list of every tricky-question lesson from today's class, framed as beginner-level takeaways before moving to switch-case in Week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assignment reusing the validated lithology classifier pattern. Summary ties together every if-statement variant from today and previews Week 8's switch-case as the next, cleaner tool for discrete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071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" y="640080"/>
            <a:ext cx="1463040" cy="14630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bahri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795528"/>
            <a:ext cx="1152144" cy="1152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514600" y="7772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 321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with MATLAB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57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— Selection Structures, Part 1: The if Statement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114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CLO-2: Apply MATLAB selection structures and logical operators to process geophysical data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539496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12335A"/>
          </a:solidFill>
          <a:ln w="12700">
            <a:solidFill>
              <a:srgbClr val="123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51560" y="55321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Dr. Faheem Shaukat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C7D4E3"/>
                </a:solidFill>
              </a:rPr>
              <a:t>Visiting Faculty Member — Department of Software Engineering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72200" y="5394960"/>
            <a:ext cx="5166360" cy="1143000"/>
          </a:xfrm>
          <a:prstGeom prst="roundRect">
            <a:avLst>
              <a:gd name="adj" fmla="val 8000"/>
            </a:avLst>
          </a:prstGeom>
          <a:solidFill>
            <a:srgbClr val="12335A"/>
          </a:solidFill>
          <a:ln w="12700">
            <a:solidFill>
              <a:srgbClr val="123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400800" y="55321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9A227"/>
                </a:solidFill>
              </a:rPr>
              <a:t>From Question to Decision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C7D4E3"/>
                </a:solidFill>
              </a:rPr>
              <a:t>Week 6 taught MATLAB to ask true/false questions. Today it learns to act on the answer.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12335A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2:30 PM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2-Hour Class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2:30–4:30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61872"/>
            <a:ext cx="11064240" cy="274320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 txBox="1"/>
          <p:nvPr/>
        </p:nvSpPr>
        <p:spPr>
          <a:xfrm>
            <a:off x="685800" y="1261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2:37 – 2:41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12618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programs need to decide: sequential vs selection (theory)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0" y="1261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536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2:41 – 2:49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153619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Single-branch if + anatomy of an if statement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0" y="15361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1810512"/>
            <a:ext cx="11064240" cy="274320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4" name="Text 12"/>
          <p:cNvSpPr txBox="1"/>
          <p:nvPr/>
        </p:nvSpPr>
        <p:spPr>
          <a:xfrm>
            <a:off x="685800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2:49 – 2:52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18105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yourself: if (no data given — run it!)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0" y="18105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2:52 – 3:00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606040" y="20848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about the condition + true/false inside MATLAB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0" y="20848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2359152"/>
            <a:ext cx="11064240" cy="274320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1" name="Text 19"/>
          <p:cNvSpPr txBox="1"/>
          <p:nvPr/>
        </p:nvSpPr>
        <p:spPr>
          <a:xfrm>
            <a:off x="685800" y="2359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3:00 – 3:04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606040" y="235915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example: protecting sqrt() with if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0" y="23591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2633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3:04 – 3:12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2606040" y="26334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Dual-branch if-else + error-checking with error()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0" y="2633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2907792"/>
            <a:ext cx="11064240" cy="274320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8" name="Text 26"/>
          <p:cNvSpPr txBox="1"/>
          <p:nvPr/>
        </p:nvSpPr>
        <p:spPr>
          <a:xfrm>
            <a:off x="685800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3:12 – 3:15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2606040" y="290779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yourself: if-else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0" y="29077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3182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3:15 – 3:19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2606040" y="31821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if-elseif-else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0" y="3182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8640" y="3456432"/>
            <a:ext cx="11064240" cy="274320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35" name="Text 33"/>
          <p:cNvSpPr txBox="1"/>
          <p:nvPr/>
        </p:nvSpPr>
        <p:spPr>
          <a:xfrm>
            <a:off x="68580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3:19 – 3:22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2606040" y="34564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yourself: if-elseif-else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0058400" y="3456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3730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3:22 – 3:29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2606040" y="373075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write one decision + the  -1 &lt;= x &lt;= 2  trap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10058400" y="37307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48640" y="4005072"/>
            <a:ext cx="11064240" cy="274320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42" name="Text 40"/>
          <p:cNvSpPr txBox="1"/>
          <p:nvPr/>
        </p:nvSpPr>
        <p:spPr>
          <a:xfrm>
            <a:off x="685800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3:29 – 3:36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2606040" y="40050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Tricky-question spotlight + textbook ‘always-true’ pitfall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10058400" y="40050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685800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3:36 – 3:44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2606040" y="427939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1: lithology from Gamma-Ray logs + swap with temp variable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058400" y="42793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48640" y="4553712"/>
            <a:ext cx="11064240" cy="274320"/>
          </a:xfrm>
          <a:prstGeom prst="rect">
            <a:avLst/>
          </a:prstGeom>
          <a:solidFill>
            <a:srgbClr val="FBF1D9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49" name="Text 47"/>
          <p:cNvSpPr txBox="1"/>
          <p:nvPr/>
        </p:nvSpPr>
        <p:spPr>
          <a:xfrm>
            <a:off x="685800" y="4553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3:44 – 3:54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2606040" y="45537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10-Minute Break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10058400" y="45537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68580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3:54 – 4:02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2606040" y="48280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if-else + ‘is’ functions as ready-made conditions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10058400" y="48280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48640" y="5102352"/>
            <a:ext cx="11064240" cy="274320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56" name="Text 54"/>
          <p:cNvSpPr txBox="1"/>
          <p:nvPr/>
        </p:nvSpPr>
        <p:spPr>
          <a:xfrm>
            <a:off x="685800" y="5102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4:02 – 4:10</a:t>
            </a:r>
            <a:endParaRPr lang="en-US" sz="1600" dirty="0"/>
          </a:p>
        </p:txBody>
      </p:sp>
      <p:sp>
        <p:nvSpPr>
          <p:cNvPr id="57" name="Text 55"/>
          <p:cNvSpPr txBox="1"/>
          <p:nvPr/>
        </p:nvSpPr>
        <p:spPr>
          <a:xfrm>
            <a:off x="2606040" y="510235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any() / all() pitfall + Application 2: full validated classifier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10058400" y="51023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600" dirty="0"/>
          </a:p>
        </p:txBody>
      </p:sp>
      <p:sp>
        <p:nvSpPr>
          <p:cNvPr id="59" name="Text 57"/>
          <p:cNvSpPr txBox="1"/>
          <p:nvPr/>
        </p:nvSpPr>
        <p:spPr>
          <a:xfrm>
            <a:off x="685800" y="5376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4:10 – 4:21</a:t>
            </a:r>
            <a:endParaRPr lang="en-US" sz="1600" dirty="0"/>
          </a:p>
        </p:txBody>
      </p:sp>
      <p:sp>
        <p:nvSpPr>
          <p:cNvPr id="60" name="Text 58"/>
          <p:cNvSpPr txBox="1"/>
          <p:nvPr/>
        </p:nvSpPr>
        <p:spPr>
          <a:xfrm>
            <a:off x="2606040" y="53766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practice, predict-the-output check, textbook practice menu</a:t>
            </a:r>
            <a:endParaRPr lang="en-US" sz="1600" dirty="0"/>
          </a:p>
        </p:txBody>
      </p:sp>
      <p:sp>
        <p:nvSpPr>
          <p:cNvPr id="61" name="Text 59"/>
          <p:cNvSpPr txBox="1"/>
          <p:nvPr/>
        </p:nvSpPr>
        <p:spPr>
          <a:xfrm>
            <a:off x="10058400" y="53766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min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548640" y="5650992"/>
            <a:ext cx="11064240" cy="274320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63" name="Text 61"/>
          <p:cNvSpPr txBox="1"/>
          <p:nvPr/>
        </p:nvSpPr>
        <p:spPr>
          <a:xfrm>
            <a:off x="685800" y="5650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4:21 – 4:30</a:t>
            </a:r>
            <a:endParaRPr lang="en-US" sz="1600" dirty="0"/>
          </a:p>
        </p:txBody>
      </p:sp>
      <p:sp>
        <p:nvSpPr>
          <p:cNvPr id="64" name="Text 62"/>
          <p:cNvSpPr txBox="1"/>
          <p:nvPr/>
        </p:nvSpPr>
        <p:spPr>
          <a:xfrm>
            <a:off x="2606040" y="565099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reference, important points, lab exercise &amp; Week 8 preview</a:t>
            </a:r>
            <a:endParaRPr lang="en-US" sz="1600" dirty="0"/>
          </a:p>
        </p:txBody>
      </p:sp>
      <p:sp>
        <p:nvSpPr>
          <p:cNvPr id="65" name="Text 63"/>
          <p:cNvSpPr txBox="1"/>
          <p:nvPr/>
        </p:nvSpPr>
        <p:spPr>
          <a:xfrm>
            <a:off x="10058400" y="56509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1600" dirty="0"/>
          </a:p>
        </p:txBody>
      </p:sp>
      <p:sp>
        <p:nvSpPr>
          <p:cNvPr id="66" name="Text 64"/>
          <p:cNvSpPr txBox="1"/>
          <p:nvPr/>
        </p:nvSpPr>
        <p:spPr>
          <a:xfrm>
            <a:off x="548640" y="59984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Week 7 is the if statement, taught slowly and in depth — single-branch, dual-branch, multi-branch, and nested — with a real validated lithology classifier by the end. switch-case waits for Week 8.</a:t>
            </a:r>
            <a:endParaRPr lang="en-US" sz="1600" dirty="0"/>
          </a:p>
        </p:txBody>
      </p:sp>
      <p:sp>
        <p:nvSpPr>
          <p:cNvPr id="67" name="Text 65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THEORY: WHY SELECTION?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Programs Need to Decide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2:37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 every script ran top to bottom — every statement, in order, every time (sequential execution)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needs decisions: skip a bad reading, pick a rock type, stop on invalid input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that choose which code runs are called selection (or branching) statements — Attaway, Ch. 4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has two: the if statement (with optional else / elseif) and the switch statement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= a CONDITION (a true/false question) + an ACTION (code that runs when it is true)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8" name="Text 6"/>
          <p:cNvSpPr txBox="1"/>
          <p:nvPr/>
        </p:nvSpPr>
        <p:spPr>
          <a:xfrm>
            <a:off x="6720840" y="1627632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A6D1E"/>
                </a:solidFill>
              </a:rPr>
              <a:t>TRICKY QUESTION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7223B"/>
                </a:solidFill>
              </a:rPr>
              <a:t>Why might sqrt(x) need protection from a decision?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2715768"/>
            <a:ext cx="5074920" cy="3730752"/>
          </a:xfrm>
          <a:prstGeom prst="roundRect">
            <a:avLst>
              <a:gd name="adj" fmla="val 245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0" name="Text 8"/>
          <p:cNvSpPr txBox="1"/>
          <p:nvPr/>
        </p:nvSpPr>
        <p:spPr>
          <a:xfrm>
            <a:off x="6739128" y="2862072"/>
            <a:ext cx="4672584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sqrt of a negative number does NOT crash --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MATLAB quietly returns a COMPLEX number: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sqrt(-4)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 =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0.0000 + 2.0000i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If your data should never be negative, that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silent complex result would corrupt every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later calculation. A decision (if x &lt; 0 ...)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lets you catch it BEFORE it spreads.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STRUCTURES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Single-Branch: The if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2:41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control_expression ... end — runs the block ONLY if the condition is TRUE</a:t>
            </a:r>
          </a:p>
          <a:p>
            <a:pPr>
              <a:spcAft>
                <a:spcPts val="400"/>
              </a:spcAft>
            </a:pPr>
            <a:r>
              <a:rPr lang="en-US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&gt; 5, </a:t>
            </a:r>
          </a:p>
          <a:p>
            <a:pPr>
              <a:spcAft>
                <a:spcPts val="400"/>
              </a:spcAft>
            </a:pPr>
            <a:r>
              <a:rPr lang="en-US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</a:t>
            </a:r>
            <a:r>
              <a:rPr lang="en-US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('big’); </a:t>
            </a:r>
          </a:p>
          <a:p>
            <a:pPr>
              <a:spcAft>
                <a:spcPts val="400"/>
              </a:spcAft>
            </a:pPr>
            <a:r>
              <a:rPr lang="en-US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FALSE, MATLAB skips straight to end — nothing happens, no error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if must have exactly one matching end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 err="1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</a:t>
            </a: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5200;</a:t>
            </a:r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Vp &gt;= 5000, </a:t>
            </a:r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 err="1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</a:t>
            </a: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('High-Velocity Basement Detected!’); </a:t>
            </a:r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8" name="Text 6"/>
          <p:cNvSpPr txBox="1"/>
          <p:nvPr/>
        </p:nvSpPr>
        <p:spPr>
          <a:xfrm>
            <a:off x="6720840" y="1627632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A6D1E"/>
                </a:solidFill>
              </a:rPr>
              <a:t>TRICKY QUESTION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7223B"/>
                </a:solidFill>
              </a:rPr>
              <a:t>x = 3;  if x &gt; 5, disp('big'); end;  disp('done');  — what gets printed?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2715768"/>
            <a:ext cx="5074920" cy="3730752"/>
          </a:xfrm>
          <a:prstGeom prst="roundRect">
            <a:avLst>
              <a:gd name="adj" fmla="val 245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739128" y="2862072"/>
            <a:ext cx="4672584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x &gt; 5 is FALSE (3 is not &gt; 5), so the if-block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is skipped entirely -- silently, with no error.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x = 3;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if x &gt; 5, 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 err="1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</a:t>
            </a: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('big’); 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disp('done')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        % only this prints -- 'big' never does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THEORY: ANATOMY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an if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2:45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form (Attaway 4.1):  if condition  →  action  →  end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condition: a relational / logical expression that is conceptually TRUE or FALSE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ONE statement or a whole group — everything up to the matching end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and end bracket the action. This end is NOT the 'end' used as a vector index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 the action: not required by MATLAB, but it lets humans see the block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8" name="Text 6"/>
          <p:cNvSpPr txBox="1"/>
          <p:nvPr/>
        </p:nvSpPr>
        <p:spPr>
          <a:xfrm>
            <a:off x="6720840" y="1627632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A6D1E"/>
                </a:solidFill>
              </a:rPr>
              <a:t>TRICKY QUESTION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7223B"/>
                </a:solidFill>
              </a:rPr>
              <a:t>The book's example: if num &lt; 0, num = 0, end. What happens when num = -4, and when num = 5?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2715768"/>
            <a:ext cx="5074920" cy="3730752"/>
          </a:xfrm>
          <a:prstGeom prst="roundRect">
            <a:avLst>
              <a:gd name="adj" fmla="val 245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0" name="Text 8"/>
          <p:cNvSpPr txBox="1"/>
          <p:nvPr/>
        </p:nvSpPr>
        <p:spPr>
          <a:xfrm>
            <a:off x="6739128" y="2862072"/>
            <a:ext cx="4672584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Run 1:  num = -4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num = -4;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if num &lt; 0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num = 0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end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=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0      % condition TRUE: action ran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Run 2:  num = 5   (same if-block)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 nothing prints -- condition FALSE, action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 skipped, num is still 5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 (no error: a skipped if is perfectly normal)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Yourself: if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2:49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E2EEF0"/>
          </a:solidFill>
          <a:ln w="12700">
            <a:solidFill>
              <a:srgbClr val="B9D6D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 txBox="1"/>
          <p:nvPr/>
        </p:nvSpPr>
        <p:spPr>
          <a:xfrm>
            <a:off x="731520" y="1627632"/>
            <a:ext cx="10698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5C66"/>
                </a:solidFill>
              </a:rPr>
              <a:t>TRY IT YOURSELF — RUN THE CODE, SEE WHAT HAPPENS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</a:rPr>
              <a:t>Write and run this script in MATLAB. There is no fixed answer printed here on purpose — type in different values when it asks, and see for yourself what changes.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11064240" cy="3776472"/>
          </a:xfrm>
          <a:prstGeom prst="roundRect">
            <a:avLst>
              <a:gd name="adj" fmla="val 242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9" name="Text 7"/>
          <p:cNvSpPr txBox="1"/>
          <p:nvPr/>
        </p:nvSpPr>
        <p:spPr>
          <a:xfrm>
            <a:off x="749808" y="2816352"/>
            <a:ext cx="10661904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amp = input('Enter seismic amplitude (counts): 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amp &gt; 1000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disp('WARNING: Strong reflector / possible anomaly!');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disp('Analysis complete.');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Run it once typing 500, then run it again typing 1500.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What is different about the two runs?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STRUCTURES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About the if Condition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2:52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control_expression isn't limited to relational comparisons — it can be ANY expression MATLAB can evaluate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MATLAB's rule: a condition counts as TRUE if it is nonzero (and non-empty) — even without writing ==, &gt;, etc.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several relational tests with &amp; (and), | (or), ~ (not) from Week 6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common pattern: if isempty(x) ... end — tests whether a variable or result has no elements at all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8" name="Text 6"/>
          <p:cNvSpPr txBox="1"/>
          <p:nvPr/>
        </p:nvSpPr>
        <p:spPr>
          <a:xfrm>
            <a:off x="6720840" y="1627632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A6D1E"/>
                </a:solidFill>
              </a:rPr>
              <a:t>TRICKY QUESTION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7223B"/>
                </a:solidFill>
              </a:rPr>
              <a:t>x = -7;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7223B"/>
                </a:solidFill>
              </a:rPr>
              <a:t> if x, </a:t>
            </a:r>
          </a:p>
          <a:p>
            <a:pPr marL="0" indent="0">
              <a:buNone/>
            </a:pPr>
            <a:r>
              <a:rPr lang="en-US" sz="1400" b="1" dirty="0" err="1">
                <a:solidFill>
                  <a:srgbClr val="17223B"/>
                </a:solidFill>
              </a:rPr>
              <a:t>disp</a:t>
            </a:r>
            <a:r>
              <a:rPr lang="en-US" sz="1400" b="1" dirty="0">
                <a:solidFill>
                  <a:srgbClr val="17223B"/>
                </a:solidFill>
              </a:rPr>
              <a:t>('runs’);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7223B"/>
                </a:solidFill>
              </a:rPr>
              <a:t>end — does 'runs' get printed?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2715768"/>
            <a:ext cx="5074920" cy="3730752"/>
          </a:xfrm>
          <a:prstGeom prst="roundRect">
            <a:avLst>
              <a:gd name="adj" fmla="val 245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0" name="Text 8"/>
          <p:cNvSpPr txBox="1"/>
          <p:nvPr/>
        </p:nvSpPr>
        <p:spPr>
          <a:xfrm>
            <a:off x="6739128" y="2862072"/>
            <a:ext cx="4672584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YES -- it prints 'runs'.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-7 is NONZERO, and MATLAB treats any nonzero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value as TRUE -- it does NOT need to be positive,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and no relational operator (&gt;, ==, ...) is required.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Only 0 (or an empty [ ]) counts as FALSE.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x = -7; if x, disp('runs'); end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THEORY: TRUE &amp; FALSE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and False Inside MATLAB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2:56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is represented by 0.  TRUE is represented by ANY nonzero value — not just 1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operators (&gt;, ==, &lt;=) return logical 1 or 0 — that is why they work as conditions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array [ ] also counts as FALSE inside a condition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 if 5  runs its action and  if 0  never does — even with no comparison written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habit: write the comparison you MEAN (x ~= 0) instead of relying on this rule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1691640" cy="815340"/>
          </a:xfrm>
          <a:prstGeom prst="roundRect">
            <a:avLst>
              <a:gd name="adj" fmla="val 11215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8" name="Text 6"/>
          <p:cNvSpPr txBox="1"/>
          <p:nvPr/>
        </p:nvSpPr>
        <p:spPr>
          <a:xfrm>
            <a:off x="6537960" y="1554480"/>
            <a:ext cx="169164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0" y="1554480"/>
            <a:ext cx="1691640" cy="815340"/>
          </a:xfrm>
          <a:prstGeom prst="roundRect">
            <a:avLst>
              <a:gd name="adj" fmla="val 11215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0" name="Text 8"/>
          <p:cNvSpPr txBox="1"/>
          <p:nvPr/>
        </p:nvSpPr>
        <p:spPr>
          <a:xfrm>
            <a:off x="8229600" y="1554480"/>
            <a:ext cx="169164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921240" y="1554480"/>
            <a:ext cx="1691640" cy="815340"/>
          </a:xfrm>
          <a:prstGeom prst="roundRect">
            <a:avLst>
              <a:gd name="adj" fmla="val 11215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2" name="Text 10"/>
          <p:cNvSpPr txBox="1"/>
          <p:nvPr/>
        </p:nvSpPr>
        <p:spPr>
          <a:xfrm>
            <a:off x="9921240" y="1554480"/>
            <a:ext cx="169164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37960" y="2369820"/>
            <a:ext cx="169164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4" name="Text 12"/>
          <p:cNvSpPr txBox="1"/>
          <p:nvPr/>
        </p:nvSpPr>
        <p:spPr>
          <a:xfrm>
            <a:off x="6629400" y="2369820"/>
            <a:ext cx="150876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&gt; 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0" y="2369820"/>
            <a:ext cx="169164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6" name="Text 14"/>
          <p:cNvSpPr txBox="1"/>
          <p:nvPr/>
        </p:nvSpPr>
        <p:spPr>
          <a:xfrm>
            <a:off x="8321040" y="2369820"/>
            <a:ext cx="150876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921240" y="2369820"/>
            <a:ext cx="169164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8" name="Text 16"/>
          <p:cNvSpPr txBox="1"/>
          <p:nvPr/>
        </p:nvSpPr>
        <p:spPr>
          <a:xfrm>
            <a:off x="10012680" y="2369820"/>
            <a:ext cx="150876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37960" y="3185160"/>
            <a:ext cx="1691640" cy="815340"/>
          </a:xfrm>
          <a:prstGeom prst="roundRect">
            <a:avLst>
              <a:gd name="adj" fmla="val 11215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0" name="Text 18"/>
          <p:cNvSpPr txBox="1"/>
          <p:nvPr/>
        </p:nvSpPr>
        <p:spPr>
          <a:xfrm>
            <a:off x="6629400" y="3185160"/>
            <a:ext cx="150876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0" y="3185160"/>
            <a:ext cx="1691640" cy="815340"/>
          </a:xfrm>
          <a:prstGeom prst="roundRect">
            <a:avLst>
              <a:gd name="adj" fmla="val 11215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2" name="Text 20"/>
          <p:cNvSpPr txBox="1"/>
          <p:nvPr/>
        </p:nvSpPr>
        <p:spPr>
          <a:xfrm>
            <a:off x="8321040" y="3185160"/>
            <a:ext cx="150876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921240" y="3185160"/>
            <a:ext cx="1691640" cy="815340"/>
          </a:xfrm>
          <a:prstGeom prst="roundRect">
            <a:avLst>
              <a:gd name="adj" fmla="val 11215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4" name="Text 22"/>
          <p:cNvSpPr txBox="1"/>
          <p:nvPr/>
        </p:nvSpPr>
        <p:spPr>
          <a:xfrm>
            <a:off x="10012680" y="3185160"/>
            <a:ext cx="150876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37960" y="4000500"/>
            <a:ext cx="169164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6" name="Text 24"/>
          <p:cNvSpPr txBox="1"/>
          <p:nvPr/>
        </p:nvSpPr>
        <p:spPr>
          <a:xfrm>
            <a:off x="6629400" y="4000500"/>
            <a:ext cx="150876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229600" y="4000500"/>
            <a:ext cx="169164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8" name="Text 26"/>
          <p:cNvSpPr txBox="1"/>
          <p:nvPr/>
        </p:nvSpPr>
        <p:spPr>
          <a:xfrm>
            <a:off x="8321040" y="4000500"/>
            <a:ext cx="150876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921240" y="4000500"/>
            <a:ext cx="169164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0" name="Text 28"/>
          <p:cNvSpPr txBox="1"/>
          <p:nvPr/>
        </p:nvSpPr>
        <p:spPr>
          <a:xfrm>
            <a:off x="10012680" y="4000500"/>
            <a:ext cx="150876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37960" y="4815840"/>
            <a:ext cx="1691640" cy="815340"/>
          </a:xfrm>
          <a:prstGeom prst="roundRect">
            <a:avLst>
              <a:gd name="adj" fmla="val 11215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2" name="Text 30"/>
          <p:cNvSpPr txBox="1"/>
          <p:nvPr/>
        </p:nvSpPr>
        <p:spPr>
          <a:xfrm>
            <a:off x="6629400" y="4815840"/>
            <a:ext cx="150876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229600" y="4815840"/>
            <a:ext cx="1691640" cy="815340"/>
          </a:xfrm>
          <a:prstGeom prst="roundRect">
            <a:avLst>
              <a:gd name="adj" fmla="val 11215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4" name="Text 32"/>
          <p:cNvSpPr txBox="1"/>
          <p:nvPr/>
        </p:nvSpPr>
        <p:spPr>
          <a:xfrm>
            <a:off x="8321040" y="4815840"/>
            <a:ext cx="150876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921240" y="4815840"/>
            <a:ext cx="1691640" cy="815340"/>
          </a:xfrm>
          <a:prstGeom prst="roundRect">
            <a:avLst>
              <a:gd name="adj" fmla="val 11215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6" name="Text 34"/>
          <p:cNvSpPr txBox="1"/>
          <p:nvPr/>
        </p:nvSpPr>
        <p:spPr>
          <a:xfrm>
            <a:off x="10012680" y="4815840"/>
            <a:ext cx="150876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537960" y="5631180"/>
            <a:ext cx="169164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8" name="Text 36"/>
          <p:cNvSpPr txBox="1"/>
          <p:nvPr/>
        </p:nvSpPr>
        <p:spPr>
          <a:xfrm>
            <a:off x="6629400" y="5631180"/>
            <a:ext cx="150876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all(1:3)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229600" y="5631180"/>
            <a:ext cx="169164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40" name="Text 38"/>
          <p:cNvSpPr txBox="1"/>
          <p:nvPr/>
        </p:nvSpPr>
        <p:spPr>
          <a:xfrm>
            <a:off x="8321040" y="5631180"/>
            <a:ext cx="150876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9921240" y="5631180"/>
            <a:ext cx="169164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42" name="Text 40"/>
          <p:cNvSpPr txBox="1"/>
          <p:nvPr/>
        </p:nvSpPr>
        <p:spPr>
          <a:xfrm>
            <a:off x="10012680" y="5631180"/>
            <a:ext cx="150876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TEXTBOOK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Example: Protecting sqrt() with if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3:00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ask for a number and print its square root — but never feed sqrt a negative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(sqrtifexamp.m): if num &lt; 0, silently change it to 0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 (sqrtifexampii.m): tell the user, then use abs(num) instead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of an if can be several statements — here a disp() AND an assignment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disp('...'), two single quotes '' print ONE apostrophe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4892040"/>
          </a:xfrm>
          <a:prstGeom prst="roundRect">
            <a:avLst>
              <a:gd name="adj" fmla="val 1869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8" name="Text 6"/>
          <p:cNvSpPr txBox="1"/>
          <p:nvPr/>
        </p:nvSpPr>
        <p:spPr>
          <a:xfrm>
            <a:off x="6739128" y="1700784"/>
            <a:ext cx="4672584" cy="459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sqrtifexampii.m  (Attaway, Ch. 4)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= input('Please enter a number: ');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If negative, tell the user and change it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num &lt; 0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disp('OK, we''ll use the absolute value')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 = abs(num);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fprintf('The sqrt of %.1f is %.1f\n',num,sqrt(num))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sqrtifexampii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Please enter a number: -25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OK, we'll use the absolute value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sqrt of 25.0 is 5.0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STRUCTURES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Dual-Branch: The if-else Construct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3:04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... else ... end — else runs whenever the if condition is FALSE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never takes its own condition — it catches everything else automatically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elseif is ONE WORD — writing 'else if' as two words is a classic, subtle bug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GR = 35; if GR &lt; 45, </a:t>
            </a:r>
            <a:r>
              <a:rPr lang="en-US" dirty="0" err="1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</a:t>
            </a: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('Sandstone'); else, </a:t>
            </a:r>
            <a:r>
              <a:rPr lang="en-US" dirty="0" err="1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</a:t>
            </a: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('Non-Sandstone'); end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8" name="Text 6"/>
          <p:cNvSpPr txBox="1"/>
          <p:nvPr/>
        </p:nvSpPr>
        <p:spPr>
          <a:xfrm>
            <a:off x="6720840" y="1627632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A6D1E"/>
                </a:solidFill>
              </a:rPr>
              <a:t>TRICKY QUESTION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7223B"/>
                </a:solidFill>
              </a:rPr>
              <a:t>Why can writing 'else if' (two words) instead of 'elseif' cause problems?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2715768"/>
            <a:ext cx="5074920" cy="3730752"/>
          </a:xfrm>
          <a:prstGeom prst="roundRect">
            <a:avLst>
              <a:gd name="adj" fmla="val 245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0" name="Text 8"/>
          <p:cNvSpPr txBox="1"/>
          <p:nvPr/>
        </p:nvSpPr>
        <p:spPr>
          <a:xfrm>
            <a:off x="6739128" y="2789502"/>
            <a:ext cx="4672584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'else if' starts a brand-new, NESTED if statement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inside the else block -- which then needs its OWN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extra 'end' to close properly: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&gt; 0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disp('positive')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x &lt; 0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disp('negative')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Correct, simpler way: use 'elseif' (one word).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TEXTBOOK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if-else for Error-Checking — and error()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3:08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Error-checking = use if-else to test that input is valid BEFORE using it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if-clause: report the problem.  else-clause: do the real work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1: print a message with fprintf — the script keeps running afterwards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2: error('...') 'throws an error': message in red AND the script stops immediately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error() when continuing with bad data would be meaningless or dangerous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720840" y="1627632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A6D1E"/>
                </a:solidFill>
              </a:rPr>
              <a:t>TRICKY QUESTION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7223B"/>
                </a:solidFill>
              </a:rPr>
              <a:t>checkraderror.m: if radius &lt;= 0 → error(...), else compute area, end; then disp('And that is it!'). What happens for radius = -5 and radius = 4.5?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2715768"/>
            <a:ext cx="5074920" cy="3730752"/>
          </a:xfrm>
          <a:prstGeom prst="roundRect">
            <a:avLst>
              <a:gd name="adj" fmla="val 245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0" name="Text 8"/>
          <p:cNvSpPr txBox="1"/>
          <p:nvPr/>
        </p:nvSpPr>
        <p:spPr>
          <a:xfrm>
            <a:off x="6739128" y="2862072"/>
            <a:ext cx="4672584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radius = -5: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using checkraderror (line 3)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Sorry; -5.00 is not a valid radius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 script STOPPED: 'And that is it!' NOT shown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radius = 4.5: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 circle with a radius of 4.50, the area is 63.62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that is it!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(pi * 4.5^2 = 63.62)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Yourself: if-else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3:12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E2EEF0"/>
          </a:solidFill>
          <a:ln w="12700">
            <a:solidFill>
              <a:srgbClr val="B9D6D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 txBox="1"/>
          <p:nvPr/>
        </p:nvSpPr>
        <p:spPr>
          <a:xfrm>
            <a:off x="731520" y="1627632"/>
            <a:ext cx="10698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5C66"/>
                </a:solidFill>
              </a:rPr>
              <a:t>TRY IT YOURSELF — RUN THE CODE, SEE WHAT HAPPENS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</a:rPr>
              <a:t>Run this script and try it with a few different porosity values. No answer is given here — read the output yourself for each run.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11064240" cy="3776472"/>
          </a:xfrm>
          <a:prstGeom prst="roundRect">
            <a:avLst>
              <a:gd name="adj" fmla="val 242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9" name="Text 7"/>
          <p:cNvSpPr txBox="1"/>
          <p:nvPr/>
        </p:nvSpPr>
        <p:spPr>
          <a:xfrm>
            <a:off x="749808" y="2816352"/>
            <a:ext cx="10661904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 = input('Enter porosity (as a fraction, 0 to 1): 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phi &gt;= 0.15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disp('Reservoir-quality porosity.');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disp('Tight / low-porosity rock.');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Try phi = 0.08, then phi = 0.22.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Which line of output did each one trigger?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STRUCTURES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Multi-Branch: if-elseif-else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3:15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as many elseif branches as needed between if and else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tests top to bottom and stops at the FIRST true condition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match is found, every remaining elseif/else is skipped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= 150;</a:t>
            </a:r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amp&lt;50, </a:t>
            </a:r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'Weak’; </a:t>
            </a:r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elseif </a:t>
            </a:r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amp&lt;150, </a:t>
            </a:r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'Moderate'; else, 'Strong'; end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554479"/>
            <a:ext cx="5074920" cy="3438143"/>
          </a:xfrm>
          <a:prstGeom prst="roundRect">
            <a:avLst>
              <a:gd name="adj" fmla="val 8696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8" name="Text 6"/>
          <p:cNvSpPr txBox="1"/>
          <p:nvPr/>
        </p:nvSpPr>
        <p:spPr>
          <a:xfrm>
            <a:off x="6720840" y="1627632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8A6D1E"/>
                </a:solidFill>
              </a:rPr>
              <a:t>TRICKY QUESTION
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17223B"/>
                </a:solidFill>
              </a:rPr>
              <a:t>GR = 30; 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17223B"/>
                </a:solidFill>
              </a:rPr>
              <a:t>if GR &lt; 100,</a:t>
            </a:r>
          </a:p>
          <a:p>
            <a:pPr marL="0" indent="0">
              <a:buNone/>
            </a:pPr>
            <a:r>
              <a:rPr lang="en-US" b="1" dirty="0">
                <a:solidFill>
                  <a:srgbClr val="17223B"/>
                </a:solidFill>
              </a:rPr>
              <a:t> disp('Shale’);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17223B"/>
                </a:solidFill>
              </a:rPr>
              <a:t> elseif GR &lt; 45, 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17223B"/>
                </a:solidFill>
              </a:rPr>
              <a:t>disp</a:t>
            </a:r>
            <a:r>
              <a:rPr lang="en-US" b="1" dirty="0">
                <a:solidFill>
                  <a:srgbClr val="17223B"/>
                </a:solidFill>
              </a:rPr>
              <a:t>('Sandstone’);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17223B"/>
                </a:solidFill>
              </a:rPr>
              <a:t>else, disp('Other’);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17223B"/>
                </a:solidFill>
              </a:rPr>
              <a:t>end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17223B"/>
                </a:solidFill>
              </a:rPr>
              <a:t>— what prints, and what's the bug?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Yourself: if-elseif-else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3:19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E2EEF0"/>
          </a:solidFill>
          <a:ln w="12700">
            <a:solidFill>
              <a:srgbClr val="B9D6DA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7" name="Text 5"/>
          <p:cNvSpPr txBox="1"/>
          <p:nvPr/>
        </p:nvSpPr>
        <p:spPr>
          <a:xfrm>
            <a:off x="731520" y="1627632"/>
            <a:ext cx="10698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5C66"/>
                </a:solidFill>
              </a:rPr>
              <a:t>TRY IT YOURSELF — RUN THE CODE, SEE WHAT HAPPENS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7223B"/>
                </a:solidFill>
              </a:rPr>
              <a:t>Run this script three times with three different velocities. No printed answer is given — work out which category each one falls into by actually running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11064240" cy="3776472"/>
          </a:xfrm>
          <a:prstGeom prst="roundRect">
            <a:avLst>
              <a:gd name="adj" fmla="val 242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9" name="Text 7"/>
          <p:cNvSpPr txBox="1"/>
          <p:nvPr/>
        </p:nvSpPr>
        <p:spPr>
          <a:xfrm>
            <a:off x="749808" y="2816352"/>
            <a:ext cx="10661904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 = input('Enter P-wave velocity (m/s): ');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Vp &lt; 2000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disp('Low velocity -- unconsolidated sediment');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elseif Vp &lt; 4500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disp('Medium velocity -- consolidated sedimentary rock');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disp('High velocity -- igneous/metamorphic basement');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Try Vp = 1500, then 3000, then 5000.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STRUCTURES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Write ONE Decision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3:22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function:  y = 1 if x &lt; -1;   y = x² if -1 ≤ x ≤ 2;   y = 4 if x &gt;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3566160" cy="3337560"/>
          </a:xfrm>
          <a:prstGeom prst="roundRect">
            <a:avLst>
              <a:gd name="adj" fmla="val 2740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" name="Text 6"/>
          <p:cNvSpPr txBox="1"/>
          <p:nvPr/>
        </p:nvSpPr>
        <p:spPr>
          <a:xfrm>
            <a:off x="749808" y="2203704"/>
            <a:ext cx="3163824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1) Three separate ifs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&lt; -1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1;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&gt;= -1 &amp;&amp; x &lt;= 2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x^2;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&gt; 2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4;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504688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 txBox="1"/>
          <p:nvPr/>
        </p:nvSpPr>
        <p:spPr>
          <a:xfrm>
            <a:off x="658368" y="5522976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conditions are ALWAYS tested — even after one is already true. Works, but wasteful.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97680" y="2057400"/>
            <a:ext cx="3566160" cy="3337560"/>
          </a:xfrm>
          <a:prstGeom prst="roundRect">
            <a:avLst>
              <a:gd name="adj" fmla="val 2740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2" name="Text 10"/>
          <p:cNvSpPr txBox="1"/>
          <p:nvPr/>
        </p:nvSpPr>
        <p:spPr>
          <a:xfrm>
            <a:off x="4498848" y="2203704"/>
            <a:ext cx="3163824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2) Nested if-else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&lt; -1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1;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&lt;= 2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 = x^2;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 = 4;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97680" y="5504688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4" name="Text 12"/>
          <p:cNvSpPr txBox="1"/>
          <p:nvPr/>
        </p:nvSpPr>
        <p:spPr>
          <a:xfrm>
            <a:off x="4407408" y="5522976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at the first true branch. Efficient, but deep nesting is harder to read.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46720" y="2057400"/>
            <a:ext cx="3566160" cy="3337560"/>
          </a:xfrm>
          <a:prstGeom prst="roundRect">
            <a:avLst>
              <a:gd name="adj" fmla="val 2740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6" name="Text 14"/>
          <p:cNvSpPr txBox="1"/>
          <p:nvPr/>
        </p:nvSpPr>
        <p:spPr>
          <a:xfrm>
            <a:off x="8247888" y="2203704"/>
            <a:ext cx="3163824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3) elseif (simplest)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&lt; -1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1;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elseif x &lt;= 2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x^2;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4;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46720" y="5504688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8" name="Text 16"/>
          <p:cNvSpPr txBox="1"/>
          <p:nvPr/>
        </p:nvSpPr>
        <p:spPr>
          <a:xfrm>
            <a:off x="8156448" y="5522976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efficiency, ONE end. The textbook's preferred form for several exclusive ranges.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TRICKY-QUESTION SPOTLIGHT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 -1 &lt;= x &lt;= 2  Trap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3:26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algebra, -1 &lt;= x &lt;= 2 means 'x lies between -1 and 2'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evaluates LEFT to RIGHT: first (-1 &lt;= x) gives 0 or 1, THEN that 0/1 is compared with 2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&lt;= 2 and 1 &lt;= 2 are both TRUE — so the expression is ALWAYS true, for every x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write the two tests separately and join them:  x &gt;= -1 &amp;&amp; x &lt;= 2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textbook warns about exactly this; it fails silently — no error, just wrong answers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" name="Text 6"/>
          <p:cNvSpPr txBox="1"/>
          <p:nvPr/>
        </p:nvSpPr>
        <p:spPr>
          <a:xfrm>
            <a:off x="6720840" y="1627632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A6D1E"/>
                </a:solidFill>
              </a:rPr>
              <a:t>TRICKY QUESTION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</a:rPr>
              <a:t>x = 50. Does  if -1 &lt;= x &lt;= 2  treat 50 as 'between -1 and 2'?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37960" y="2715768"/>
            <a:ext cx="5074920" cy="3730752"/>
          </a:xfrm>
          <a:prstGeom prst="roundRect">
            <a:avLst>
              <a:gd name="adj" fmla="val 245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 txBox="1"/>
          <p:nvPr/>
        </p:nvSpPr>
        <p:spPr>
          <a:xfrm>
            <a:off x="6739128" y="2862072"/>
            <a:ext cx="4672584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YES -- wrongly! Step by step: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 1) (-1 &lt;= 50)  -&gt;  1   (true)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 2) (1  &lt;= 2)   -&gt;  1   (true)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Result: TRUE, although 50 is NOT in range.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x = 50;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-1 &lt;= x &lt;= 2        % returns 1 (true) -- WRONG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x &gt;= -1 &amp;&amp; x &lt;= 2   % returns 0 (false) -- RIGHT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TRICKY-QUESTION SPOTLIGHT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More Common if-Statement Mistakes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3:29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532120" cy="914400"/>
          </a:xfrm>
          <a:prstGeom prst="roundRect">
            <a:avLst>
              <a:gd name="adj" fmla="val 10000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7" name="Text 5"/>
          <p:cNvSpPr txBox="1"/>
          <p:nvPr/>
        </p:nvSpPr>
        <p:spPr>
          <a:xfrm>
            <a:off x="731520" y="1627632"/>
            <a:ext cx="5166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A6D1E"/>
                </a:solidFill>
              </a:rPr>
              <a:t>TRICKY QUESTION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7223B"/>
                </a:solidFill>
              </a:rPr>
              <a:t>What happens if you forget an end?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5532120" cy="3867912"/>
          </a:xfrm>
          <a:prstGeom prst="roundRect">
            <a:avLst>
              <a:gd name="adj" fmla="val 2364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2724912"/>
            <a:ext cx="5129784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MATLAB cannot tell where your if-block was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meant to stop. It will either: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 - swallow unrelated code below into the block,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   causing silently wrong behaviour, or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 - report a syntax/parse error when it runs out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   of code still expecting a matching 'end'.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RULE: every if opens exactly one 'end'. Count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them before you run your script.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1" name="Text 9"/>
          <p:cNvSpPr txBox="1"/>
          <p:nvPr/>
        </p:nvSpPr>
        <p:spPr>
          <a:xfrm>
            <a:off x="6492240" y="1627632"/>
            <a:ext cx="4937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A6D1E"/>
                </a:solidFill>
              </a:rPr>
              <a:t>TRICKY QUESTION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7223B"/>
                </a:solidFill>
              </a:rPr>
              <a:t>Does indentation matter in MATLAB, like in Python?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578608"/>
            <a:ext cx="5303520" cy="3867912"/>
          </a:xfrm>
          <a:prstGeom prst="roundRect">
            <a:avLst>
              <a:gd name="adj" fmla="val 2364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510528" y="2724912"/>
            <a:ext cx="4901184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NO. MATLAB ignores whitespace/indentation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completely for control flow.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Only the 'end' keyword marks a block boundary --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this code runs identically either way: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x&gt;0, disp('pos'), end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Indentation is just a (strongly recommended)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readability habit, never required syntax.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TEXTBOOK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Pitfall, Straight From Attaway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3:32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textbook's own ‘Common Pitfalls’ list (Ch. 4) flags these exact mistakes: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= instead of == for equality in a condition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a space in elseif — writing it as two words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quotes when comparing text: letter == y instead of letter == 'y'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condition that looks complete but isn't fully spelled out (next →)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8" name="Text 6"/>
          <p:cNvSpPr txBox="1"/>
          <p:nvPr/>
        </p:nvSpPr>
        <p:spPr>
          <a:xfrm>
            <a:off x="6720840" y="1627632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A6D1E"/>
                </a:solidFill>
              </a:rPr>
              <a:t>TRICKY QUESTION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7223B"/>
                </a:solidFill>
              </a:rPr>
              <a:t>Attaway's own example: checking for 'y' or 'Y' is written as  if letter == 'y' || 'Y' ... end — what's wrong, and why is it dangerous?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2715768"/>
            <a:ext cx="5074920" cy="3730752"/>
          </a:xfrm>
          <a:prstGeom prst="roundRect">
            <a:avLst>
              <a:gd name="adj" fmla="val 245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0" name="Text 8"/>
          <p:cNvSpPr txBox="1"/>
          <p:nvPr/>
        </p:nvSpPr>
        <p:spPr>
          <a:xfrm>
            <a:off x="6739128" y="2862072"/>
            <a:ext cx="4672584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WRONG -- this condition is ALWAYS true, no matter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what 'letter' holds!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'Y' by itself is a nonzero value -- and we just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learned nonzero means TRUE. So the right side of ||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is always true, making the WHOLE || expression true.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CORRECT (spell out both comparisons fully):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letter == 'y' || letter == 'Y'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disp('yes');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GEOPHYSICS APPLICATION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Lithology Classification from Gamma-Ray Logs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3:36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195974" cy="4892040"/>
          </a:xfrm>
          <a:prstGeom prst="roundRect">
            <a:avLst>
              <a:gd name="adj" fmla="val 1869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49808" y="1700784"/>
            <a:ext cx="5793638" cy="459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 = input('Enter Gamma Ray (API): ');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GR &lt; 45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lithology = 'Sandstone';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elseif (GR &gt;= 45) &amp;&amp; (GR &lt;= 75)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lithology = 'Siltstone';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lithology = 'Shale';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fprintf('GR = %.1f API -&gt; %s\n', GR, lithology);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73214" y="1554480"/>
            <a:ext cx="4639666" cy="4892040"/>
          </a:xfrm>
          <a:prstGeom prst="roundRect">
            <a:avLst>
              <a:gd name="adj" fmla="val 1971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week6_plots/gr_lithology_lo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64654" y="1645920"/>
            <a:ext cx="4456786" cy="441655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064654" y="6099048"/>
            <a:ext cx="44567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Shales (high clay) read high GR; clean sands read low GR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TEXTBOOK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Example: Swap with a Temporary Variable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3:40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createvec(mymin, mymax) must work even if the caller passes the values in the wrong order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if decides whether a swap is needed:  if mymin &gt; mymax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needs a THIRD variable: writing a = b alone destroys the old value of a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 temp ← a;   a ← b;   b ← temp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createvec(7,3) therefore returns 3 4 5 6 7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4892040"/>
          </a:xfrm>
          <a:prstGeom prst="roundRect">
            <a:avLst>
              <a:gd name="adj" fmla="val 1869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739128" y="1700784"/>
            <a:ext cx="4672584" cy="459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outvec = createvec(mymin, mymax)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creates a vector from mymin up to mymax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mymin &gt; mymax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 = mymin;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mymin = mymax;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mymax = temp;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outvec = mymin:mymax;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createvec(4,6)   % ans = 4 5 6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createvec(7,3)   % ans = 3 4 5 6 7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12335A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3:44 PM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0" y="192024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0" y="324612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10-MINUTE BREAK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at 3:54 PM — we'll pick up with nested if-else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CONDITIONALS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if-else: Validate, Then Classify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3:54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nested construct places one if-else INSIDE another branch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pattern: validate physical bounds FIRST (outer), then classify (inner)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error-handling separate from the classification logic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nested if needs its OWN matching end — count carefully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8" name="Text 6"/>
          <p:cNvSpPr txBox="1"/>
          <p:nvPr/>
        </p:nvSpPr>
        <p:spPr>
          <a:xfrm>
            <a:off x="6720840" y="1627632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A6D1E"/>
                </a:solidFill>
              </a:rPr>
              <a:t>TRICKY QUESTION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7223B"/>
                </a:solidFill>
              </a:rPr>
              <a:t>How many 'end' keywords does a validate-then-classify nested if need (outer if-else + inner if-elseif-else)?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2715768"/>
            <a:ext cx="5074920" cy="3730752"/>
          </a:xfrm>
          <a:prstGeom prst="roundRect">
            <a:avLst>
              <a:gd name="adj" fmla="val 245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739128" y="2862072"/>
            <a:ext cx="4672584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(GR &gt;= 0) &amp;&amp; (GR &lt;= 200)   % OUTER: validate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GR &lt; 45                 % INNER: classify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disp('Sandstone');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elseif GR &lt;= 75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disp('Siltstone');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disp('Shale');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         % &lt;- closes the INNER if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disp('ERROR: out of bounds!');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             % &lt;- closes the OUTER if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Answer: TWO ends -- one per if construct.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TEXTBOOK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'is' Functions as Ready-Made Conditions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3:58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has many built-in functions starting with 'is' that return TRUE (1) or FALSE (0)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isletter, isempty, isequal, ischar, isnumeric, isa(x,'double')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already return true/false, so use them directly as the condition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isletter(c) behaves exactly like if isletter(c) == 1 — the == 1 is redundant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isempty(x) is the standard test for 'did I get nothing back?' (for example from find)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720840" y="1627632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A6D1E"/>
                </a:solidFill>
              </a:rPr>
              <a:t>TRICKY QUESTION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</a:rPr>
              <a:t>What do isletter('h'), isletter('4') and isempty([]) return — and how are they used in an if?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37960" y="2715768"/>
            <a:ext cx="5074920" cy="3730752"/>
          </a:xfrm>
          <a:prstGeom prst="roundRect">
            <a:avLst>
              <a:gd name="adj" fmla="val 245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 txBox="1"/>
          <p:nvPr/>
        </p:nvSpPr>
        <p:spPr>
          <a:xfrm>
            <a:off x="6739128" y="2862072"/>
            <a:ext cx="4672584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isletter('h')    % ans = 1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isletter('4')    % ans = 0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isempty([])      % ans = 1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mychar = input('Enter a char: ','s');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isletter(mychar)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disp('Is a letter')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disp('Not a letter')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CONDITIONS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any() / all() Pitfall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4:02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a whole VECTOR directly into an if is true only if EVERY element is true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any(</a:t>
            </a:r>
            <a:r>
              <a:rPr lang="en-US" dirty="0" err="1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</a:t>
            </a: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&gt;5000) — true if AT LEAST ONE element passes OR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all(</a:t>
            </a:r>
            <a:r>
              <a:rPr lang="en-US" dirty="0" err="1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</a:t>
            </a: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&gt;5000) — true only if EVERY element passes AND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reach for any()/all() explicitly rather than relying on if's default behaviour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8" name="Text 6"/>
          <p:cNvSpPr txBox="1"/>
          <p:nvPr/>
        </p:nvSpPr>
        <p:spPr>
          <a:xfrm>
            <a:off x="6720840" y="1627632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A6D1E"/>
                </a:solidFill>
              </a:rPr>
              <a:t>TRICKY QUESTION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7223B"/>
                </a:solidFill>
              </a:rPr>
              <a:t>Vp = [2100 3400 5600 4800];  if Vp &gt;= 5000, disp('All basement!'); end — does this print?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37960" y="2715768"/>
            <a:ext cx="5074920" cy="3730752"/>
          </a:xfrm>
          <a:prstGeom prst="roundRect">
            <a:avLst>
              <a:gd name="adj" fmla="val 245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0" name="Text 8"/>
          <p:cNvSpPr txBox="1"/>
          <p:nvPr/>
        </p:nvSpPr>
        <p:spPr>
          <a:xfrm>
            <a:off x="6739128" y="2862072"/>
            <a:ext cx="4672584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NO -- it prints NOTHING.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Vp &gt;= 5000 gives a logical vector: [0 0 1 0]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Putting that straight into 'if' requires EVERY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element to be true -- only one element qualifies,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 the overall condition is FALSE.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Fix:  if any(Vp &gt;= 5000)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          disp('At least one basement layer!');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      end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GEOPHYSICS APPLICATION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Classifier — With Input Validation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4:06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4892040"/>
          </a:xfrm>
          <a:prstGeom prst="roundRect">
            <a:avLst>
              <a:gd name="adj" fmla="val 1869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49808" y="1700784"/>
            <a:ext cx="10661904" cy="459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 = input('Enter Gamma Ray (API): ');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(GR &gt;= 0) &amp;&amp; (GR &lt;= 200)        % validate first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GR &lt; 45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lithology = 'Sandstone';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elseif GR &lt;= 75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lithology = 'Siltstone';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lithology = 'Shale';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fprintf('GR = %.1f API -&gt; %s\n', GR, lithology);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disp('ERROR: reading out of bounds (0-200 API)!');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Turn: Classify Formation Resistivity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4:10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08955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 = 25;   % true resistivity, ohm·m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</a:rPr>
              <a:t>Write a NESTED if that: (1) validates 0 &lt; Rt &lt; 1000, (2) classifies: Rt &lt; 10 → 'Water-bearing', 10 ≤ Rt &lt; 50 → 'Transition', Rt ≥ 50 → 'Hydrocarbon-bearing'.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66790" y="1554480"/>
            <a:ext cx="5746090" cy="4892040"/>
          </a:xfrm>
          <a:prstGeom prst="roundRect">
            <a:avLst>
              <a:gd name="adj" fmla="val 1869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8" name="Text 6"/>
          <p:cNvSpPr txBox="1"/>
          <p:nvPr/>
        </p:nvSpPr>
        <p:spPr>
          <a:xfrm>
            <a:off x="6067958" y="1700784"/>
            <a:ext cx="5343754" cy="459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 = 25;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(Rt &gt; 0) &amp;&amp; (Rt &lt; 1000)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Rt &lt; 10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zone = 'Water-bearing';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elseif Rt &lt; 50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zone = 'Transition';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zone = 'Hydrocarbon-bearing';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fprintf('Rt = %.1f -&gt; %s\n', Rt, zone);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disp('ERROR: Rt out of bounds!');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Rt = 25 -&gt; prints 'Transition'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the Output — Then Run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4:14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368808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36720" y="155448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9" name="Text 7"/>
          <p:cNvSpPr txBox="1"/>
          <p:nvPr/>
        </p:nvSpPr>
        <p:spPr>
          <a:xfrm>
            <a:off x="4236720" y="1554480"/>
            <a:ext cx="368808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24800" y="155448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1" name="Text 9"/>
          <p:cNvSpPr txBox="1"/>
          <p:nvPr/>
        </p:nvSpPr>
        <p:spPr>
          <a:xfrm>
            <a:off x="7924800" y="1554480"/>
            <a:ext cx="368808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36982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" name="Text 11"/>
          <p:cNvSpPr txBox="1"/>
          <p:nvPr/>
        </p:nvSpPr>
        <p:spPr>
          <a:xfrm>
            <a:off x="640080" y="236982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x=0; if x, disp('A'), else, disp('B'), end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36720" y="236982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5" name="Text 13"/>
          <p:cNvSpPr txBox="1"/>
          <p:nvPr/>
        </p:nvSpPr>
        <p:spPr>
          <a:xfrm>
            <a:off x="4328160" y="236982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24800" y="236982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7" name="Text 15"/>
          <p:cNvSpPr txBox="1"/>
          <p:nvPr/>
        </p:nvSpPr>
        <p:spPr>
          <a:xfrm>
            <a:off x="8016240" y="236982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is FALSE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18516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9" name="Text 17"/>
          <p:cNvSpPr txBox="1"/>
          <p:nvPr/>
        </p:nvSpPr>
        <p:spPr>
          <a:xfrm>
            <a:off x="640080" y="318516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n=4; if n&gt;3, disp('big'), end; if n&gt;2, disp('mid'), end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36720" y="318516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1" name="Text 19"/>
          <p:cNvSpPr txBox="1"/>
          <p:nvPr/>
        </p:nvSpPr>
        <p:spPr>
          <a:xfrm>
            <a:off x="4328160" y="318516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  mid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924800" y="318516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3" name="Text 21"/>
          <p:cNvSpPr txBox="1"/>
          <p:nvPr/>
        </p:nvSpPr>
        <p:spPr>
          <a:xfrm>
            <a:off x="8016240" y="318516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SEPARATE ifs: both run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00050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5" name="Text 23"/>
          <p:cNvSpPr txBox="1"/>
          <p:nvPr/>
        </p:nvSpPr>
        <p:spPr>
          <a:xfrm>
            <a:off x="640080" y="400050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n=4; if n&gt;3, disp('big'), elseif n&gt;2, disp('mid'), end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36720" y="400050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7" name="Text 25"/>
          <p:cNvSpPr txBox="1"/>
          <p:nvPr/>
        </p:nvSpPr>
        <p:spPr>
          <a:xfrm>
            <a:off x="4328160" y="400050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924800" y="400050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9" name="Text 27"/>
          <p:cNvSpPr txBox="1"/>
          <p:nvPr/>
        </p:nvSpPr>
        <p:spPr>
          <a:xfrm>
            <a:off x="8016240" y="400050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elseif skipped after the first true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481584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1" name="Text 29"/>
          <p:cNvSpPr txBox="1"/>
          <p:nvPr/>
        </p:nvSpPr>
        <p:spPr>
          <a:xfrm>
            <a:off x="640080" y="481584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v=[1 0 2]; if v, disp('yes'), else, disp('no'), end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36720" y="481584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3" name="Text 31"/>
          <p:cNvSpPr txBox="1"/>
          <p:nvPr/>
        </p:nvSpPr>
        <p:spPr>
          <a:xfrm>
            <a:off x="4328160" y="481584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924800" y="481584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5" name="Text 33"/>
          <p:cNvSpPr txBox="1"/>
          <p:nvPr/>
        </p:nvSpPr>
        <p:spPr>
          <a:xfrm>
            <a:off x="8016240" y="481584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0 inside v: not ALL true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8640" y="563118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7" name="Text 35"/>
          <p:cNvSpPr txBox="1"/>
          <p:nvPr/>
        </p:nvSpPr>
        <p:spPr>
          <a:xfrm>
            <a:off x="640080" y="563118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a=3; b=5; temp=a; a=b; b=temp; disp([a b])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36720" y="563118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9" name="Text 37"/>
          <p:cNvSpPr txBox="1"/>
          <p:nvPr/>
        </p:nvSpPr>
        <p:spPr>
          <a:xfrm>
            <a:off x="4328160" y="563118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5  3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924800" y="563118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1" name="Text 39"/>
          <p:cNvSpPr txBox="1"/>
          <p:nvPr/>
        </p:nvSpPr>
        <p:spPr>
          <a:xfrm>
            <a:off x="8016240" y="563118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 using temp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Practice from Attaway, Chapter 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4:18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106424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4.1 — print 'Hey, you get overtime!' if hours &gt; 40. Test with less than, equal to, and more than 40</a:t>
            </a:r>
            <a:endParaRPr lang="en-US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4.2 — ask for an angle and (r)adians or (d)egrees; use sind for 'd', otherwise sin</a:t>
            </a:r>
            <a:endParaRPr lang="en-US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16 — pH: 7 is neutral, above is basic, below is acidic; print an error if pH is outside 0–14</a:t>
            </a:r>
            <a:endParaRPr lang="en-US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20 — Mach number (speed ÷ speed of sound): &lt; 1 subsonic, = 1 transonic, &gt; 1 supersonic</a:t>
            </a:r>
            <a:endParaRPr lang="en-US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21 — generate a random integer and print whether it is even or odd (Hint: rem(n,2))</a:t>
            </a:r>
            <a:endParaRPr lang="en-US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22 — storm type from wind speed: depression &lt; 38 mph, storm 39–73, hurricane ≥ 74 (what about 38.5?)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Reference: All if-Forms Side by Side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4:21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688080" cy="978408"/>
          </a:xfrm>
          <a:prstGeom prst="roundRect">
            <a:avLst>
              <a:gd name="adj" fmla="val 9346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36880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36720" y="1554480"/>
            <a:ext cx="3688080" cy="978408"/>
          </a:xfrm>
          <a:prstGeom prst="roundRect">
            <a:avLst>
              <a:gd name="adj" fmla="val 9346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9" name="Text 7"/>
          <p:cNvSpPr txBox="1"/>
          <p:nvPr/>
        </p:nvSpPr>
        <p:spPr>
          <a:xfrm>
            <a:off x="4236720" y="1554480"/>
            <a:ext cx="36880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 sketch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24800" y="1554480"/>
            <a:ext cx="3688080" cy="978408"/>
          </a:xfrm>
          <a:prstGeom prst="roundRect">
            <a:avLst>
              <a:gd name="adj" fmla="val 9346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1" name="Text 9"/>
          <p:cNvSpPr txBox="1"/>
          <p:nvPr/>
        </p:nvSpPr>
        <p:spPr>
          <a:xfrm>
            <a:off x="7924800" y="1554480"/>
            <a:ext cx="36880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to use it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532888"/>
            <a:ext cx="3688080" cy="978408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" name="Text 11"/>
          <p:cNvSpPr txBox="1"/>
          <p:nvPr/>
        </p:nvSpPr>
        <p:spPr>
          <a:xfrm>
            <a:off x="640080" y="2532888"/>
            <a:ext cx="3505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... end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36720" y="2532888"/>
            <a:ext cx="3688080" cy="978408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5" name="Text 13"/>
          <p:cNvSpPr txBox="1"/>
          <p:nvPr/>
        </p:nvSpPr>
        <p:spPr>
          <a:xfrm>
            <a:off x="4328160" y="2532888"/>
            <a:ext cx="3505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cond, ..., end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24800" y="2532888"/>
            <a:ext cx="3688080" cy="978408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7" name="Text 15"/>
          <p:cNvSpPr txBox="1"/>
          <p:nvPr/>
        </p:nvSpPr>
        <p:spPr>
          <a:xfrm>
            <a:off x="8016240" y="2532888"/>
            <a:ext cx="3505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check; nothing happens otherwise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511296"/>
            <a:ext cx="3688080" cy="978408"/>
          </a:xfrm>
          <a:prstGeom prst="roundRect">
            <a:avLst>
              <a:gd name="adj" fmla="val 9346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9" name="Text 17"/>
          <p:cNvSpPr txBox="1"/>
          <p:nvPr/>
        </p:nvSpPr>
        <p:spPr>
          <a:xfrm>
            <a:off x="640080" y="3511296"/>
            <a:ext cx="3505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... else ... end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36720" y="3511296"/>
            <a:ext cx="3688080" cy="978408"/>
          </a:xfrm>
          <a:prstGeom prst="roundRect">
            <a:avLst>
              <a:gd name="adj" fmla="val 9346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1" name="Text 19"/>
          <p:cNvSpPr txBox="1"/>
          <p:nvPr/>
        </p:nvSpPr>
        <p:spPr>
          <a:xfrm>
            <a:off x="4328160" y="3511296"/>
            <a:ext cx="3505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cond, ..., else, ..., end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924800" y="3511296"/>
            <a:ext cx="3688080" cy="978408"/>
          </a:xfrm>
          <a:prstGeom prst="roundRect">
            <a:avLst>
              <a:gd name="adj" fmla="val 9346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3" name="Text 21"/>
          <p:cNvSpPr txBox="1"/>
          <p:nvPr/>
        </p:nvSpPr>
        <p:spPr>
          <a:xfrm>
            <a:off x="8016240" y="3511296"/>
            <a:ext cx="3505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Exactly two mutually-exclusive outcomes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489704"/>
            <a:ext cx="3688080" cy="978408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5" name="Text 23"/>
          <p:cNvSpPr txBox="1"/>
          <p:nvPr/>
        </p:nvSpPr>
        <p:spPr>
          <a:xfrm>
            <a:off x="640080" y="4489704"/>
            <a:ext cx="3505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... elseif ... else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36720" y="4489704"/>
            <a:ext cx="3688080" cy="978408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7" name="Text 25"/>
          <p:cNvSpPr txBox="1"/>
          <p:nvPr/>
        </p:nvSpPr>
        <p:spPr>
          <a:xfrm>
            <a:off x="4328160" y="4489704"/>
            <a:ext cx="3505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c1, elseif c2, ..., else, end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924800" y="4489704"/>
            <a:ext cx="3688080" cy="978408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9" name="Text 27"/>
          <p:cNvSpPr txBox="1"/>
          <p:nvPr/>
        </p:nvSpPr>
        <p:spPr>
          <a:xfrm>
            <a:off x="8016240" y="4489704"/>
            <a:ext cx="3505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Several mutually-exclusive categories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5468112"/>
            <a:ext cx="3688080" cy="978408"/>
          </a:xfrm>
          <a:prstGeom prst="roundRect">
            <a:avLst>
              <a:gd name="adj" fmla="val 9346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1" name="Text 29"/>
          <p:cNvSpPr txBox="1"/>
          <p:nvPr/>
        </p:nvSpPr>
        <p:spPr>
          <a:xfrm>
            <a:off x="640080" y="5468112"/>
            <a:ext cx="3505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Nested if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36720" y="5468112"/>
            <a:ext cx="3688080" cy="978408"/>
          </a:xfrm>
          <a:prstGeom prst="roundRect">
            <a:avLst>
              <a:gd name="adj" fmla="val 9346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3" name="Text 31"/>
          <p:cNvSpPr txBox="1"/>
          <p:nvPr/>
        </p:nvSpPr>
        <p:spPr>
          <a:xfrm>
            <a:off x="4328160" y="5468112"/>
            <a:ext cx="3505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c1,  if c2, ... end,  end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924800" y="5468112"/>
            <a:ext cx="3688080" cy="978408"/>
          </a:xfrm>
          <a:prstGeom prst="roundRect">
            <a:avLst>
              <a:gd name="adj" fmla="val 9346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5" name="Text 33"/>
          <p:cNvSpPr txBox="1"/>
          <p:nvPr/>
        </p:nvSpPr>
        <p:spPr>
          <a:xfrm>
            <a:off x="8016240" y="5468112"/>
            <a:ext cx="3505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 first, THEN classify (or multi-factor decisions)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POINTS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— Remember These!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12335A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4:24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723900"/>
          </a:xfrm>
          <a:prstGeom prst="roundRect">
            <a:avLst>
              <a:gd name="adj" fmla="val 10105"/>
            </a:avLst>
          </a:prstGeom>
          <a:solidFill>
            <a:srgbClr val="123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173355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94944" y="17335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1554480"/>
            <a:ext cx="1024128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condition with no else does nothing — no output, no error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369820"/>
            <a:ext cx="11064240" cy="723900"/>
          </a:xfrm>
          <a:prstGeom prst="roundRect">
            <a:avLst>
              <a:gd name="adj" fmla="val 10105"/>
            </a:avLst>
          </a:prstGeom>
          <a:solidFill>
            <a:srgbClr val="123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94944" y="254889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94944" y="254889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2369820"/>
            <a:ext cx="1024128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elseif is ONE word; 'else if' (two words) silently creates a nested if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185160"/>
            <a:ext cx="11064240" cy="723900"/>
          </a:xfrm>
          <a:prstGeom prst="roundRect">
            <a:avLst>
              <a:gd name="adj" fmla="val 10105"/>
            </a:avLst>
          </a:prstGeom>
          <a:solidFill>
            <a:srgbClr val="123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4944" y="336423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94944" y="336423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185160"/>
            <a:ext cx="1024128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true branch wins — order conditions tightest-to-loosest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000500"/>
            <a:ext cx="11064240" cy="723900"/>
          </a:xfrm>
          <a:prstGeom prst="roundRect">
            <a:avLst>
              <a:gd name="adj" fmla="val 10105"/>
            </a:avLst>
          </a:prstGeom>
          <a:solidFill>
            <a:srgbClr val="123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4944" y="417957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94944" y="41795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4000500"/>
            <a:ext cx="1024128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if needs exactly one matching end; nested ifs need one each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815840"/>
            <a:ext cx="11064240" cy="723900"/>
          </a:xfrm>
          <a:prstGeom prst="roundRect">
            <a:avLst>
              <a:gd name="adj" fmla="val 10105"/>
            </a:avLst>
          </a:prstGeom>
          <a:solidFill>
            <a:srgbClr val="123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94944" y="499491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94944" y="499491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207008" y="4815840"/>
            <a:ext cx="1024128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ignores indentation for control flow — only end marks a block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631180"/>
            <a:ext cx="11064240" cy="723900"/>
          </a:xfrm>
          <a:prstGeom prst="roundRect">
            <a:avLst>
              <a:gd name="adj" fmla="val 10105"/>
            </a:avLst>
          </a:prstGeom>
          <a:solidFill>
            <a:srgbClr val="123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94944" y="581025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94944" y="58102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207008" y="5631180"/>
            <a:ext cx="1024128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directly inside if needs ALL elements true — use any()/all() instead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Exercise, Summary &amp; What's Next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4:27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Exercise: write week7_lithology_classifier.m — prompt for GR, validate 0–200 API, classify into Sandstone/Siltstone/Shale, and report with fprintf; bonus: also flag if GR is a vector using any()/all()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textbook (optional extra practice): Attaway Practice 4.1 — print 'Hey, you get overtime!' if hours &gt; 40; and Exercise 16 — classify a pH value as acidic, neutral, or basic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skills: single/dual/multi-branch if, nested if for validation-then-classification, and the any()/all() vector-condition fix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(Week 8): the switch-case statement — a cleaner way to choose between discrete, fixed options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4892040"/>
          </a:xfrm>
          <a:prstGeom prst="roundRect">
            <a:avLst>
              <a:gd name="adj" fmla="val 1869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" name="Text 6"/>
          <p:cNvSpPr txBox="1"/>
          <p:nvPr/>
        </p:nvSpPr>
        <p:spPr>
          <a:xfrm>
            <a:off x="6739128" y="1700784"/>
            <a:ext cx="4672584" cy="459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Week 7 Lab -- starter skeleton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 = input('Enter Gamma Ray (API): 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(GR &gt;= 0) &amp;&amp; (GR &lt;= 200)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GR &lt; 45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lithology = 'Sandstone';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elseif GR &lt;= 75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lithology = 'Siltstone';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lithology = 'Shale';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fprintf('%.1f API -&gt; %s\n', GR, lithology);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disp('ERROR: out of bounds!');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31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3330</TotalTime>
  <Words>6433</Words>
  <Application>Microsoft Office PowerPoint</Application>
  <PresentationFormat>Widescreen</PresentationFormat>
  <Paragraphs>766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FAHEEM SHAUKAT</cp:lastModifiedBy>
  <cp:revision>3</cp:revision>
  <dcterms:created xsi:type="dcterms:W3CDTF">2026-10-16T08:20:01Z</dcterms:created>
  <dcterms:modified xsi:type="dcterms:W3CDTF">2026-10-18T16:21:59Z</dcterms:modified>
</cp:coreProperties>
</file>