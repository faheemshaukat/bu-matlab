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08283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Week 1 was the MATLAB environment and syntax; Week 2 was vectors, matrices, and indexing. This week we operate on whole matrices at once — algebra, element-wise math, and concatenation — which is exactly how we merge and combine real survey datasets. Content today draws on the assigned video lectures (scalar/array operations, matrix add/subtract, mult/division, identity &amp; concatenation) plus hand-worked practice problems from the Attaway MATLAB textbook, Chapter 2. Break at 3:26, labs from 4:11, wrap up by 4:30.</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bridge: last two weeks built the foundation — the environment, syntax, and how arrays are structured and indexed. This week is about operating on entire matrices at once: adding, multiplying, transforming, and joining them, which is exactly the toolkit needed to merge real survey datasets from multiple stations or instruments.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Video 1 (Lecture-11, Scalar and Array Operations): MATLAB follows the same precedence order as ordinary algebra (PEMDAS). Innermost parentheses are always evaluated first, then exponentiation left-to-right, then multiplication/division left-to-right, and finally addition/subtraction. Getting this order wrong is one of the most common sources of unexpected results for beginners, so we verify each step by hand before trusting MATLAB's answer.</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Video 2 (WsCube Tech, Part-24): matrix addition and subtraction work element by element, so both matrices must have identical dimensions — MATLAB throws an error otherwise. Note + and - never need a dot, since they are inherently element-by-element for both array and matrix modes. plus(A,B) and minus(A,B) are equivalent function forms to A+B and A-B. Writing A+2 adds 2 to every individual element (scalar broadcasting), and you can operate on just one column or row using indexing, e.g. A(:,1)+B.</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Scalar multiplication scales every element of the matrix by the same value — k*A multiplies each entry by k. This is straightforward and commutative, unlike full matrix-by-matrix multiplication which we cover next.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matrix multiplication A*B, the number of columns in A must equal the number of rows in B — the 'inner' dimensions must match. The result has the 'outer' dimensions: rows of A by columns of B. Crucially, matrix multiplication is not commutative in general: A*B and B*A can give completely different results.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from Video 1's comparative example: for A=[1 0;2 1] and B=[-1 2;0 1], A*B performs true row-by-column matrix multiplication and gives [-1 2; -2 5], while A.*B just multiplies matching positions (1*-1, 0*2, 2*0, 1*1) to give [-1 0; 0 1]. Same two matrices, same-looking operator, completely different result depending on whether the dot is present — this is the single most important syntax distinction in this week's material.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dot before an operator (.*, ./, .^) means 'element by element' — multiply, divide, or raise each corresponding pair of elements independently, rather than doing full linear-algebra matrix multiplication. Both matrices still need matching dimensions. This distinction — dot operators vs plain operators — is one of the most important rules in MATLAB.</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prime operator transposes a matrix, swapping rows and columns. A^2 performs true matrix multiplication of A by itself — only valid for square matrices — while A.^2 simply squares each individual element. These look similar in code but produce very different numbers, so read the dot carefully.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Video 1 and Video 3: right division A/C divides A by C and is equivalent to A*inv(C) — note C must be square for inv(C) to exist. Left division A\b puts b 'in the numerator' and is equivalent to inv(A)*b; here b can be a column vector, which is exactly the operation used to solve simultaneous linear equations Ax=b — instead of computing inv(A) explicitly, you simply write x = A\b, which is what we use later today for geophysical inversion.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Square brackets don't just build new matrices — they also join existing ones. [A B] places matrices side by side and requires the same number of rows. [A;B] stacks matrices vertically and requires the same number of columns. This is exactly how we'll merge station datasets shortly.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MATLAB also provides named functions for concatenation: horzcat and vertcat do exactly what [A B] and [A;B] do, and cat(dim, ...) generalizes this with dim=1 for rows (vertical) and dim=2 for columns (horizontal). These function forms are especially handy inside loops where you're building up a matrix dynamically.</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dimension you are NOT joining along must match exactly. Stacking rows with [A;C] needs the same number of columns; here both are 2 columns, so it works. Trying to stack a 2-column matrix with a 3-column one throws a dimensions-not-consistent error. Get in the habit of checking size() before concatenating unfamiliar data.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Video 4 (Identity and Concatenating Matrix, Part-26): eye(N) generates an N×N identity matrix with 1s on the main diagonal and 0s elsewhere. eye(R,C) can also generate a rectangular identity matrix — here eye(2,3) is a 2×3 matrix with 1s only where the row equals the column. zeros(n) and ones(n) fill a matrix with a single value, and diag(v) builds a diagonal matrix from a vector. These are quick starting points or placeholders used constantly in larger scripts.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10-minute break, 3:30 PM to 3:40 PM. Resume promptly at 3:40 with determinant, inverse, and solving linear systems.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Video 3 (Operations of Matrices: Multiplication &amp; Division, Part-19): the determinant is a single number that tells you whether a square matrix can be inverted. For a 2x2 matrix [a b; c d], det = ad - bc by hand; MATLAB computes it with det(A). If det(A) is zero, the matrix is singular and inv(A) will fail or warn. When the inverse exists, A*inv(A) always gives the identity matrix. These become essential later when solving geophysical inversion problems.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solve a system of linear equations Ax = b, MATLAB's backslash operator x = A\b is the standard, numerically stable way — preferred over computing inv(A)*b directly, especially for larger or ill-conditioned systems. This single line replaces manual substitution or elimination.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Straight from the assigned textbook (Attaway, MATLAB: A Practical Introduction, Chapter 2, Practice 2.5): 'When two matrices have the same dimensions and are square, both array and matrix multiplication can be performed on them. Perform A.*B, A*B, and B*A by hand and then verify the results in MATLAB.' This is deliberately tricky because both operations are legal here (unlike most matrix pairs), so it directly tests whether students can tell the two operations apart — assign it as an in-class check before moving to the geophysics application.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Also from Attaway Chapter 2's end-of-chapter exercises (adapted from Exercise 45): given three matrices of different shapes, students must check size() compatibility before attempting each multiplication rather than assuming it will work. 3*A is always fine (scalar multiplication has no dimension rule). A*C works because A's columns (2) match C's rows (2). B*A works because B's columns (2) match A's rows (2) — giving a 3x2 result. But A*B fails: A has 2 columns and B has 3 rows, so the inner dimensions don't match. This is exactly the kind of dimension-checking discipline needed before merging real survey matrices.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field, each borehole or survey station generates its own small matrix of readings. As long as every station's matrix has the same columns, vertical concatenation stacks them into one master dataset covering the entire survey area — the exact same [A;B] syntax from earlier in the lecture.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Gravity and magnetic readings collected at the same stations are naturally same-size vectors. Element-wise operations combine them station-by-station — here, squaring each component with .^2, adding element-wise, and taking the square root gives a combined 'total field' reading per station, without a single loop.</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Adapted from Attaway Chapter 2, Exercise 44: a company calibrating measuring instrumentation records radius and height of a cylinder across 8 trials, and needs the volume from each trial using V = pi*r^2*h, after first using logical indexing to discard any invalid (non-positive) readings. This is a genuinely 'enjoyable' problem because it forces students to combine several ideas from the last two weeks — logical vectors/indexing (Week 2) with element-wise power and multiplication (Week 3) — into one compact, loop-free line of code, which is exactly the MATLAB style we want them to build.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two small station matrices with the same number of columns, then vertically concatenate them into one combined survey matrix. Use size() to confirm the result has the expected number of rows (total stations) and columns (unchanged).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the dot operators directly: multiply and divide two equal-length reading vectors element by element, then compute the squared difference between them — combining subtraction with the .^2 element-wise power operator.</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pulls together everything from today: build an identity and a diagonal matrix, compute a determinant and inverse, and finally solve a small linear system using the backslash operator — the same system worked through earlier in the lecture.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addition and subtraction require identical dimensions; multiplication requires matching inner dimensions and is not commutative. Dot operators handle element-by-element math. Concatenation — either bracket syntax or horzcat/vertcat/cat — joins matrices together, which is exactly how we merge station datasets. det(), inv(), and the backslash operator round out basic matrix algebra. Submit Labs 1-3. Next week: 2D plotting of seismic waveforms, gravity/magnetic profiles, and well-log curves.</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0" y="5074920"/>
            <a:ext cx="12191695" cy="1783080"/>
          </a:xfrm>
          <a:prstGeom prst="rect">
            <a:avLst/>
          </a:prstGeom>
          <a:solidFill>
            <a:srgbClr val="071A33"/>
          </a:solidFill>
          <a:ln/>
        </p:spPr>
        <p:txBody>
          <a:bodyPr/>
          <a:lstStyle/>
          <a:p>
            <a:endParaRPr lang="en-US"/>
          </a:p>
        </p:txBody>
      </p:sp>
      <p:sp>
        <p:nvSpPr>
          <p:cNvPr id="3" name="Shape 1"/>
          <p:cNvSpPr/>
          <p:nvPr/>
        </p:nvSpPr>
        <p:spPr>
          <a:xfrm>
            <a:off x="777240" y="640080"/>
            <a:ext cx="1463040" cy="1463040"/>
          </a:xfrm>
          <a:prstGeom prst="ellipse">
            <a:avLst/>
          </a:prstGeom>
          <a:solidFill>
            <a:srgbClr val="FFFFFF"/>
          </a:solidFill>
          <a:ln w="31750">
            <a:solidFill>
              <a:srgbClr val="C9A227"/>
            </a:solidFill>
            <a:prstDash val="solid"/>
          </a:ln>
        </p:spPr>
        <p:txBody>
          <a:bodyPr/>
          <a:lstStyle/>
          <a:p>
            <a:endParaRPr lang="en-US"/>
          </a:p>
        </p:txBody>
      </p:sp>
      <p:pic>
        <p:nvPicPr>
          <p:cNvPr id="4" name="Image 0" descr="/home/claude/bahria_logo.png"/>
          <p:cNvPicPr>
            <a:picLocks noChangeAspect="1"/>
          </p:cNvPicPr>
          <p:nvPr/>
        </p:nvPicPr>
        <p:blipFill>
          <a:blip r:embed="rId3"/>
          <a:stretch>
            <a:fillRect/>
          </a:stretch>
        </p:blipFill>
        <p:spPr>
          <a:xfrm>
            <a:off x="932688" y="795528"/>
            <a:ext cx="1152144" cy="1152144"/>
          </a:xfrm>
          <a:prstGeom prst="rect">
            <a:avLst/>
          </a:prstGeom>
        </p:spPr>
      </p:pic>
      <p:sp>
        <p:nvSpPr>
          <p:cNvPr id="5" name="Text 2"/>
          <p:cNvSpPr txBox="1"/>
          <p:nvPr/>
        </p:nvSpPr>
        <p:spPr>
          <a:xfrm>
            <a:off x="2514600" y="777240"/>
            <a:ext cx="8869680" cy="411480"/>
          </a:xfrm>
          <a:prstGeom prst="rect">
            <a:avLst/>
          </a:prstGeom>
          <a:noFill/>
          <a:ln/>
        </p:spPr>
        <p:txBody>
          <a:bodyPr wrap="square" lIns="0" tIns="0" rIns="0" bIns="0" rtlCol="0" anchor="ctr"/>
          <a:lstStyle/>
          <a:p>
            <a:pPr marL="0" indent="0">
              <a:buNone/>
            </a:pPr>
            <a:r>
              <a:rPr lang="en-US" sz="2400" b="1" kern="0" spc="300" dirty="0">
                <a:solidFill>
                  <a:srgbClr val="C9A227"/>
                </a:solidFill>
                <a:latin typeface="Calibri" pitchFamily="34" charset="0"/>
                <a:ea typeface="Calibri" pitchFamily="34" charset="-122"/>
                <a:cs typeface="Calibri" pitchFamily="34" charset="-120"/>
              </a:rPr>
              <a:t>BAHRIA UNIVERSITY</a:t>
            </a:r>
            <a:endParaRPr lang="en-US" sz="2400" dirty="0"/>
          </a:p>
        </p:txBody>
      </p:sp>
      <p:sp>
        <p:nvSpPr>
          <p:cNvPr id="6" name="Text 3"/>
          <p:cNvSpPr txBox="1"/>
          <p:nvPr/>
        </p:nvSpPr>
        <p:spPr>
          <a:xfrm>
            <a:off x="2514600" y="1170432"/>
            <a:ext cx="8869680" cy="365760"/>
          </a:xfrm>
          <a:prstGeom prst="rect">
            <a:avLst/>
          </a:prstGeom>
          <a:noFill/>
          <a:ln/>
        </p:spPr>
        <p:txBody>
          <a:bodyPr wrap="square" lIns="0" tIns="0" rIns="0" bIns="0" rtlCol="0" anchor="ctr"/>
          <a:lstStyle/>
          <a:p>
            <a:pPr marL="0" indent="0">
              <a:buNone/>
            </a:pPr>
            <a:endParaRPr lang="en-US" sz="1400" dirty="0"/>
          </a:p>
        </p:txBody>
      </p:sp>
      <p:sp>
        <p:nvSpPr>
          <p:cNvPr id="7" name="Text 4"/>
          <p:cNvSpPr txBox="1"/>
          <p:nvPr/>
        </p:nvSpPr>
        <p:spPr>
          <a:xfrm>
            <a:off x="822960" y="2606040"/>
            <a:ext cx="10515600" cy="73152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GEO 321</a:t>
            </a:r>
            <a:endParaRPr lang="en-US" sz="4000" dirty="0"/>
          </a:p>
        </p:txBody>
      </p:sp>
      <p:sp>
        <p:nvSpPr>
          <p:cNvPr id="8" name="Text 5"/>
          <p:cNvSpPr txBox="1"/>
          <p:nvPr/>
        </p:nvSpPr>
        <p:spPr>
          <a:xfrm>
            <a:off x="822960" y="3246120"/>
            <a:ext cx="10515600" cy="548640"/>
          </a:xfrm>
          <a:prstGeom prst="rect">
            <a:avLst/>
          </a:prstGeom>
          <a:noFill/>
          <a:ln/>
        </p:spPr>
        <p:txBody>
          <a:bodyPr wrap="square" lIns="0" tIns="0" rIns="0" bIns="0" rtlCol="0" anchor="ctr"/>
          <a:lstStyle/>
          <a:p>
            <a:pPr marL="0" indent="0">
              <a:buNone/>
            </a:pPr>
            <a:r>
              <a:rPr lang="en-US" sz="2600" dirty="0">
                <a:solidFill>
                  <a:srgbClr val="C9A227"/>
                </a:solidFill>
                <a:latin typeface="Cambria" pitchFamily="34" charset="0"/>
                <a:ea typeface="Cambria" pitchFamily="34" charset="-122"/>
                <a:cs typeface="Cambria" pitchFamily="34" charset="-120"/>
              </a:rPr>
              <a:t>Computing with MATLAB</a:t>
            </a:r>
            <a:endParaRPr lang="en-US" sz="2600" dirty="0"/>
          </a:p>
        </p:txBody>
      </p:sp>
      <p:sp>
        <p:nvSpPr>
          <p:cNvPr id="9" name="Text 6"/>
          <p:cNvSpPr txBox="1"/>
          <p:nvPr/>
        </p:nvSpPr>
        <p:spPr>
          <a:xfrm>
            <a:off x="822960" y="3794760"/>
            <a:ext cx="10515600" cy="457200"/>
          </a:xfrm>
          <a:prstGeom prst="rect">
            <a:avLst/>
          </a:prstGeom>
          <a:noFill/>
          <a:ln/>
        </p:spPr>
        <p:txBody>
          <a:bodyPr wrap="square" lIns="0" tIns="0" rIns="0" bIns="0" rtlCol="0" anchor="ctr"/>
          <a:lstStyle/>
          <a:p>
            <a:pPr marL="0" indent="0">
              <a:buNone/>
            </a:pPr>
            <a:r>
              <a:rPr lang="en-US" i="1" dirty="0">
                <a:solidFill>
                  <a:srgbClr val="C7D4E3"/>
                </a:solidFill>
                <a:latin typeface="Calibri" pitchFamily="34" charset="0"/>
                <a:ea typeface="Calibri" pitchFamily="34" charset="-122"/>
                <a:cs typeface="Calibri" pitchFamily="34" charset="-120"/>
              </a:rPr>
              <a:t>Week 3 — Matrix Operations: Concatenation, Element-Wise Ops &amp; Basic Matrix Algebra</a:t>
            </a:r>
            <a:endParaRPr lang="en-US" dirty="0"/>
          </a:p>
        </p:txBody>
      </p:sp>
      <p:sp>
        <p:nvSpPr>
          <p:cNvPr id="10" name="Shape 7"/>
          <p:cNvSpPr/>
          <p:nvPr/>
        </p:nvSpPr>
        <p:spPr>
          <a:xfrm>
            <a:off x="822960" y="5394960"/>
            <a:ext cx="5120640" cy="1143000"/>
          </a:xfrm>
          <a:prstGeom prst="roundRect">
            <a:avLst>
              <a:gd name="adj" fmla="val 9600"/>
            </a:avLst>
          </a:prstGeom>
          <a:solidFill>
            <a:srgbClr val="12335A"/>
          </a:solidFill>
          <a:ln w="12700">
            <a:solidFill>
              <a:srgbClr val="D7DEE7"/>
            </a:solidFill>
            <a:prstDash val="solid"/>
          </a:ln>
        </p:spPr>
        <p:txBody>
          <a:bodyPr/>
          <a:lstStyle/>
          <a:p>
            <a:endParaRPr lang="en-US"/>
          </a:p>
        </p:txBody>
      </p:sp>
      <p:sp>
        <p:nvSpPr>
          <p:cNvPr id="11" name="Text 8"/>
          <p:cNvSpPr txBox="1"/>
          <p:nvPr/>
        </p:nvSpPr>
        <p:spPr>
          <a:xfrm>
            <a:off x="1051560" y="5532120"/>
            <a:ext cx="4663440" cy="868680"/>
          </a:xfrm>
          <a:prstGeom prst="rect">
            <a:avLst/>
          </a:prstGeom>
          <a:noFill/>
          <a:ln/>
        </p:spPr>
        <p:txBody>
          <a:bodyPr wrap="square" lIns="0" tIns="0" rIns="0" bIns="0" rtlCol="0" anchor="ctr"/>
          <a:lstStyle/>
          <a:p>
            <a:pPr marL="0" indent="0">
              <a:spcAft>
                <a:spcPts val="200"/>
              </a:spcAft>
              <a:buNone/>
            </a:pPr>
            <a:r>
              <a:rPr lang="en-US" b="1" dirty="0">
                <a:solidFill>
                  <a:srgbClr val="FFFFFF"/>
                </a:solidFill>
              </a:rPr>
              <a:t>Dr. Faheem Shaukat</a:t>
            </a:r>
            <a:endParaRPr lang="en-US" dirty="0"/>
          </a:p>
          <a:p>
            <a:pPr marL="0" indent="0">
              <a:buNone/>
            </a:pPr>
            <a:r>
              <a:rPr lang="en-US" sz="1400" dirty="0">
                <a:solidFill>
                  <a:srgbClr val="C7D4E3"/>
                </a:solidFill>
              </a:rPr>
              <a:t>Visiting Faculty Member — Department of Software Engineering</a:t>
            </a:r>
            <a:endParaRPr lang="en-US" sz="1400" dirty="0"/>
          </a:p>
        </p:txBody>
      </p:sp>
      <p:sp>
        <p:nvSpPr>
          <p:cNvPr id="12" name="Shape 9"/>
          <p:cNvSpPr/>
          <p:nvPr/>
        </p:nvSpPr>
        <p:spPr>
          <a:xfrm>
            <a:off x="6172200" y="5394960"/>
            <a:ext cx="5166360" cy="1143000"/>
          </a:xfrm>
          <a:prstGeom prst="roundRect">
            <a:avLst>
              <a:gd name="adj" fmla="val 9600"/>
            </a:avLst>
          </a:prstGeom>
          <a:solidFill>
            <a:srgbClr val="12335A"/>
          </a:solidFill>
          <a:ln w="12700">
            <a:solidFill>
              <a:srgbClr val="D7DEE7"/>
            </a:solidFill>
            <a:prstDash val="solid"/>
          </a:ln>
        </p:spPr>
        <p:txBody>
          <a:bodyPr/>
          <a:lstStyle/>
          <a:p>
            <a:endParaRPr lang="en-US"/>
          </a:p>
        </p:txBody>
      </p:sp>
      <p:sp>
        <p:nvSpPr>
          <p:cNvPr id="13" name="Text 10"/>
          <p:cNvSpPr txBox="1"/>
          <p:nvPr/>
        </p:nvSpPr>
        <p:spPr>
          <a:xfrm>
            <a:off x="6400800" y="5532120"/>
            <a:ext cx="4709160" cy="868680"/>
          </a:xfrm>
          <a:prstGeom prst="rect">
            <a:avLst/>
          </a:prstGeom>
          <a:noFill/>
          <a:ln/>
        </p:spPr>
        <p:txBody>
          <a:bodyPr wrap="square" lIns="0" tIns="0" rIns="0" bIns="0" rtlCol="0" anchor="ctr"/>
          <a:lstStyle/>
          <a:p>
            <a:pPr marL="0" indent="0">
              <a:spcAft>
                <a:spcPts val="400"/>
              </a:spcAft>
              <a:buNone/>
            </a:pPr>
            <a:r>
              <a:rPr lang="en-US" b="1" dirty="0">
                <a:solidFill>
                  <a:srgbClr val="C9A227"/>
                </a:solidFill>
              </a:rPr>
              <a:t>From Single Arrays to Combined Datasets</a:t>
            </a:r>
            <a:endParaRPr lang="en-US" dirty="0"/>
          </a:p>
          <a:p>
            <a:pPr marL="0" indent="0">
              <a:buNone/>
            </a:pPr>
            <a:r>
              <a:rPr lang="en-US" sz="1400" dirty="0">
                <a:solidFill>
                  <a:srgbClr val="C7D4E3"/>
                </a:solidFill>
              </a:rPr>
              <a:t>Merging, transforming, and algebraically combining geophysics data</a:t>
            </a:r>
            <a:endParaRPr lang="en-US" sz="1400" dirty="0"/>
          </a:p>
        </p:txBody>
      </p:sp>
      <p:sp>
        <p:nvSpPr>
          <p:cNvPr id="14" name="Shape 11"/>
          <p:cNvSpPr/>
          <p:nvPr/>
        </p:nvSpPr>
        <p:spPr>
          <a:xfrm>
            <a:off x="10134295" y="365760"/>
            <a:ext cx="1508760" cy="365760"/>
          </a:xfrm>
          <a:prstGeom prst="roundRect">
            <a:avLst>
              <a:gd name="adj" fmla="val 50000"/>
            </a:avLst>
          </a:prstGeom>
          <a:solidFill>
            <a:srgbClr val="12335A"/>
          </a:solidFill>
          <a:ln w="12700">
            <a:solidFill>
              <a:srgbClr val="C9A227"/>
            </a:solidFill>
            <a:prstDash val="solid"/>
          </a:ln>
        </p:spPr>
        <p:txBody>
          <a:bodyPr/>
          <a:lstStyle/>
          <a:p>
            <a:endParaRPr lang="en-US"/>
          </a:p>
        </p:txBody>
      </p:sp>
      <p:sp>
        <p:nvSpPr>
          <p:cNvPr id="15" name="Text 12"/>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C9A227"/>
                </a:solidFill>
                <a:latin typeface="Calibri" pitchFamily="34" charset="0"/>
                <a:ea typeface="Calibri" pitchFamily="34" charset="-122"/>
                <a:cs typeface="Calibri" pitchFamily="34" charset="-120"/>
              </a:rPr>
              <a:t>⏱  2:30 PM</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SESSION ROADMAP</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Today’s 2-Hour Class Plan</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2:30–4:30 PM</a:t>
            </a:r>
            <a:endParaRPr lang="en-US" sz="1150" dirty="0"/>
          </a:p>
        </p:txBody>
      </p:sp>
      <p:sp>
        <p:nvSpPr>
          <p:cNvPr id="6" name="Shape 4"/>
          <p:cNvSpPr/>
          <p:nvPr/>
        </p:nvSpPr>
        <p:spPr>
          <a:xfrm>
            <a:off x="548640" y="1444752"/>
            <a:ext cx="11064240" cy="461772"/>
          </a:xfrm>
          <a:prstGeom prst="roundRect">
            <a:avLst>
              <a:gd name="adj" fmla="val 15842"/>
            </a:avLst>
          </a:prstGeom>
          <a:solidFill>
            <a:srgbClr val="E9EEF4"/>
          </a:solidFill>
          <a:ln/>
        </p:spPr>
        <p:txBody>
          <a:bodyPr/>
          <a:lstStyle/>
          <a:p>
            <a:endParaRPr lang="en-US" sz="1600"/>
          </a:p>
        </p:txBody>
      </p:sp>
      <p:sp>
        <p:nvSpPr>
          <p:cNvPr id="7" name="Text 5"/>
          <p:cNvSpPr txBox="1"/>
          <p:nvPr/>
        </p:nvSpPr>
        <p:spPr>
          <a:xfrm>
            <a:off x="777240" y="1444752"/>
            <a:ext cx="1463040" cy="461772"/>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2:30 PM</a:t>
            </a:r>
            <a:endParaRPr lang="en-US" sz="1600" dirty="0"/>
          </a:p>
        </p:txBody>
      </p:sp>
      <p:sp>
        <p:nvSpPr>
          <p:cNvPr id="8" name="Text 6"/>
          <p:cNvSpPr txBox="1"/>
          <p:nvPr/>
        </p:nvSpPr>
        <p:spPr>
          <a:xfrm>
            <a:off x="2377440" y="1444752"/>
            <a:ext cx="7223760" cy="461772"/>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Recap, Scalar Arithmetic (PEMDAS) &amp; Matrix Algebra</a:t>
            </a:r>
            <a:endParaRPr lang="en-US" sz="1600" dirty="0"/>
          </a:p>
        </p:txBody>
      </p:sp>
      <p:sp>
        <p:nvSpPr>
          <p:cNvPr id="9" name="Text 7"/>
          <p:cNvSpPr txBox="1"/>
          <p:nvPr/>
        </p:nvSpPr>
        <p:spPr>
          <a:xfrm>
            <a:off x="9692640" y="1444752"/>
            <a:ext cx="1737360" cy="461772"/>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16 min</a:t>
            </a:r>
            <a:endParaRPr lang="en-US" sz="1600" dirty="0"/>
          </a:p>
        </p:txBody>
      </p:sp>
      <p:sp>
        <p:nvSpPr>
          <p:cNvPr id="10" name="Shape 8"/>
          <p:cNvSpPr/>
          <p:nvPr/>
        </p:nvSpPr>
        <p:spPr>
          <a:xfrm>
            <a:off x="548640" y="1979676"/>
            <a:ext cx="11064240" cy="461772"/>
          </a:xfrm>
          <a:prstGeom prst="roundRect">
            <a:avLst>
              <a:gd name="adj" fmla="val 15842"/>
            </a:avLst>
          </a:prstGeom>
          <a:solidFill>
            <a:srgbClr val="E9EEF4"/>
          </a:solidFill>
          <a:ln/>
        </p:spPr>
        <p:txBody>
          <a:bodyPr/>
          <a:lstStyle/>
          <a:p>
            <a:endParaRPr lang="en-US" sz="1600"/>
          </a:p>
        </p:txBody>
      </p:sp>
      <p:sp>
        <p:nvSpPr>
          <p:cNvPr id="11" name="Text 9"/>
          <p:cNvSpPr txBox="1"/>
          <p:nvPr/>
        </p:nvSpPr>
        <p:spPr>
          <a:xfrm>
            <a:off x="777240" y="1979676"/>
            <a:ext cx="1463040" cy="461772"/>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2:46 PM</a:t>
            </a:r>
            <a:endParaRPr lang="en-US" sz="1600" dirty="0"/>
          </a:p>
        </p:txBody>
      </p:sp>
      <p:sp>
        <p:nvSpPr>
          <p:cNvPr id="12" name="Text 10"/>
          <p:cNvSpPr txBox="1"/>
          <p:nvPr/>
        </p:nvSpPr>
        <p:spPr>
          <a:xfrm>
            <a:off x="2377440" y="1979676"/>
            <a:ext cx="7223760" cy="461772"/>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Matrix Mult., Array Ops, Transpose &amp; Division Rules</a:t>
            </a:r>
            <a:endParaRPr lang="en-US" sz="1600" dirty="0"/>
          </a:p>
        </p:txBody>
      </p:sp>
      <p:sp>
        <p:nvSpPr>
          <p:cNvPr id="13" name="Text 11"/>
          <p:cNvSpPr txBox="1"/>
          <p:nvPr/>
        </p:nvSpPr>
        <p:spPr>
          <a:xfrm>
            <a:off x="9692640" y="1979676"/>
            <a:ext cx="1737360" cy="461772"/>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23 min</a:t>
            </a:r>
            <a:endParaRPr lang="en-US" sz="1600" dirty="0"/>
          </a:p>
        </p:txBody>
      </p:sp>
      <p:sp>
        <p:nvSpPr>
          <p:cNvPr id="14" name="Shape 12"/>
          <p:cNvSpPr/>
          <p:nvPr/>
        </p:nvSpPr>
        <p:spPr>
          <a:xfrm>
            <a:off x="548640" y="2514600"/>
            <a:ext cx="11064240" cy="461772"/>
          </a:xfrm>
          <a:prstGeom prst="roundRect">
            <a:avLst>
              <a:gd name="adj" fmla="val 15842"/>
            </a:avLst>
          </a:prstGeom>
          <a:solidFill>
            <a:srgbClr val="E9EEF4"/>
          </a:solidFill>
          <a:ln/>
        </p:spPr>
        <p:txBody>
          <a:bodyPr/>
          <a:lstStyle/>
          <a:p>
            <a:endParaRPr lang="en-US" sz="1600"/>
          </a:p>
        </p:txBody>
      </p:sp>
      <p:sp>
        <p:nvSpPr>
          <p:cNvPr id="15" name="Text 13"/>
          <p:cNvSpPr txBox="1"/>
          <p:nvPr/>
        </p:nvSpPr>
        <p:spPr>
          <a:xfrm>
            <a:off x="777240" y="2514600"/>
            <a:ext cx="1463040" cy="461772"/>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3:09 PM</a:t>
            </a:r>
            <a:endParaRPr lang="en-US" sz="1600" dirty="0"/>
          </a:p>
        </p:txBody>
      </p:sp>
      <p:sp>
        <p:nvSpPr>
          <p:cNvPr id="16" name="Text 14"/>
          <p:cNvSpPr txBox="1"/>
          <p:nvPr/>
        </p:nvSpPr>
        <p:spPr>
          <a:xfrm>
            <a:off x="2377440" y="2514600"/>
            <a:ext cx="7223760" cy="461772"/>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Concatenation, Special Matrices &amp; eye(R,C)</a:t>
            </a:r>
            <a:endParaRPr lang="en-US" sz="1600" dirty="0"/>
          </a:p>
        </p:txBody>
      </p:sp>
      <p:sp>
        <p:nvSpPr>
          <p:cNvPr id="17" name="Text 15"/>
          <p:cNvSpPr txBox="1"/>
          <p:nvPr/>
        </p:nvSpPr>
        <p:spPr>
          <a:xfrm>
            <a:off x="9692640" y="2514600"/>
            <a:ext cx="1737360" cy="461772"/>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21 min</a:t>
            </a:r>
            <a:endParaRPr lang="en-US" sz="1600" dirty="0"/>
          </a:p>
        </p:txBody>
      </p:sp>
      <p:sp>
        <p:nvSpPr>
          <p:cNvPr id="18" name="Shape 16"/>
          <p:cNvSpPr/>
          <p:nvPr/>
        </p:nvSpPr>
        <p:spPr>
          <a:xfrm>
            <a:off x="548640" y="3049524"/>
            <a:ext cx="11064240" cy="461772"/>
          </a:xfrm>
          <a:prstGeom prst="roundRect">
            <a:avLst>
              <a:gd name="adj" fmla="val 15842"/>
            </a:avLst>
          </a:prstGeom>
          <a:solidFill>
            <a:srgbClr val="FCEFCB"/>
          </a:solidFill>
          <a:ln/>
        </p:spPr>
        <p:txBody>
          <a:bodyPr/>
          <a:lstStyle/>
          <a:p>
            <a:endParaRPr lang="en-US" sz="1600"/>
          </a:p>
        </p:txBody>
      </p:sp>
      <p:sp>
        <p:nvSpPr>
          <p:cNvPr id="19" name="Text 17"/>
          <p:cNvSpPr txBox="1"/>
          <p:nvPr/>
        </p:nvSpPr>
        <p:spPr>
          <a:xfrm>
            <a:off x="777240" y="3049524"/>
            <a:ext cx="1463040" cy="461772"/>
          </a:xfrm>
          <a:prstGeom prst="rect">
            <a:avLst/>
          </a:prstGeom>
          <a:noFill/>
          <a:ln/>
        </p:spPr>
        <p:txBody>
          <a:bodyPr wrap="square" lIns="0" tIns="0" rIns="0" bIns="0" rtlCol="0" anchor="ctr"/>
          <a:lstStyle/>
          <a:p>
            <a:pPr marL="0" indent="0">
              <a:buNone/>
            </a:pPr>
            <a:r>
              <a:rPr lang="en-US" sz="1600" b="1" dirty="0">
                <a:solidFill>
                  <a:srgbClr val="7A5B00"/>
                </a:solidFill>
                <a:latin typeface="Courier New" pitchFamily="34" charset="0"/>
                <a:ea typeface="Courier New" pitchFamily="34" charset="-122"/>
                <a:cs typeface="Courier New" pitchFamily="34" charset="-120"/>
              </a:rPr>
              <a:t>3:30 PM</a:t>
            </a:r>
            <a:endParaRPr lang="en-US" sz="1600" dirty="0"/>
          </a:p>
        </p:txBody>
      </p:sp>
      <p:sp>
        <p:nvSpPr>
          <p:cNvPr id="20" name="Text 18"/>
          <p:cNvSpPr txBox="1"/>
          <p:nvPr/>
        </p:nvSpPr>
        <p:spPr>
          <a:xfrm>
            <a:off x="2377440" y="3049524"/>
            <a:ext cx="7223760" cy="461772"/>
          </a:xfrm>
          <a:prstGeom prst="rect">
            <a:avLst/>
          </a:prstGeom>
          <a:noFill/>
          <a:ln/>
        </p:spPr>
        <p:txBody>
          <a:bodyPr wrap="square" lIns="0" tIns="0" rIns="0" bIns="0" rtlCol="0" anchor="ctr"/>
          <a:lstStyle/>
          <a:p>
            <a:pPr marL="0" indent="0">
              <a:buNone/>
            </a:pPr>
            <a:r>
              <a:rPr lang="en-US" sz="1600" b="1" dirty="0">
                <a:solidFill>
                  <a:srgbClr val="7A5B00"/>
                </a:solidFill>
                <a:latin typeface="Calibri" pitchFamily="34" charset="0"/>
                <a:ea typeface="Calibri" pitchFamily="34" charset="-122"/>
                <a:cs typeface="Calibri" pitchFamily="34" charset="-120"/>
              </a:rPr>
              <a:t>☕  BREAK</a:t>
            </a:r>
            <a:endParaRPr lang="en-US" sz="1600" dirty="0"/>
          </a:p>
        </p:txBody>
      </p:sp>
      <p:sp>
        <p:nvSpPr>
          <p:cNvPr id="21" name="Text 19"/>
          <p:cNvSpPr txBox="1"/>
          <p:nvPr/>
        </p:nvSpPr>
        <p:spPr>
          <a:xfrm>
            <a:off x="9692640" y="3049524"/>
            <a:ext cx="1737360" cy="461772"/>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10 min</a:t>
            </a:r>
            <a:endParaRPr lang="en-US" sz="1600" dirty="0"/>
          </a:p>
        </p:txBody>
      </p:sp>
      <p:sp>
        <p:nvSpPr>
          <p:cNvPr id="22" name="Shape 20"/>
          <p:cNvSpPr/>
          <p:nvPr/>
        </p:nvSpPr>
        <p:spPr>
          <a:xfrm>
            <a:off x="548640" y="3584448"/>
            <a:ext cx="11064240" cy="461772"/>
          </a:xfrm>
          <a:prstGeom prst="roundRect">
            <a:avLst>
              <a:gd name="adj" fmla="val 15842"/>
            </a:avLst>
          </a:prstGeom>
          <a:solidFill>
            <a:srgbClr val="E9EEF4"/>
          </a:solidFill>
          <a:ln/>
        </p:spPr>
        <p:txBody>
          <a:bodyPr/>
          <a:lstStyle/>
          <a:p>
            <a:endParaRPr lang="en-US" sz="1600"/>
          </a:p>
        </p:txBody>
      </p:sp>
      <p:sp>
        <p:nvSpPr>
          <p:cNvPr id="23" name="Text 21"/>
          <p:cNvSpPr txBox="1"/>
          <p:nvPr/>
        </p:nvSpPr>
        <p:spPr>
          <a:xfrm>
            <a:off x="777240" y="3584448"/>
            <a:ext cx="1463040" cy="461772"/>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3:40 PM</a:t>
            </a:r>
            <a:endParaRPr lang="en-US" sz="1600" dirty="0"/>
          </a:p>
        </p:txBody>
      </p:sp>
      <p:sp>
        <p:nvSpPr>
          <p:cNvPr id="24" name="Text 22"/>
          <p:cNvSpPr txBox="1"/>
          <p:nvPr/>
        </p:nvSpPr>
        <p:spPr>
          <a:xfrm>
            <a:off x="2377440" y="3584448"/>
            <a:ext cx="7223760" cy="461772"/>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Determinant, Inverse &amp; Solving Systems</a:t>
            </a:r>
            <a:endParaRPr lang="en-US" sz="1600" dirty="0"/>
          </a:p>
        </p:txBody>
      </p:sp>
      <p:sp>
        <p:nvSpPr>
          <p:cNvPr id="25" name="Text 23"/>
          <p:cNvSpPr txBox="1"/>
          <p:nvPr/>
        </p:nvSpPr>
        <p:spPr>
          <a:xfrm>
            <a:off x="9692640" y="3584448"/>
            <a:ext cx="1737360" cy="461772"/>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8 min</a:t>
            </a:r>
            <a:endParaRPr lang="en-US" sz="1600" dirty="0"/>
          </a:p>
        </p:txBody>
      </p:sp>
      <p:sp>
        <p:nvSpPr>
          <p:cNvPr id="26" name="Shape 24"/>
          <p:cNvSpPr/>
          <p:nvPr/>
        </p:nvSpPr>
        <p:spPr>
          <a:xfrm>
            <a:off x="548640" y="4119372"/>
            <a:ext cx="11064240" cy="461772"/>
          </a:xfrm>
          <a:prstGeom prst="roundRect">
            <a:avLst>
              <a:gd name="adj" fmla="val 15842"/>
            </a:avLst>
          </a:prstGeom>
          <a:solidFill>
            <a:srgbClr val="E9EEF4"/>
          </a:solidFill>
          <a:ln/>
        </p:spPr>
        <p:txBody>
          <a:bodyPr/>
          <a:lstStyle/>
          <a:p>
            <a:endParaRPr lang="en-US" sz="1600"/>
          </a:p>
        </p:txBody>
      </p:sp>
      <p:sp>
        <p:nvSpPr>
          <p:cNvPr id="27" name="Text 25"/>
          <p:cNvSpPr txBox="1"/>
          <p:nvPr/>
        </p:nvSpPr>
        <p:spPr>
          <a:xfrm>
            <a:off x="777240" y="4119372"/>
            <a:ext cx="1463040" cy="461772"/>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3:48 PM</a:t>
            </a:r>
            <a:endParaRPr lang="en-US" sz="1600" dirty="0"/>
          </a:p>
        </p:txBody>
      </p:sp>
      <p:sp>
        <p:nvSpPr>
          <p:cNvPr id="28" name="Text 26"/>
          <p:cNvSpPr txBox="1"/>
          <p:nvPr/>
        </p:nvSpPr>
        <p:spPr>
          <a:xfrm>
            <a:off x="2377440" y="4119372"/>
            <a:ext cx="7223760" cy="461772"/>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Textbook Practice: Tricky &amp; Enjoyable Problems</a:t>
            </a:r>
            <a:endParaRPr lang="en-US" sz="1600" dirty="0"/>
          </a:p>
        </p:txBody>
      </p:sp>
      <p:sp>
        <p:nvSpPr>
          <p:cNvPr id="29" name="Text 27"/>
          <p:cNvSpPr txBox="1"/>
          <p:nvPr/>
        </p:nvSpPr>
        <p:spPr>
          <a:xfrm>
            <a:off x="9692640" y="4119372"/>
            <a:ext cx="1737360" cy="461772"/>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9 min</a:t>
            </a:r>
            <a:endParaRPr lang="en-US" sz="1600" dirty="0"/>
          </a:p>
        </p:txBody>
      </p:sp>
      <p:sp>
        <p:nvSpPr>
          <p:cNvPr id="30" name="Shape 28"/>
          <p:cNvSpPr/>
          <p:nvPr/>
        </p:nvSpPr>
        <p:spPr>
          <a:xfrm>
            <a:off x="548640" y="4654296"/>
            <a:ext cx="11064240" cy="461772"/>
          </a:xfrm>
          <a:prstGeom prst="roundRect">
            <a:avLst>
              <a:gd name="adj" fmla="val 15842"/>
            </a:avLst>
          </a:prstGeom>
          <a:solidFill>
            <a:srgbClr val="E9EEF4"/>
          </a:solidFill>
          <a:ln/>
        </p:spPr>
        <p:txBody>
          <a:bodyPr/>
          <a:lstStyle/>
          <a:p>
            <a:endParaRPr lang="en-US" sz="1600"/>
          </a:p>
        </p:txBody>
      </p:sp>
      <p:sp>
        <p:nvSpPr>
          <p:cNvPr id="31" name="Text 29"/>
          <p:cNvSpPr txBox="1"/>
          <p:nvPr/>
        </p:nvSpPr>
        <p:spPr>
          <a:xfrm>
            <a:off x="777240" y="4654296"/>
            <a:ext cx="1463040" cy="461772"/>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3:57 PM</a:t>
            </a:r>
            <a:endParaRPr lang="en-US" sz="1600" dirty="0"/>
          </a:p>
        </p:txBody>
      </p:sp>
      <p:sp>
        <p:nvSpPr>
          <p:cNvPr id="32" name="Text 30"/>
          <p:cNvSpPr txBox="1"/>
          <p:nvPr/>
        </p:nvSpPr>
        <p:spPr>
          <a:xfrm>
            <a:off x="2377440" y="4654296"/>
            <a:ext cx="7223760" cy="461772"/>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Geophysics Applications</a:t>
            </a:r>
            <a:endParaRPr lang="en-US" sz="1600" dirty="0"/>
          </a:p>
        </p:txBody>
      </p:sp>
      <p:sp>
        <p:nvSpPr>
          <p:cNvPr id="33" name="Text 31"/>
          <p:cNvSpPr txBox="1"/>
          <p:nvPr/>
        </p:nvSpPr>
        <p:spPr>
          <a:xfrm>
            <a:off x="9692640" y="4654296"/>
            <a:ext cx="1737360" cy="461772"/>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14 min</a:t>
            </a:r>
            <a:endParaRPr lang="en-US" sz="1600" dirty="0"/>
          </a:p>
        </p:txBody>
      </p:sp>
      <p:sp>
        <p:nvSpPr>
          <p:cNvPr id="34" name="Shape 32"/>
          <p:cNvSpPr/>
          <p:nvPr/>
        </p:nvSpPr>
        <p:spPr>
          <a:xfrm>
            <a:off x="548640" y="5189220"/>
            <a:ext cx="11064240" cy="461772"/>
          </a:xfrm>
          <a:prstGeom prst="roundRect">
            <a:avLst>
              <a:gd name="adj" fmla="val 15842"/>
            </a:avLst>
          </a:prstGeom>
          <a:solidFill>
            <a:srgbClr val="E9EEF4"/>
          </a:solidFill>
          <a:ln/>
        </p:spPr>
        <p:txBody>
          <a:bodyPr/>
          <a:lstStyle/>
          <a:p>
            <a:endParaRPr lang="en-US" sz="1600"/>
          </a:p>
        </p:txBody>
      </p:sp>
      <p:sp>
        <p:nvSpPr>
          <p:cNvPr id="35" name="Text 33"/>
          <p:cNvSpPr txBox="1"/>
          <p:nvPr/>
        </p:nvSpPr>
        <p:spPr>
          <a:xfrm>
            <a:off x="777240" y="5189220"/>
            <a:ext cx="1463040" cy="461772"/>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4:11 PM</a:t>
            </a:r>
            <a:endParaRPr lang="en-US" sz="1600" dirty="0"/>
          </a:p>
        </p:txBody>
      </p:sp>
      <p:sp>
        <p:nvSpPr>
          <p:cNvPr id="36" name="Text 34"/>
          <p:cNvSpPr txBox="1"/>
          <p:nvPr/>
        </p:nvSpPr>
        <p:spPr>
          <a:xfrm>
            <a:off x="2377440" y="5189220"/>
            <a:ext cx="7223760" cy="461772"/>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Hands-On Labs 1, 2 &amp; 3</a:t>
            </a:r>
            <a:endParaRPr lang="en-US" sz="1600" dirty="0"/>
          </a:p>
        </p:txBody>
      </p:sp>
      <p:sp>
        <p:nvSpPr>
          <p:cNvPr id="37" name="Text 35"/>
          <p:cNvSpPr txBox="1"/>
          <p:nvPr/>
        </p:nvSpPr>
        <p:spPr>
          <a:xfrm>
            <a:off x="9692640" y="5189220"/>
            <a:ext cx="1737360" cy="461772"/>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13 min</a:t>
            </a:r>
            <a:endParaRPr lang="en-US" sz="1600" dirty="0"/>
          </a:p>
        </p:txBody>
      </p:sp>
      <p:sp>
        <p:nvSpPr>
          <p:cNvPr id="38" name="Shape 36"/>
          <p:cNvSpPr/>
          <p:nvPr/>
        </p:nvSpPr>
        <p:spPr>
          <a:xfrm>
            <a:off x="548640" y="5724144"/>
            <a:ext cx="11064240" cy="461772"/>
          </a:xfrm>
          <a:prstGeom prst="roundRect">
            <a:avLst>
              <a:gd name="adj" fmla="val 15842"/>
            </a:avLst>
          </a:prstGeom>
          <a:solidFill>
            <a:srgbClr val="E9EEF4"/>
          </a:solidFill>
          <a:ln/>
        </p:spPr>
        <p:txBody>
          <a:bodyPr/>
          <a:lstStyle/>
          <a:p>
            <a:endParaRPr lang="en-US" sz="1600"/>
          </a:p>
        </p:txBody>
      </p:sp>
      <p:sp>
        <p:nvSpPr>
          <p:cNvPr id="39" name="Text 37"/>
          <p:cNvSpPr txBox="1"/>
          <p:nvPr/>
        </p:nvSpPr>
        <p:spPr>
          <a:xfrm>
            <a:off x="777240" y="5724144"/>
            <a:ext cx="1463040" cy="461772"/>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4:24 PM</a:t>
            </a:r>
            <a:endParaRPr lang="en-US" sz="1600" dirty="0"/>
          </a:p>
        </p:txBody>
      </p:sp>
      <p:sp>
        <p:nvSpPr>
          <p:cNvPr id="40" name="Text 38"/>
          <p:cNvSpPr txBox="1"/>
          <p:nvPr/>
        </p:nvSpPr>
        <p:spPr>
          <a:xfrm>
            <a:off x="2377440" y="5724144"/>
            <a:ext cx="7223760" cy="461772"/>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Week 3 Summary &amp; Deliverables</a:t>
            </a:r>
            <a:endParaRPr lang="en-US" sz="1600" dirty="0"/>
          </a:p>
        </p:txBody>
      </p:sp>
      <p:sp>
        <p:nvSpPr>
          <p:cNvPr id="41" name="Text 39"/>
          <p:cNvSpPr txBox="1"/>
          <p:nvPr/>
        </p:nvSpPr>
        <p:spPr>
          <a:xfrm>
            <a:off x="9692640" y="5724144"/>
            <a:ext cx="1737360" cy="461772"/>
          </a:xfrm>
          <a:prstGeom prst="rect">
            <a:avLst/>
          </a:prstGeom>
          <a:noFill/>
          <a:ln/>
        </p:spPr>
        <p:txBody>
          <a:bodyPr wrap="square" lIns="0" tIns="0" rIns="0" bIns="0" rtlCol="0" anchor="ctr"/>
          <a:lstStyle/>
          <a:p>
            <a:pPr marL="0" indent="0" algn="r">
              <a:buNone/>
            </a:pPr>
            <a:r>
              <a:rPr lang="en-US" sz="1600" i="1" dirty="0">
                <a:solidFill>
                  <a:srgbClr val="5C6B7A"/>
                </a:solidFill>
                <a:latin typeface="Calibri" pitchFamily="34" charset="0"/>
                <a:ea typeface="Calibri" pitchFamily="34" charset="-122"/>
                <a:cs typeface="Calibri" pitchFamily="34" charset="-120"/>
              </a:rPr>
              <a:t>6 min</a:t>
            </a:r>
            <a:endParaRPr lang="en-US" sz="1600" dirty="0"/>
          </a:p>
        </p:txBody>
      </p:sp>
      <p:sp>
        <p:nvSpPr>
          <p:cNvPr id="42" name="Text 40"/>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43" name="Text 41"/>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BRIDGE FROM WEEK 2</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Recap &amp; Why Matrix Operations Matter</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2:33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Week 1: MATLAB desktop, variables, math syntax</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Week 2: vectors, matrices, indexing, file import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Week 3: operating on whole matrices at once</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Geophysics rarely uses one dataset in isolation</a:t>
            </a:r>
            <a:endParaRPr lang="en-US" sz="2000" dirty="0"/>
          </a:p>
        </p:txBody>
      </p:sp>
      <p:sp>
        <p:nvSpPr>
          <p:cNvPr id="7" name="Shape 5"/>
          <p:cNvSpPr/>
          <p:nvPr/>
        </p:nvSpPr>
        <p:spPr>
          <a:xfrm>
            <a:off x="6903720" y="1600200"/>
            <a:ext cx="47091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8" name="Shape 6"/>
          <p:cNvSpPr/>
          <p:nvPr/>
        </p:nvSpPr>
        <p:spPr>
          <a:xfrm>
            <a:off x="7178040" y="2148840"/>
            <a:ext cx="1295400" cy="1371600"/>
          </a:xfrm>
          <a:prstGeom prst="roundRect">
            <a:avLst>
              <a:gd name="adj" fmla="val 7059"/>
            </a:avLst>
          </a:prstGeom>
          <a:solidFill>
            <a:srgbClr val="DCE6F0"/>
          </a:solidFill>
          <a:ln/>
        </p:spPr>
        <p:txBody>
          <a:bodyPr/>
          <a:lstStyle/>
          <a:p>
            <a:endParaRPr lang="en-US"/>
          </a:p>
        </p:txBody>
      </p:sp>
      <p:sp>
        <p:nvSpPr>
          <p:cNvPr id="9" name="Text 7"/>
          <p:cNvSpPr txBox="1"/>
          <p:nvPr/>
        </p:nvSpPr>
        <p:spPr>
          <a:xfrm>
            <a:off x="7178040" y="2240280"/>
            <a:ext cx="1295400" cy="365760"/>
          </a:xfrm>
          <a:prstGeom prst="rect">
            <a:avLst/>
          </a:prstGeom>
          <a:noFill/>
          <a:ln/>
        </p:spPr>
        <p:txBody>
          <a:bodyPr wrap="square" lIns="0" tIns="0" rIns="0" bIns="0" rtlCol="0" anchor="ctr"/>
          <a:lstStyle/>
          <a:p>
            <a:pPr marL="0" indent="0" algn="ctr">
              <a:buNone/>
            </a:pPr>
            <a:r>
              <a:rPr lang="en-US" b="1" dirty="0">
                <a:solidFill>
                  <a:srgbClr val="0B2545"/>
                </a:solidFill>
                <a:latin typeface="Calibri" pitchFamily="34" charset="0"/>
                <a:ea typeface="Calibri" pitchFamily="34" charset="-122"/>
                <a:cs typeface="Calibri" pitchFamily="34" charset="-120"/>
              </a:rPr>
              <a:t>Week 1</a:t>
            </a:r>
            <a:endParaRPr lang="en-US" dirty="0"/>
          </a:p>
        </p:txBody>
      </p:sp>
      <p:sp>
        <p:nvSpPr>
          <p:cNvPr id="10" name="Text 8"/>
          <p:cNvSpPr txBox="1"/>
          <p:nvPr/>
        </p:nvSpPr>
        <p:spPr>
          <a:xfrm>
            <a:off x="7269480" y="2606040"/>
            <a:ext cx="1112520" cy="822960"/>
          </a:xfrm>
          <a:prstGeom prst="rect">
            <a:avLst/>
          </a:prstGeom>
          <a:noFill/>
          <a:ln/>
        </p:spPr>
        <p:txBody>
          <a:bodyPr wrap="square" lIns="0" tIns="0" rIns="0" bIns="0" rtlCol="0" anchor="ctr"/>
          <a:lstStyle/>
          <a:p>
            <a:pPr marL="0" indent="0" algn="ctr">
              <a:buNone/>
            </a:pPr>
            <a:r>
              <a:rPr lang="en-US" sz="1400" dirty="0">
                <a:solidFill>
                  <a:srgbClr val="0B2545"/>
                </a:solidFill>
                <a:latin typeface="Calibri" pitchFamily="34" charset="0"/>
                <a:ea typeface="Calibri" pitchFamily="34" charset="-122"/>
                <a:cs typeface="Calibri" pitchFamily="34" charset="-120"/>
              </a:rPr>
              <a:t>Environment</a:t>
            </a:r>
            <a:endParaRPr lang="en-US" sz="1400" dirty="0"/>
          </a:p>
          <a:p>
            <a:pPr marL="0" indent="0" algn="ctr">
              <a:buNone/>
            </a:pPr>
            <a:r>
              <a:rPr lang="en-US" sz="1400" dirty="0">
                <a:solidFill>
                  <a:srgbClr val="0B2545"/>
                </a:solidFill>
                <a:latin typeface="Calibri" pitchFamily="34" charset="0"/>
                <a:ea typeface="Calibri" pitchFamily="34" charset="-122"/>
                <a:cs typeface="Calibri" pitchFamily="34" charset="-120"/>
              </a:rPr>
              <a:t>&amp; Syntax</a:t>
            </a:r>
            <a:endParaRPr lang="en-US" sz="1400" dirty="0"/>
          </a:p>
        </p:txBody>
      </p:sp>
      <p:sp>
        <p:nvSpPr>
          <p:cNvPr id="11" name="Text 9"/>
          <p:cNvSpPr txBox="1"/>
          <p:nvPr/>
        </p:nvSpPr>
        <p:spPr>
          <a:xfrm>
            <a:off x="8473440" y="2606040"/>
            <a:ext cx="137160" cy="457200"/>
          </a:xfrm>
          <a:prstGeom prst="rect">
            <a:avLst/>
          </a:prstGeom>
          <a:noFill/>
          <a:ln/>
        </p:spPr>
        <p:txBody>
          <a:bodyPr wrap="square" lIns="0" tIns="0" rIns="0" bIns="0" rtlCol="0" anchor="ctr"/>
          <a:lstStyle/>
          <a:p>
            <a:pPr marL="0" indent="0" algn="ctr">
              <a:buNone/>
            </a:pPr>
            <a:r>
              <a:rPr lang="en-US" sz="1800" b="1" dirty="0">
                <a:solidFill>
                  <a:srgbClr val="5C6B7A"/>
                </a:solidFill>
                <a:latin typeface="Calibri" pitchFamily="34" charset="0"/>
                <a:ea typeface="Calibri" pitchFamily="34" charset="-122"/>
                <a:cs typeface="Calibri" pitchFamily="34" charset="-120"/>
              </a:rPr>
              <a:t>→</a:t>
            </a:r>
            <a:endParaRPr lang="en-US" sz="1800" dirty="0"/>
          </a:p>
        </p:txBody>
      </p:sp>
      <p:sp>
        <p:nvSpPr>
          <p:cNvPr id="12" name="Shape 10"/>
          <p:cNvSpPr/>
          <p:nvPr/>
        </p:nvSpPr>
        <p:spPr>
          <a:xfrm>
            <a:off x="8610600" y="2148840"/>
            <a:ext cx="1295400" cy="1371600"/>
          </a:xfrm>
          <a:prstGeom prst="roundRect">
            <a:avLst>
              <a:gd name="adj" fmla="val 7059"/>
            </a:avLst>
          </a:prstGeom>
          <a:solidFill>
            <a:srgbClr val="DCE6F0"/>
          </a:solidFill>
          <a:ln/>
        </p:spPr>
        <p:txBody>
          <a:bodyPr/>
          <a:lstStyle/>
          <a:p>
            <a:endParaRPr lang="en-US"/>
          </a:p>
        </p:txBody>
      </p:sp>
      <p:sp>
        <p:nvSpPr>
          <p:cNvPr id="13" name="Text 11"/>
          <p:cNvSpPr txBox="1"/>
          <p:nvPr/>
        </p:nvSpPr>
        <p:spPr>
          <a:xfrm>
            <a:off x="8610600" y="2240280"/>
            <a:ext cx="1295400" cy="365760"/>
          </a:xfrm>
          <a:prstGeom prst="rect">
            <a:avLst/>
          </a:prstGeom>
          <a:noFill/>
          <a:ln/>
        </p:spPr>
        <p:txBody>
          <a:bodyPr wrap="square" lIns="0" tIns="0" rIns="0" bIns="0" rtlCol="0" anchor="ctr"/>
          <a:lstStyle/>
          <a:p>
            <a:pPr marL="0" indent="0" algn="ctr">
              <a:buNone/>
            </a:pPr>
            <a:r>
              <a:rPr lang="en-US" b="1" dirty="0">
                <a:solidFill>
                  <a:srgbClr val="0B2545"/>
                </a:solidFill>
                <a:latin typeface="Calibri" pitchFamily="34" charset="0"/>
                <a:ea typeface="Calibri" pitchFamily="34" charset="-122"/>
                <a:cs typeface="Calibri" pitchFamily="34" charset="-120"/>
              </a:rPr>
              <a:t>Week 2</a:t>
            </a:r>
            <a:endParaRPr lang="en-US" dirty="0"/>
          </a:p>
        </p:txBody>
      </p:sp>
      <p:sp>
        <p:nvSpPr>
          <p:cNvPr id="14" name="Text 12"/>
          <p:cNvSpPr txBox="1"/>
          <p:nvPr/>
        </p:nvSpPr>
        <p:spPr>
          <a:xfrm>
            <a:off x="8702040" y="2606040"/>
            <a:ext cx="1112520" cy="822960"/>
          </a:xfrm>
          <a:prstGeom prst="rect">
            <a:avLst/>
          </a:prstGeom>
          <a:noFill/>
          <a:ln/>
        </p:spPr>
        <p:txBody>
          <a:bodyPr wrap="square" lIns="0" tIns="0" rIns="0" bIns="0" rtlCol="0" anchor="ctr"/>
          <a:lstStyle/>
          <a:p>
            <a:pPr marL="0" indent="0" algn="ctr">
              <a:buNone/>
            </a:pPr>
            <a:r>
              <a:rPr lang="en-US" sz="1400" dirty="0">
                <a:solidFill>
                  <a:srgbClr val="0B2545"/>
                </a:solidFill>
                <a:latin typeface="Calibri" pitchFamily="34" charset="0"/>
                <a:ea typeface="Calibri" pitchFamily="34" charset="-122"/>
                <a:cs typeface="Calibri" pitchFamily="34" charset="-120"/>
              </a:rPr>
              <a:t>Vectors,</a:t>
            </a:r>
            <a:endParaRPr lang="en-US" sz="1400" dirty="0"/>
          </a:p>
          <a:p>
            <a:pPr marL="0" indent="0" algn="ctr">
              <a:buNone/>
            </a:pPr>
            <a:r>
              <a:rPr lang="en-US" sz="1400" dirty="0">
                <a:solidFill>
                  <a:srgbClr val="0B2545"/>
                </a:solidFill>
                <a:latin typeface="Calibri" pitchFamily="34" charset="0"/>
                <a:ea typeface="Calibri" pitchFamily="34" charset="-122"/>
                <a:cs typeface="Calibri" pitchFamily="34" charset="-120"/>
              </a:rPr>
              <a:t>Matrices,</a:t>
            </a:r>
            <a:endParaRPr lang="en-US" sz="1400" dirty="0"/>
          </a:p>
          <a:p>
            <a:pPr marL="0" indent="0" algn="ctr">
              <a:buNone/>
            </a:pPr>
            <a:r>
              <a:rPr lang="en-US" sz="1400" dirty="0">
                <a:solidFill>
                  <a:srgbClr val="0B2545"/>
                </a:solidFill>
                <a:latin typeface="Calibri" pitchFamily="34" charset="0"/>
                <a:ea typeface="Calibri" pitchFamily="34" charset="-122"/>
                <a:cs typeface="Calibri" pitchFamily="34" charset="-120"/>
              </a:rPr>
              <a:t>Indexing</a:t>
            </a:r>
            <a:endParaRPr lang="en-US" sz="1400" dirty="0"/>
          </a:p>
        </p:txBody>
      </p:sp>
      <p:sp>
        <p:nvSpPr>
          <p:cNvPr id="15" name="Text 13"/>
          <p:cNvSpPr txBox="1"/>
          <p:nvPr/>
        </p:nvSpPr>
        <p:spPr>
          <a:xfrm>
            <a:off x="9906000" y="2606040"/>
            <a:ext cx="137160" cy="457200"/>
          </a:xfrm>
          <a:prstGeom prst="rect">
            <a:avLst/>
          </a:prstGeom>
          <a:noFill/>
          <a:ln/>
        </p:spPr>
        <p:txBody>
          <a:bodyPr wrap="square" lIns="0" tIns="0" rIns="0" bIns="0" rtlCol="0" anchor="ctr"/>
          <a:lstStyle/>
          <a:p>
            <a:pPr marL="0" indent="0" algn="ctr">
              <a:buNone/>
            </a:pPr>
            <a:r>
              <a:rPr lang="en-US" sz="1800" b="1" dirty="0">
                <a:solidFill>
                  <a:srgbClr val="5C6B7A"/>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10043160" y="2148840"/>
            <a:ext cx="1295400" cy="1371600"/>
          </a:xfrm>
          <a:prstGeom prst="roundRect">
            <a:avLst>
              <a:gd name="adj" fmla="val 7059"/>
            </a:avLst>
          </a:prstGeom>
          <a:solidFill>
            <a:srgbClr val="C9A227"/>
          </a:solidFill>
          <a:ln/>
        </p:spPr>
        <p:txBody>
          <a:bodyPr/>
          <a:lstStyle/>
          <a:p>
            <a:endParaRPr lang="en-US"/>
          </a:p>
        </p:txBody>
      </p:sp>
      <p:sp>
        <p:nvSpPr>
          <p:cNvPr id="17" name="Text 15"/>
          <p:cNvSpPr txBox="1"/>
          <p:nvPr/>
        </p:nvSpPr>
        <p:spPr>
          <a:xfrm>
            <a:off x="10043160" y="2240280"/>
            <a:ext cx="1295400" cy="365760"/>
          </a:xfrm>
          <a:prstGeom prst="rect">
            <a:avLst/>
          </a:prstGeom>
          <a:noFill/>
          <a:ln/>
        </p:spPr>
        <p:txBody>
          <a:bodyPr wrap="square" lIns="0" tIns="0" rIns="0" bIns="0" rtlCol="0" anchor="ctr"/>
          <a:lstStyle/>
          <a:p>
            <a:pPr marL="0" indent="0" algn="ctr">
              <a:buNone/>
            </a:pPr>
            <a:r>
              <a:rPr lang="en-US" b="1" dirty="0">
                <a:solidFill>
                  <a:srgbClr val="0B2545"/>
                </a:solidFill>
                <a:latin typeface="Calibri" pitchFamily="34" charset="0"/>
                <a:ea typeface="Calibri" pitchFamily="34" charset="-122"/>
                <a:cs typeface="Calibri" pitchFamily="34" charset="-120"/>
              </a:rPr>
              <a:t>Week 3</a:t>
            </a:r>
            <a:endParaRPr lang="en-US" dirty="0"/>
          </a:p>
        </p:txBody>
      </p:sp>
      <p:sp>
        <p:nvSpPr>
          <p:cNvPr id="18" name="Text 16"/>
          <p:cNvSpPr txBox="1"/>
          <p:nvPr/>
        </p:nvSpPr>
        <p:spPr>
          <a:xfrm>
            <a:off x="10134600" y="2606040"/>
            <a:ext cx="1112520" cy="822960"/>
          </a:xfrm>
          <a:prstGeom prst="rect">
            <a:avLst/>
          </a:prstGeom>
          <a:noFill/>
          <a:ln/>
        </p:spPr>
        <p:txBody>
          <a:bodyPr wrap="square" lIns="0" tIns="0" rIns="0" bIns="0" rtlCol="0" anchor="ctr"/>
          <a:lstStyle/>
          <a:p>
            <a:pPr marL="0" indent="0" algn="ctr">
              <a:buNone/>
            </a:pPr>
            <a:r>
              <a:rPr lang="en-US" sz="1400" dirty="0">
                <a:solidFill>
                  <a:srgbClr val="0B2545"/>
                </a:solidFill>
                <a:latin typeface="Calibri" pitchFamily="34" charset="0"/>
                <a:ea typeface="Calibri" pitchFamily="34" charset="-122"/>
                <a:cs typeface="Calibri" pitchFamily="34" charset="-120"/>
              </a:rPr>
              <a:t>Matrix</a:t>
            </a:r>
            <a:endParaRPr lang="en-US" sz="1400" dirty="0"/>
          </a:p>
          <a:p>
            <a:pPr marL="0" indent="0" algn="ctr">
              <a:buNone/>
            </a:pPr>
            <a:r>
              <a:rPr lang="en-US" sz="1400" dirty="0">
                <a:solidFill>
                  <a:srgbClr val="0B2545"/>
                </a:solidFill>
                <a:latin typeface="Calibri" pitchFamily="34" charset="0"/>
                <a:ea typeface="Calibri" pitchFamily="34" charset="-122"/>
                <a:cs typeface="Calibri" pitchFamily="34" charset="-120"/>
              </a:rPr>
              <a:t>Operations</a:t>
            </a:r>
            <a:endParaRPr lang="en-US" sz="1400" dirty="0"/>
          </a:p>
        </p:txBody>
      </p:sp>
      <p:sp>
        <p:nvSpPr>
          <p:cNvPr id="19" name="Text 17"/>
          <p:cNvSpPr txBox="1"/>
          <p:nvPr/>
        </p:nvSpPr>
        <p:spPr>
          <a:xfrm>
            <a:off x="7178040" y="3977640"/>
            <a:ext cx="4160520" cy="457200"/>
          </a:xfrm>
          <a:prstGeom prst="rect">
            <a:avLst/>
          </a:prstGeom>
          <a:noFill/>
          <a:ln/>
        </p:spPr>
        <p:txBody>
          <a:bodyPr wrap="square" lIns="0" tIns="0" rIns="0" bIns="0" rtlCol="0" anchor="ctr"/>
          <a:lstStyle/>
          <a:p>
            <a:pPr marL="0" indent="0" algn="ctr">
              <a:buNone/>
            </a:pPr>
            <a:r>
              <a:rPr lang="en-US" sz="1400" i="1" dirty="0">
                <a:solidFill>
                  <a:srgbClr val="5C6B7A"/>
                </a:solidFill>
                <a:latin typeface="Calibri" pitchFamily="34" charset="0"/>
                <a:ea typeface="Calibri" pitchFamily="34" charset="-122"/>
                <a:cs typeface="Calibri" pitchFamily="34" charset="-120"/>
              </a:rPr>
              <a:t>Today, arrays stop being static — we transform and combine them</a:t>
            </a:r>
            <a:endParaRPr lang="en-US" sz="1400" dirty="0"/>
          </a:p>
        </p:txBody>
      </p:sp>
      <p:sp>
        <p:nvSpPr>
          <p:cNvPr id="20" name="Text 18"/>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21" name="Text 19"/>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Scalar Arithmetic: Operators &amp; Precedence (PEMDAS)</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2:37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Scalar operators: +  −  *  /  ^</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1. Parentheses ( ) — innermost first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2. Exponent ^ — evaluated left to right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3. Multiply * and Divide / — left to right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4. Add + and Subtract − — evaluated last</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expr = 2 + 3 * 4 ^ 2</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Step 1: 4^2      = 16</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Step 2: 3*16     = 48</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Step 3: 2+48     = 50</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expr</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 ans = 50</a:t>
            </a:r>
            <a:endParaRPr lang="en-US" dirty="0"/>
          </a:p>
          <a:p>
            <a:pPr marL="0" indent="0">
              <a:spcAft>
                <a:spcPts val="400"/>
              </a:spcAft>
              <a:buNone/>
            </a:pP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(2 + 3) * 4 ^ 2</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 parentheses first -&gt; 80</a:t>
            </a:r>
            <a:endParaRPr lang="en-US"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MATRIX ALGEBRA</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Matrix Addition &amp; Subtraction</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2:41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Matrices must be the same size to add or subtract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Operation is element-by-element; + and − never need a dot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Function form: plus(A,B) and minus(A,B) do the same thing</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Scalar add: A + 2 adds 2 to every element of A</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Column/row math via indexing: A(:,1) + B</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Adding mismatched sizes throws a dimension error</a:t>
            </a:r>
            <a:endParaRPr lang="en-US" sz="2000" dirty="0"/>
          </a:p>
        </p:txBody>
      </p:sp>
      <p:sp>
        <p:nvSpPr>
          <p:cNvPr id="7" name="Shape 5"/>
          <p:cNvSpPr/>
          <p:nvPr/>
        </p:nvSpPr>
        <p:spPr>
          <a:xfrm>
            <a:off x="6903720" y="1600200"/>
            <a:ext cx="4709160" cy="4526280"/>
          </a:xfrm>
          <a:prstGeom prst="roundRect">
            <a:avLst>
              <a:gd name="adj" fmla="val 2424"/>
            </a:avLst>
          </a:prstGeom>
          <a:solidFill>
            <a:srgbClr val="E9EEF4"/>
          </a:solidFill>
          <a:ln w="12700">
            <a:solidFill>
              <a:srgbClr val="D7DEE7"/>
            </a:solidFill>
            <a:prstDash val="solid"/>
          </a:ln>
        </p:spPr>
        <p:txBody>
          <a:bodyPr/>
          <a:lstStyle/>
          <a:p>
            <a:endParaRPr lang="en-US" sz="1600"/>
          </a:p>
        </p:txBody>
      </p:sp>
      <p:sp>
        <p:nvSpPr>
          <p:cNvPr id="8" name="Shape 6"/>
          <p:cNvSpPr/>
          <p:nvPr/>
        </p:nvSpPr>
        <p:spPr>
          <a:xfrm>
            <a:off x="7178040" y="1965960"/>
            <a:ext cx="457200" cy="457200"/>
          </a:xfrm>
          <a:prstGeom prst="rect">
            <a:avLst/>
          </a:prstGeom>
          <a:solidFill>
            <a:srgbClr val="DCE6F0"/>
          </a:solidFill>
          <a:ln w="12700">
            <a:solidFill>
              <a:srgbClr val="1C7293"/>
            </a:solidFill>
            <a:prstDash val="solid"/>
          </a:ln>
        </p:spPr>
        <p:txBody>
          <a:bodyPr/>
          <a:lstStyle/>
          <a:p>
            <a:endParaRPr lang="en-US" sz="1600"/>
          </a:p>
        </p:txBody>
      </p:sp>
      <p:sp>
        <p:nvSpPr>
          <p:cNvPr id="9" name="Text 7"/>
          <p:cNvSpPr txBox="1"/>
          <p:nvPr/>
        </p:nvSpPr>
        <p:spPr>
          <a:xfrm>
            <a:off x="7178040" y="196596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1</a:t>
            </a:r>
            <a:endParaRPr lang="en-US" sz="1600" dirty="0"/>
          </a:p>
        </p:txBody>
      </p:sp>
      <p:sp>
        <p:nvSpPr>
          <p:cNvPr id="10" name="Shape 8"/>
          <p:cNvSpPr/>
          <p:nvPr/>
        </p:nvSpPr>
        <p:spPr>
          <a:xfrm>
            <a:off x="7680960" y="1965960"/>
            <a:ext cx="457200" cy="457200"/>
          </a:xfrm>
          <a:prstGeom prst="rect">
            <a:avLst/>
          </a:prstGeom>
          <a:solidFill>
            <a:srgbClr val="DCE6F0"/>
          </a:solidFill>
          <a:ln w="12700">
            <a:solidFill>
              <a:srgbClr val="1C7293"/>
            </a:solidFill>
            <a:prstDash val="solid"/>
          </a:ln>
        </p:spPr>
        <p:txBody>
          <a:bodyPr/>
          <a:lstStyle/>
          <a:p>
            <a:endParaRPr lang="en-US" sz="1600"/>
          </a:p>
        </p:txBody>
      </p:sp>
      <p:sp>
        <p:nvSpPr>
          <p:cNvPr id="11" name="Text 9"/>
          <p:cNvSpPr txBox="1"/>
          <p:nvPr/>
        </p:nvSpPr>
        <p:spPr>
          <a:xfrm>
            <a:off x="7680960" y="196596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2</a:t>
            </a:r>
            <a:endParaRPr lang="en-US" sz="1600" dirty="0"/>
          </a:p>
        </p:txBody>
      </p:sp>
      <p:sp>
        <p:nvSpPr>
          <p:cNvPr id="12" name="Shape 10"/>
          <p:cNvSpPr/>
          <p:nvPr/>
        </p:nvSpPr>
        <p:spPr>
          <a:xfrm>
            <a:off x="7178040" y="2468880"/>
            <a:ext cx="457200" cy="457200"/>
          </a:xfrm>
          <a:prstGeom prst="rect">
            <a:avLst/>
          </a:prstGeom>
          <a:solidFill>
            <a:srgbClr val="DCE6F0"/>
          </a:solidFill>
          <a:ln w="12700">
            <a:solidFill>
              <a:srgbClr val="1C7293"/>
            </a:solidFill>
            <a:prstDash val="solid"/>
          </a:ln>
        </p:spPr>
        <p:txBody>
          <a:bodyPr/>
          <a:lstStyle/>
          <a:p>
            <a:endParaRPr lang="en-US" sz="1600"/>
          </a:p>
        </p:txBody>
      </p:sp>
      <p:sp>
        <p:nvSpPr>
          <p:cNvPr id="13" name="Text 11"/>
          <p:cNvSpPr txBox="1"/>
          <p:nvPr/>
        </p:nvSpPr>
        <p:spPr>
          <a:xfrm>
            <a:off x="7178040" y="246888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3</a:t>
            </a:r>
            <a:endParaRPr lang="en-US" sz="1600" dirty="0"/>
          </a:p>
        </p:txBody>
      </p:sp>
      <p:sp>
        <p:nvSpPr>
          <p:cNvPr id="14" name="Shape 12"/>
          <p:cNvSpPr/>
          <p:nvPr/>
        </p:nvSpPr>
        <p:spPr>
          <a:xfrm>
            <a:off x="7680960" y="2468880"/>
            <a:ext cx="457200" cy="457200"/>
          </a:xfrm>
          <a:prstGeom prst="rect">
            <a:avLst/>
          </a:prstGeom>
          <a:solidFill>
            <a:srgbClr val="DCE6F0"/>
          </a:solidFill>
          <a:ln w="12700">
            <a:solidFill>
              <a:srgbClr val="1C7293"/>
            </a:solidFill>
            <a:prstDash val="solid"/>
          </a:ln>
        </p:spPr>
        <p:txBody>
          <a:bodyPr/>
          <a:lstStyle/>
          <a:p>
            <a:endParaRPr lang="en-US" sz="1600"/>
          </a:p>
        </p:txBody>
      </p:sp>
      <p:sp>
        <p:nvSpPr>
          <p:cNvPr id="15" name="Text 13"/>
          <p:cNvSpPr txBox="1"/>
          <p:nvPr/>
        </p:nvSpPr>
        <p:spPr>
          <a:xfrm>
            <a:off x="7680960" y="246888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4</a:t>
            </a:r>
            <a:endParaRPr lang="en-US" sz="1600" dirty="0"/>
          </a:p>
        </p:txBody>
      </p:sp>
      <p:sp>
        <p:nvSpPr>
          <p:cNvPr id="16" name="Text 14"/>
          <p:cNvSpPr txBox="1"/>
          <p:nvPr/>
        </p:nvSpPr>
        <p:spPr>
          <a:xfrm>
            <a:off x="7178040" y="3017520"/>
            <a:ext cx="1005840" cy="274320"/>
          </a:xfrm>
          <a:prstGeom prst="rect">
            <a:avLst/>
          </a:prstGeom>
          <a:noFill/>
          <a:ln/>
        </p:spPr>
        <p:txBody>
          <a:bodyPr wrap="square" lIns="0" tIns="0" rIns="0" bIns="0" rtlCol="0" anchor="ctr"/>
          <a:lstStyle/>
          <a:p>
            <a:pPr marL="0" indent="0" algn="ctr">
              <a:buNone/>
            </a:pPr>
            <a:r>
              <a:rPr lang="en-US" sz="1600" dirty="0">
                <a:solidFill>
                  <a:srgbClr val="5C6B7A"/>
                </a:solidFill>
                <a:latin typeface="Calibri" pitchFamily="34" charset="0"/>
                <a:ea typeface="Calibri" pitchFamily="34" charset="-122"/>
                <a:cs typeface="Calibri" pitchFamily="34" charset="-120"/>
              </a:rPr>
              <a:t>A</a:t>
            </a:r>
            <a:endParaRPr lang="en-US" sz="1600" dirty="0"/>
          </a:p>
        </p:txBody>
      </p:sp>
      <p:sp>
        <p:nvSpPr>
          <p:cNvPr id="17" name="Text 15"/>
          <p:cNvSpPr txBox="1"/>
          <p:nvPr/>
        </p:nvSpPr>
        <p:spPr>
          <a:xfrm>
            <a:off x="8275320" y="2217420"/>
            <a:ext cx="36576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alibri" pitchFamily="34" charset="0"/>
                <a:ea typeface="Calibri" pitchFamily="34" charset="-122"/>
                <a:cs typeface="Calibri" pitchFamily="34" charset="-120"/>
              </a:rPr>
              <a:t>+</a:t>
            </a:r>
            <a:endParaRPr lang="en-US" sz="1600" dirty="0"/>
          </a:p>
        </p:txBody>
      </p:sp>
      <p:sp>
        <p:nvSpPr>
          <p:cNvPr id="18" name="Shape 16"/>
          <p:cNvSpPr/>
          <p:nvPr/>
        </p:nvSpPr>
        <p:spPr>
          <a:xfrm>
            <a:off x="8686800" y="1965960"/>
            <a:ext cx="457200" cy="457200"/>
          </a:xfrm>
          <a:prstGeom prst="rect">
            <a:avLst/>
          </a:prstGeom>
          <a:solidFill>
            <a:srgbClr val="DCE6F0"/>
          </a:solidFill>
          <a:ln w="12700">
            <a:solidFill>
              <a:srgbClr val="1C7293"/>
            </a:solidFill>
            <a:prstDash val="solid"/>
          </a:ln>
        </p:spPr>
        <p:txBody>
          <a:bodyPr/>
          <a:lstStyle/>
          <a:p>
            <a:endParaRPr lang="en-US" sz="1600"/>
          </a:p>
        </p:txBody>
      </p:sp>
      <p:sp>
        <p:nvSpPr>
          <p:cNvPr id="19" name="Text 17"/>
          <p:cNvSpPr txBox="1"/>
          <p:nvPr/>
        </p:nvSpPr>
        <p:spPr>
          <a:xfrm>
            <a:off x="8686800" y="196596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5</a:t>
            </a:r>
            <a:endParaRPr lang="en-US" sz="1600" dirty="0"/>
          </a:p>
        </p:txBody>
      </p:sp>
      <p:sp>
        <p:nvSpPr>
          <p:cNvPr id="20" name="Shape 18"/>
          <p:cNvSpPr/>
          <p:nvPr/>
        </p:nvSpPr>
        <p:spPr>
          <a:xfrm>
            <a:off x="9189720" y="1965960"/>
            <a:ext cx="457200" cy="457200"/>
          </a:xfrm>
          <a:prstGeom prst="rect">
            <a:avLst/>
          </a:prstGeom>
          <a:solidFill>
            <a:srgbClr val="DCE6F0"/>
          </a:solidFill>
          <a:ln w="12700">
            <a:solidFill>
              <a:srgbClr val="1C7293"/>
            </a:solidFill>
            <a:prstDash val="solid"/>
          </a:ln>
        </p:spPr>
        <p:txBody>
          <a:bodyPr/>
          <a:lstStyle/>
          <a:p>
            <a:endParaRPr lang="en-US" sz="1600"/>
          </a:p>
        </p:txBody>
      </p:sp>
      <p:sp>
        <p:nvSpPr>
          <p:cNvPr id="21" name="Text 19"/>
          <p:cNvSpPr txBox="1"/>
          <p:nvPr/>
        </p:nvSpPr>
        <p:spPr>
          <a:xfrm>
            <a:off x="9189720" y="196596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6</a:t>
            </a:r>
            <a:endParaRPr lang="en-US" sz="1600" dirty="0"/>
          </a:p>
        </p:txBody>
      </p:sp>
      <p:sp>
        <p:nvSpPr>
          <p:cNvPr id="22" name="Shape 20"/>
          <p:cNvSpPr/>
          <p:nvPr/>
        </p:nvSpPr>
        <p:spPr>
          <a:xfrm>
            <a:off x="8686800" y="2468880"/>
            <a:ext cx="457200" cy="457200"/>
          </a:xfrm>
          <a:prstGeom prst="rect">
            <a:avLst/>
          </a:prstGeom>
          <a:solidFill>
            <a:srgbClr val="DCE6F0"/>
          </a:solidFill>
          <a:ln w="12700">
            <a:solidFill>
              <a:srgbClr val="1C7293"/>
            </a:solidFill>
            <a:prstDash val="solid"/>
          </a:ln>
        </p:spPr>
        <p:txBody>
          <a:bodyPr/>
          <a:lstStyle/>
          <a:p>
            <a:endParaRPr lang="en-US" sz="1600"/>
          </a:p>
        </p:txBody>
      </p:sp>
      <p:sp>
        <p:nvSpPr>
          <p:cNvPr id="23" name="Text 21"/>
          <p:cNvSpPr txBox="1"/>
          <p:nvPr/>
        </p:nvSpPr>
        <p:spPr>
          <a:xfrm>
            <a:off x="8686800" y="246888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7</a:t>
            </a:r>
            <a:endParaRPr lang="en-US" sz="1600" dirty="0"/>
          </a:p>
        </p:txBody>
      </p:sp>
      <p:sp>
        <p:nvSpPr>
          <p:cNvPr id="24" name="Shape 22"/>
          <p:cNvSpPr/>
          <p:nvPr/>
        </p:nvSpPr>
        <p:spPr>
          <a:xfrm>
            <a:off x="9189720" y="2468880"/>
            <a:ext cx="457200" cy="457200"/>
          </a:xfrm>
          <a:prstGeom prst="rect">
            <a:avLst/>
          </a:prstGeom>
          <a:solidFill>
            <a:srgbClr val="DCE6F0"/>
          </a:solidFill>
          <a:ln w="12700">
            <a:solidFill>
              <a:srgbClr val="1C7293"/>
            </a:solidFill>
            <a:prstDash val="solid"/>
          </a:ln>
        </p:spPr>
        <p:txBody>
          <a:bodyPr/>
          <a:lstStyle/>
          <a:p>
            <a:endParaRPr lang="en-US" sz="1600"/>
          </a:p>
        </p:txBody>
      </p:sp>
      <p:sp>
        <p:nvSpPr>
          <p:cNvPr id="25" name="Text 23"/>
          <p:cNvSpPr txBox="1"/>
          <p:nvPr/>
        </p:nvSpPr>
        <p:spPr>
          <a:xfrm>
            <a:off x="9189720" y="246888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8</a:t>
            </a:r>
            <a:endParaRPr lang="en-US" sz="1600" dirty="0"/>
          </a:p>
        </p:txBody>
      </p:sp>
      <p:sp>
        <p:nvSpPr>
          <p:cNvPr id="26" name="Text 24"/>
          <p:cNvSpPr txBox="1"/>
          <p:nvPr/>
        </p:nvSpPr>
        <p:spPr>
          <a:xfrm>
            <a:off x="8686800" y="3017520"/>
            <a:ext cx="1005840" cy="274320"/>
          </a:xfrm>
          <a:prstGeom prst="rect">
            <a:avLst/>
          </a:prstGeom>
          <a:noFill/>
          <a:ln/>
        </p:spPr>
        <p:txBody>
          <a:bodyPr wrap="square" lIns="0" tIns="0" rIns="0" bIns="0" rtlCol="0" anchor="ctr"/>
          <a:lstStyle/>
          <a:p>
            <a:pPr marL="0" indent="0" algn="ctr">
              <a:buNone/>
            </a:pPr>
            <a:r>
              <a:rPr lang="en-US" sz="1600" dirty="0">
                <a:solidFill>
                  <a:srgbClr val="5C6B7A"/>
                </a:solidFill>
                <a:latin typeface="Calibri" pitchFamily="34" charset="0"/>
                <a:ea typeface="Calibri" pitchFamily="34" charset="-122"/>
                <a:cs typeface="Calibri" pitchFamily="34" charset="-120"/>
              </a:rPr>
              <a:t>B</a:t>
            </a:r>
            <a:endParaRPr lang="en-US" sz="1600" dirty="0"/>
          </a:p>
        </p:txBody>
      </p:sp>
      <p:sp>
        <p:nvSpPr>
          <p:cNvPr id="27" name="Text 25"/>
          <p:cNvSpPr txBox="1"/>
          <p:nvPr/>
        </p:nvSpPr>
        <p:spPr>
          <a:xfrm>
            <a:off x="9784080" y="2217420"/>
            <a:ext cx="36576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alibri" pitchFamily="34" charset="0"/>
                <a:ea typeface="Calibri" pitchFamily="34" charset="-122"/>
                <a:cs typeface="Calibri" pitchFamily="34" charset="-120"/>
              </a:rPr>
              <a:t>=</a:t>
            </a:r>
            <a:endParaRPr lang="en-US" sz="1600" dirty="0"/>
          </a:p>
        </p:txBody>
      </p:sp>
      <p:sp>
        <p:nvSpPr>
          <p:cNvPr id="28" name="Shape 26"/>
          <p:cNvSpPr/>
          <p:nvPr/>
        </p:nvSpPr>
        <p:spPr>
          <a:xfrm>
            <a:off x="10195560" y="1965960"/>
            <a:ext cx="457200" cy="457200"/>
          </a:xfrm>
          <a:prstGeom prst="rect">
            <a:avLst/>
          </a:prstGeom>
          <a:solidFill>
            <a:srgbClr val="F3E7C1"/>
          </a:solidFill>
          <a:ln w="12700">
            <a:solidFill>
              <a:srgbClr val="1C7293"/>
            </a:solidFill>
            <a:prstDash val="solid"/>
          </a:ln>
        </p:spPr>
        <p:txBody>
          <a:bodyPr/>
          <a:lstStyle/>
          <a:p>
            <a:endParaRPr lang="en-US" sz="1600"/>
          </a:p>
        </p:txBody>
      </p:sp>
      <p:sp>
        <p:nvSpPr>
          <p:cNvPr id="29" name="Text 27"/>
          <p:cNvSpPr txBox="1"/>
          <p:nvPr/>
        </p:nvSpPr>
        <p:spPr>
          <a:xfrm>
            <a:off x="10195560" y="196596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6</a:t>
            </a:r>
            <a:endParaRPr lang="en-US" sz="1600" dirty="0"/>
          </a:p>
        </p:txBody>
      </p:sp>
      <p:sp>
        <p:nvSpPr>
          <p:cNvPr id="30" name="Shape 28"/>
          <p:cNvSpPr/>
          <p:nvPr/>
        </p:nvSpPr>
        <p:spPr>
          <a:xfrm>
            <a:off x="10698480" y="1965960"/>
            <a:ext cx="457200" cy="457200"/>
          </a:xfrm>
          <a:prstGeom prst="rect">
            <a:avLst/>
          </a:prstGeom>
          <a:solidFill>
            <a:srgbClr val="F3E7C1"/>
          </a:solidFill>
          <a:ln w="12700">
            <a:solidFill>
              <a:srgbClr val="1C7293"/>
            </a:solidFill>
            <a:prstDash val="solid"/>
          </a:ln>
        </p:spPr>
        <p:txBody>
          <a:bodyPr/>
          <a:lstStyle/>
          <a:p>
            <a:endParaRPr lang="en-US" sz="1600"/>
          </a:p>
        </p:txBody>
      </p:sp>
      <p:sp>
        <p:nvSpPr>
          <p:cNvPr id="31" name="Text 29"/>
          <p:cNvSpPr txBox="1"/>
          <p:nvPr/>
        </p:nvSpPr>
        <p:spPr>
          <a:xfrm>
            <a:off x="10698480" y="196596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8</a:t>
            </a:r>
            <a:endParaRPr lang="en-US" sz="1600" dirty="0"/>
          </a:p>
        </p:txBody>
      </p:sp>
      <p:sp>
        <p:nvSpPr>
          <p:cNvPr id="32" name="Shape 30"/>
          <p:cNvSpPr/>
          <p:nvPr/>
        </p:nvSpPr>
        <p:spPr>
          <a:xfrm>
            <a:off x="10195560" y="2468880"/>
            <a:ext cx="457200" cy="457200"/>
          </a:xfrm>
          <a:prstGeom prst="rect">
            <a:avLst/>
          </a:prstGeom>
          <a:solidFill>
            <a:srgbClr val="F3E7C1"/>
          </a:solidFill>
          <a:ln w="12700">
            <a:solidFill>
              <a:srgbClr val="1C7293"/>
            </a:solidFill>
            <a:prstDash val="solid"/>
          </a:ln>
        </p:spPr>
        <p:txBody>
          <a:bodyPr/>
          <a:lstStyle/>
          <a:p>
            <a:endParaRPr lang="en-US" sz="1600"/>
          </a:p>
        </p:txBody>
      </p:sp>
      <p:sp>
        <p:nvSpPr>
          <p:cNvPr id="33" name="Text 31"/>
          <p:cNvSpPr txBox="1"/>
          <p:nvPr/>
        </p:nvSpPr>
        <p:spPr>
          <a:xfrm>
            <a:off x="10195560" y="246888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10</a:t>
            </a:r>
            <a:endParaRPr lang="en-US" sz="1600" dirty="0"/>
          </a:p>
        </p:txBody>
      </p:sp>
      <p:sp>
        <p:nvSpPr>
          <p:cNvPr id="34" name="Shape 32"/>
          <p:cNvSpPr/>
          <p:nvPr/>
        </p:nvSpPr>
        <p:spPr>
          <a:xfrm>
            <a:off x="10698480" y="2468880"/>
            <a:ext cx="457200" cy="457200"/>
          </a:xfrm>
          <a:prstGeom prst="rect">
            <a:avLst/>
          </a:prstGeom>
          <a:solidFill>
            <a:srgbClr val="F3E7C1"/>
          </a:solidFill>
          <a:ln w="12700">
            <a:solidFill>
              <a:srgbClr val="1C7293"/>
            </a:solidFill>
            <a:prstDash val="solid"/>
          </a:ln>
        </p:spPr>
        <p:txBody>
          <a:bodyPr/>
          <a:lstStyle/>
          <a:p>
            <a:endParaRPr lang="en-US" sz="1600"/>
          </a:p>
        </p:txBody>
      </p:sp>
      <p:sp>
        <p:nvSpPr>
          <p:cNvPr id="35" name="Text 33"/>
          <p:cNvSpPr txBox="1"/>
          <p:nvPr/>
        </p:nvSpPr>
        <p:spPr>
          <a:xfrm>
            <a:off x="10698480" y="2468880"/>
            <a:ext cx="457200" cy="45720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12</a:t>
            </a:r>
            <a:endParaRPr lang="en-US" sz="1600" dirty="0"/>
          </a:p>
        </p:txBody>
      </p:sp>
      <p:sp>
        <p:nvSpPr>
          <p:cNvPr id="36" name="Text 34"/>
          <p:cNvSpPr txBox="1"/>
          <p:nvPr/>
        </p:nvSpPr>
        <p:spPr>
          <a:xfrm>
            <a:off x="10195560" y="3017520"/>
            <a:ext cx="1005840" cy="274320"/>
          </a:xfrm>
          <a:prstGeom prst="rect">
            <a:avLst/>
          </a:prstGeom>
          <a:noFill/>
          <a:ln/>
        </p:spPr>
        <p:txBody>
          <a:bodyPr wrap="square" lIns="0" tIns="0" rIns="0" bIns="0" rtlCol="0" anchor="ctr"/>
          <a:lstStyle/>
          <a:p>
            <a:pPr marL="0" indent="0" algn="ctr">
              <a:buNone/>
            </a:pPr>
            <a:r>
              <a:rPr lang="en-US" sz="1600" dirty="0">
                <a:solidFill>
                  <a:srgbClr val="5C6B7A"/>
                </a:solidFill>
                <a:latin typeface="Calibri" pitchFamily="34" charset="0"/>
                <a:ea typeface="Calibri" pitchFamily="34" charset="-122"/>
                <a:cs typeface="Calibri" pitchFamily="34" charset="-120"/>
              </a:rPr>
              <a:t>A + B</a:t>
            </a:r>
            <a:endParaRPr lang="en-US" sz="1600" dirty="0"/>
          </a:p>
        </p:txBody>
      </p:sp>
      <p:sp>
        <p:nvSpPr>
          <p:cNvPr id="37" name="Shape 35"/>
          <p:cNvSpPr/>
          <p:nvPr/>
        </p:nvSpPr>
        <p:spPr>
          <a:xfrm>
            <a:off x="7178040" y="3566160"/>
            <a:ext cx="4160520" cy="2286000"/>
          </a:xfrm>
          <a:prstGeom prst="roundRect">
            <a:avLst>
              <a:gd name="adj" fmla="val 4800"/>
            </a:avLst>
          </a:prstGeom>
          <a:solidFill>
            <a:srgbClr val="071A33"/>
          </a:solidFill>
          <a:ln w="12700">
            <a:solidFill>
              <a:srgbClr val="D7DEE7"/>
            </a:solidFill>
            <a:prstDash val="solid"/>
          </a:ln>
        </p:spPr>
        <p:txBody>
          <a:bodyPr/>
          <a:lstStyle/>
          <a:p>
            <a:endParaRPr lang="en-US" sz="1600"/>
          </a:p>
        </p:txBody>
      </p:sp>
      <p:sp>
        <p:nvSpPr>
          <p:cNvPr id="38" name="Text 36"/>
          <p:cNvSpPr txBox="1"/>
          <p:nvPr/>
        </p:nvSpPr>
        <p:spPr>
          <a:xfrm>
            <a:off x="7406640" y="3749040"/>
            <a:ext cx="3703320" cy="192024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[1 2; 3 4];</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B = [5 6; 7 8];</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B        % [6 8; 10 12]</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plus(A,B)    % same result</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B        % [-4 -4; -4 -4]</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+ 2        % adds 2 to every entry</a:t>
            </a:r>
            <a:endParaRPr lang="en-US" sz="1600" dirty="0"/>
          </a:p>
        </p:txBody>
      </p:sp>
      <p:sp>
        <p:nvSpPr>
          <p:cNvPr id="39" name="Text 3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40" name="Text 3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MATRIX ALGEBRA</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Scalar Multiplication &amp; Arithmetic Rules</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2:46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Multiplying a matrix by a scalar multiplies every element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k * A scales the whole matrix uniformly</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Addition and scalar multiplication are commutative</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Matrix multiplication (next slide) is not commutative</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sz="1600" dirty="0"/>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A = [1 2; 3 4];</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k = 2;</a:t>
            </a:r>
            <a:endParaRPr lang="en-US" dirty="0"/>
          </a:p>
          <a:p>
            <a:pPr marL="0" indent="0">
              <a:spcAft>
                <a:spcPts val="400"/>
              </a:spcAft>
              <a:buNone/>
            </a:pP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k * A</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 [2 4; 6 8]</a:t>
            </a:r>
            <a:endParaRPr lang="en-US" dirty="0"/>
          </a:p>
          <a:p>
            <a:pPr marL="0" indent="0">
              <a:spcAft>
                <a:spcPts val="400"/>
              </a:spcAft>
              <a:buNone/>
            </a:pP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A / 2</a:t>
            </a:r>
            <a:endParaRPr lang="en-US" dirty="0"/>
          </a:p>
          <a:p>
            <a:pPr marL="0" indent="0">
              <a:spcAft>
                <a:spcPts val="400"/>
              </a:spcAft>
              <a:buNone/>
            </a:pPr>
            <a:r>
              <a:rPr lang="en-US" dirty="0">
                <a:solidFill>
                  <a:srgbClr val="D8E6F2"/>
                </a:solidFill>
                <a:latin typeface="Courier New" pitchFamily="34" charset="0"/>
                <a:ea typeface="Courier New" pitchFamily="34" charset="-122"/>
                <a:cs typeface="Courier New" pitchFamily="34" charset="-120"/>
              </a:rPr>
              <a:t>  % [0.5 1; 1.5 2]</a:t>
            </a:r>
            <a:endParaRPr lang="en-US"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MATRIX ALGEBRA</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Matrix Multiplication Rules</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2:50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Inner dimensions must match: (m×n) × (n×p) = (m×p)</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The result takes the outer dimensions m and p</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Matrix multiplication is generally NOT commutative</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A*B ≠ B*A in most cases</a:t>
            </a:r>
            <a:endParaRPr lang="en-US" sz="2000" dirty="0"/>
          </a:p>
        </p:txBody>
      </p:sp>
      <p:sp>
        <p:nvSpPr>
          <p:cNvPr id="7" name="Shape 5"/>
          <p:cNvSpPr/>
          <p:nvPr/>
        </p:nvSpPr>
        <p:spPr>
          <a:xfrm>
            <a:off x="6903720" y="1600200"/>
            <a:ext cx="47091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8" name="Text 6"/>
          <p:cNvSpPr txBox="1"/>
          <p:nvPr/>
        </p:nvSpPr>
        <p:spPr>
          <a:xfrm>
            <a:off x="6903720" y="1920240"/>
            <a:ext cx="4709160" cy="457200"/>
          </a:xfrm>
          <a:prstGeom prst="rect">
            <a:avLst/>
          </a:prstGeom>
          <a:noFill/>
          <a:ln/>
        </p:spPr>
        <p:txBody>
          <a:bodyPr wrap="square" lIns="0" tIns="0" rIns="0" bIns="0" rtlCol="0" anchor="ctr"/>
          <a:lstStyle/>
          <a:p>
            <a:pPr marL="0" indent="0" algn="ctr">
              <a:buNone/>
            </a:pPr>
            <a:r>
              <a:rPr lang="en-US" sz="1800" b="1" dirty="0">
                <a:solidFill>
                  <a:srgbClr val="0B2545"/>
                </a:solidFill>
                <a:latin typeface="Courier New" pitchFamily="34" charset="0"/>
                <a:ea typeface="Courier New" pitchFamily="34" charset="-122"/>
                <a:cs typeface="Courier New" pitchFamily="34" charset="-120"/>
              </a:rPr>
              <a:t>(m × n) × (n × p)  =  (m × p)</a:t>
            </a:r>
            <a:endParaRPr lang="en-US" sz="1800" dirty="0"/>
          </a:p>
        </p:txBody>
      </p:sp>
      <p:sp>
        <p:nvSpPr>
          <p:cNvPr id="9" name="Shape 7"/>
          <p:cNvSpPr/>
          <p:nvPr/>
        </p:nvSpPr>
        <p:spPr>
          <a:xfrm>
            <a:off x="8755380" y="2377440"/>
            <a:ext cx="1005840" cy="365760"/>
          </a:xfrm>
          <a:prstGeom prst="roundRect">
            <a:avLst>
              <a:gd name="adj" fmla="val 15000"/>
            </a:avLst>
          </a:prstGeom>
          <a:solidFill>
            <a:srgbClr val="C9A227"/>
          </a:solidFill>
          <a:ln/>
        </p:spPr>
        <p:txBody>
          <a:bodyPr/>
          <a:lstStyle/>
          <a:p>
            <a:endParaRPr lang="en-US"/>
          </a:p>
        </p:txBody>
      </p:sp>
      <p:sp>
        <p:nvSpPr>
          <p:cNvPr id="10" name="Text 8"/>
          <p:cNvSpPr txBox="1"/>
          <p:nvPr/>
        </p:nvSpPr>
        <p:spPr>
          <a:xfrm>
            <a:off x="8572500" y="2788920"/>
            <a:ext cx="1371600" cy="274320"/>
          </a:xfrm>
          <a:prstGeom prst="rect">
            <a:avLst/>
          </a:prstGeom>
          <a:noFill/>
          <a:ln/>
        </p:spPr>
        <p:txBody>
          <a:bodyPr wrap="square" lIns="0" tIns="0" rIns="0" bIns="0" rtlCol="0" anchor="ctr"/>
          <a:lstStyle/>
          <a:p>
            <a:pPr marL="0" indent="0" algn="ctr">
              <a:buNone/>
            </a:pPr>
            <a:r>
              <a:rPr lang="en-US" sz="1000" i="1" dirty="0">
                <a:solidFill>
                  <a:srgbClr val="7A5B00"/>
                </a:solidFill>
                <a:latin typeface="Calibri" pitchFamily="34" charset="0"/>
                <a:ea typeface="Calibri" pitchFamily="34" charset="-122"/>
                <a:cs typeface="Calibri" pitchFamily="34" charset="-120"/>
              </a:rPr>
              <a:t>must match</a:t>
            </a:r>
            <a:endParaRPr lang="en-US" sz="1000" dirty="0"/>
          </a:p>
        </p:txBody>
      </p:sp>
      <p:sp>
        <p:nvSpPr>
          <p:cNvPr id="11" name="Shape 9"/>
          <p:cNvSpPr/>
          <p:nvPr/>
        </p:nvSpPr>
        <p:spPr>
          <a:xfrm>
            <a:off x="7178040" y="3200400"/>
            <a:ext cx="4160520" cy="2651760"/>
          </a:xfrm>
          <a:prstGeom prst="roundRect">
            <a:avLst>
              <a:gd name="adj" fmla="val 4138"/>
            </a:avLst>
          </a:prstGeom>
          <a:solidFill>
            <a:srgbClr val="071A33"/>
          </a:solidFill>
          <a:ln w="12700">
            <a:solidFill>
              <a:srgbClr val="D7DEE7"/>
            </a:solidFill>
            <a:prstDash val="solid"/>
          </a:ln>
        </p:spPr>
        <p:txBody>
          <a:bodyPr/>
          <a:lstStyle/>
          <a:p>
            <a:endParaRPr lang="en-US"/>
          </a:p>
        </p:txBody>
      </p:sp>
      <p:sp>
        <p:nvSpPr>
          <p:cNvPr id="12" name="Text 10"/>
          <p:cNvSpPr txBox="1"/>
          <p:nvPr/>
        </p:nvSpPr>
        <p:spPr>
          <a:xfrm>
            <a:off x="7406640" y="3383280"/>
            <a:ext cx="3703320" cy="2286000"/>
          </a:xfrm>
          <a:prstGeom prst="rect">
            <a:avLst/>
          </a:prstGeom>
          <a:noFill/>
          <a:ln/>
        </p:spPr>
        <p:txBody>
          <a:bodyPr wrap="square" lIns="0" tIns="0" rIns="0" bIns="0" rtlCol="0" anchor="t"/>
          <a:lstStyle/>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A = [1 2; 3 4];   % 2x2</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B = [5 6; 7 8];   % 2x2</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A * B</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  % [19 22; 43 50]</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B * A</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  % [23 34; 31 46]  (different!)</a:t>
            </a:r>
            <a:endParaRPr lang="en-US" sz="1400" dirty="0"/>
          </a:p>
        </p:txBody>
      </p:sp>
      <p:sp>
        <p:nvSpPr>
          <p:cNvPr id="13" name="Text 11"/>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4" name="Text 12"/>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Array vs. Matrix Multiplication: The Critical Distinction</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2:55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Array ops (.*, ./, .\, .^): element-by-element, same shape</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Matrix ops (*, /, \, ^): true linear-algebra rules</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Same A and B, two completely different answers</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Reading the dot correctly is essential — it changes the math</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[1 0; 2 1];  B = [-1 2; 0 1];</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B   % matrix mult (row.col dot products)</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[-1  2; -2  5]</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B  % element-by-element</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[-1  0;  0  1]</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ELEMENT-WISE OPERATIONS</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Element-by-Element (Array) Operations</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3:00 PM</a:t>
            </a:r>
            <a:endParaRPr lang="en-US" sz="1150" dirty="0"/>
          </a:p>
        </p:txBody>
      </p:sp>
      <p:sp>
        <p:nvSpPr>
          <p:cNvPr id="6" name="Shape 4"/>
          <p:cNvSpPr/>
          <p:nvPr/>
        </p:nvSpPr>
        <p:spPr>
          <a:xfrm>
            <a:off x="548640" y="1600200"/>
            <a:ext cx="1645920" cy="566928"/>
          </a:xfrm>
          <a:prstGeom prst="rect">
            <a:avLst/>
          </a:prstGeom>
          <a:solidFill>
            <a:srgbClr val="0B2545"/>
          </a:solidFill>
          <a:ln w="6350">
            <a:solidFill>
              <a:srgbClr val="D7DEE7"/>
            </a:solidFill>
            <a:prstDash val="solid"/>
          </a:ln>
        </p:spPr>
        <p:txBody>
          <a:bodyPr/>
          <a:lstStyle/>
          <a:p>
            <a:endParaRPr lang="en-US"/>
          </a:p>
        </p:txBody>
      </p:sp>
      <p:sp>
        <p:nvSpPr>
          <p:cNvPr id="7" name="Text 5"/>
          <p:cNvSpPr txBox="1"/>
          <p:nvPr/>
        </p:nvSpPr>
        <p:spPr>
          <a:xfrm>
            <a:off x="685800" y="1600200"/>
            <a:ext cx="1371600" cy="566928"/>
          </a:xfrm>
          <a:prstGeom prst="rect">
            <a:avLst/>
          </a:prstGeom>
          <a:noFill/>
          <a:ln/>
        </p:spPr>
        <p:txBody>
          <a:bodyPr wrap="square" lIns="0" tIns="0" rIns="0" bIns="0" rtlCol="0" anchor="ctr"/>
          <a:lstStyle/>
          <a:p>
            <a:pPr marL="0" indent="0">
              <a:buNone/>
            </a:pPr>
            <a:r>
              <a:rPr lang="en-US" b="1" dirty="0">
                <a:solidFill>
                  <a:srgbClr val="FFFFFF"/>
                </a:solidFill>
                <a:latin typeface="Courier New" pitchFamily="34" charset="0"/>
                <a:ea typeface="Courier New" pitchFamily="34" charset="-122"/>
                <a:cs typeface="Courier New" pitchFamily="34" charset="-120"/>
              </a:rPr>
              <a:t>Operator</a:t>
            </a:r>
            <a:endParaRPr lang="en-US" dirty="0"/>
          </a:p>
        </p:txBody>
      </p:sp>
      <p:sp>
        <p:nvSpPr>
          <p:cNvPr id="8" name="Shape 6"/>
          <p:cNvSpPr/>
          <p:nvPr/>
        </p:nvSpPr>
        <p:spPr>
          <a:xfrm>
            <a:off x="2194560" y="1600200"/>
            <a:ext cx="3931920" cy="566928"/>
          </a:xfrm>
          <a:prstGeom prst="rect">
            <a:avLst/>
          </a:prstGeom>
          <a:solidFill>
            <a:srgbClr val="0B2545"/>
          </a:solidFill>
          <a:ln w="6350">
            <a:solidFill>
              <a:srgbClr val="D7DEE7"/>
            </a:solidFill>
            <a:prstDash val="solid"/>
          </a:ln>
        </p:spPr>
        <p:txBody>
          <a:bodyPr/>
          <a:lstStyle/>
          <a:p>
            <a:endParaRPr lang="en-US"/>
          </a:p>
        </p:txBody>
      </p:sp>
      <p:sp>
        <p:nvSpPr>
          <p:cNvPr id="9" name="Text 7"/>
          <p:cNvSpPr txBox="1"/>
          <p:nvPr/>
        </p:nvSpPr>
        <p:spPr>
          <a:xfrm>
            <a:off x="2331720" y="1600200"/>
            <a:ext cx="3657600" cy="566928"/>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Meaning</a:t>
            </a:r>
            <a:endParaRPr lang="en-US" dirty="0"/>
          </a:p>
        </p:txBody>
      </p:sp>
      <p:sp>
        <p:nvSpPr>
          <p:cNvPr id="10" name="Shape 8"/>
          <p:cNvSpPr/>
          <p:nvPr/>
        </p:nvSpPr>
        <p:spPr>
          <a:xfrm>
            <a:off x="6126480" y="1600200"/>
            <a:ext cx="5486400" cy="566928"/>
          </a:xfrm>
          <a:prstGeom prst="rect">
            <a:avLst/>
          </a:prstGeom>
          <a:solidFill>
            <a:srgbClr val="0B2545"/>
          </a:solidFill>
          <a:ln w="6350">
            <a:solidFill>
              <a:srgbClr val="D7DEE7"/>
            </a:solidFill>
            <a:prstDash val="solid"/>
          </a:ln>
        </p:spPr>
        <p:txBody>
          <a:bodyPr/>
          <a:lstStyle/>
          <a:p>
            <a:endParaRPr lang="en-US"/>
          </a:p>
        </p:txBody>
      </p:sp>
      <p:sp>
        <p:nvSpPr>
          <p:cNvPr id="11" name="Text 9"/>
          <p:cNvSpPr txBox="1"/>
          <p:nvPr/>
        </p:nvSpPr>
        <p:spPr>
          <a:xfrm>
            <a:off x="6263640" y="1600200"/>
            <a:ext cx="5212080" cy="566928"/>
          </a:xfrm>
          <a:prstGeom prst="rect">
            <a:avLst/>
          </a:prstGeom>
          <a:noFill/>
          <a:ln/>
        </p:spPr>
        <p:txBody>
          <a:bodyPr wrap="square" lIns="0" tIns="0" rIns="0" bIns="0" rtlCol="0" anchor="ctr"/>
          <a:lstStyle/>
          <a:p>
            <a:pPr marL="0" indent="0">
              <a:buNone/>
            </a:pPr>
            <a:r>
              <a:rPr lang="en-US" b="1" dirty="0">
                <a:solidFill>
                  <a:srgbClr val="FFFFFF"/>
                </a:solidFill>
                <a:latin typeface="Calibri" pitchFamily="34" charset="0"/>
                <a:ea typeface="Calibri" pitchFamily="34" charset="-122"/>
                <a:cs typeface="Calibri" pitchFamily="34" charset="-120"/>
              </a:rPr>
              <a:t>Example</a:t>
            </a:r>
            <a:endParaRPr lang="en-US" dirty="0"/>
          </a:p>
        </p:txBody>
      </p:sp>
      <p:sp>
        <p:nvSpPr>
          <p:cNvPr id="12" name="Shape 10"/>
          <p:cNvSpPr/>
          <p:nvPr/>
        </p:nvSpPr>
        <p:spPr>
          <a:xfrm>
            <a:off x="548640" y="2167128"/>
            <a:ext cx="1645920" cy="566928"/>
          </a:xfrm>
          <a:prstGeom prst="rect">
            <a:avLst/>
          </a:prstGeom>
          <a:solidFill>
            <a:srgbClr val="FFFFFF"/>
          </a:solidFill>
          <a:ln w="6350">
            <a:solidFill>
              <a:srgbClr val="D7DEE7"/>
            </a:solidFill>
            <a:prstDash val="solid"/>
          </a:ln>
        </p:spPr>
        <p:txBody>
          <a:bodyPr/>
          <a:lstStyle/>
          <a:p>
            <a:endParaRPr lang="en-US" sz="1600"/>
          </a:p>
        </p:txBody>
      </p:sp>
      <p:sp>
        <p:nvSpPr>
          <p:cNvPr id="13" name="Text 11"/>
          <p:cNvSpPr txBox="1"/>
          <p:nvPr/>
        </p:nvSpPr>
        <p:spPr>
          <a:xfrm>
            <a:off x="685800" y="2167128"/>
            <a:ext cx="1371600" cy="566928"/>
          </a:xfrm>
          <a:prstGeom prst="rect">
            <a:avLst/>
          </a:prstGeom>
          <a:noFill/>
          <a:ln/>
        </p:spPr>
        <p:txBody>
          <a:bodyPr wrap="square" lIns="0" tIns="0" rIns="0" bIns="0" rtlCol="0" anchor="ctr"/>
          <a:lstStyle/>
          <a:p>
            <a:pPr marL="0" indent="0">
              <a:buNone/>
            </a:pPr>
            <a:r>
              <a:rPr lang="en-US" sz="1600" b="1" dirty="0">
                <a:solidFill>
                  <a:srgbClr val="17223B"/>
                </a:solidFill>
                <a:latin typeface="Courier New" pitchFamily="34" charset="0"/>
                <a:ea typeface="Courier New" pitchFamily="34" charset="-122"/>
                <a:cs typeface="Courier New" pitchFamily="34" charset="-120"/>
              </a:rPr>
              <a:t>.*</a:t>
            </a:r>
            <a:endParaRPr lang="en-US" sz="1600" dirty="0"/>
          </a:p>
        </p:txBody>
      </p:sp>
      <p:sp>
        <p:nvSpPr>
          <p:cNvPr id="14" name="Shape 12"/>
          <p:cNvSpPr/>
          <p:nvPr/>
        </p:nvSpPr>
        <p:spPr>
          <a:xfrm>
            <a:off x="2194560" y="2167128"/>
            <a:ext cx="3931920" cy="566928"/>
          </a:xfrm>
          <a:prstGeom prst="rect">
            <a:avLst/>
          </a:prstGeom>
          <a:solidFill>
            <a:srgbClr val="FFFFFF"/>
          </a:solidFill>
          <a:ln w="6350">
            <a:solidFill>
              <a:srgbClr val="D7DEE7"/>
            </a:solidFill>
            <a:prstDash val="solid"/>
          </a:ln>
        </p:spPr>
        <p:txBody>
          <a:bodyPr/>
          <a:lstStyle/>
          <a:p>
            <a:endParaRPr lang="en-US" sz="1600"/>
          </a:p>
        </p:txBody>
      </p:sp>
      <p:sp>
        <p:nvSpPr>
          <p:cNvPr id="15" name="Text 13"/>
          <p:cNvSpPr txBox="1"/>
          <p:nvPr/>
        </p:nvSpPr>
        <p:spPr>
          <a:xfrm>
            <a:off x="2331720" y="2167128"/>
            <a:ext cx="3657600" cy="566928"/>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Element-wise multiply</a:t>
            </a:r>
            <a:endParaRPr lang="en-US" sz="1600" dirty="0"/>
          </a:p>
        </p:txBody>
      </p:sp>
      <p:sp>
        <p:nvSpPr>
          <p:cNvPr id="16" name="Shape 14"/>
          <p:cNvSpPr/>
          <p:nvPr/>
        </p:nvSpPr>
        <p:spPr>
          <a:xfrm>
            <a:off x="6126480" y="2167128"/>
            <a:ext cx="5486400" cy="566928"/>
          </a:xfrm>
          <a:prstGeom prst="rect">
            <a:avLst/>
          </a:prstGeom>
          <a:solidFill>
            <a:srgbClr val="FFFFFF"/>
          </a:solidFill>
          <a:ln w="6350">
            <a:solidFill>
              <a:srgbClr val="D7DEE7"/>
            </a:solidFill>
            <a:prstDash val="solid"/>
          </a:ln>
        </p:spPr>
        <p:txBody>
          <a:bodyPr/>
          <a:lstStyle/>
          <a:p>
            <a:endParaRPr lang="en-US" sz="1600"/>
          </a:p>
        </p:txBody>
      </p:sp>
      <p:sp>
        <p:nvSpPr>
          <p:cNvPr id="17" name="Text 15"/>
          <p:cNvSpPr txBox="1"/>
          <p:nvPr/>
        </p:nvSpPr>
        <p:spPr>
          <a:xfrm>
            <a:off x="6263640" y="2167128"/>
            <a:ext cx="5212080" cy="566928"/>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A.*B → [5 12; 21 32]</a:t>
            </a:r>
            <a:endParaRPr lang="en-US" sz="1600" dirty="0"/>
          </a:p>
        </p:txBody>
      </p:sp>
      <p:sp>
        <p:nvSpPr>
          <p:cNvPr id="18" name="Shape 16"/>
          <p:cNvSpPr/>
          <p:nvPr/>
        </p:nvSpPr>
        <p:spPr>
          <a:xfrm>
            <a:off x="548640" y="2734056"/>
            <a:ext cx="1645920" cy="566928"/>
          </a:xfrm>
          <a:prstGeom prst="rect">
            <a:avLst/>
          </a:prstGeom>
          <a:solidFill>
            <a:srgbClr val="E9EEF4"/>
          </a:solidFill>
          <a:ln w="6350">
            <a:solidFill>
              <a:srgbClr val="D7DEE7"/>
            </a:solidFill>
            <a:prstDash val="solid"/>
          </a:ln>
        </p:spPr>
        <p:txBody>
          <a:bodyPr/>
          <a:lstStyle/>
          <a:p>
            <a:endParaRPr lang="en-US" sz="1600"/>
          </a:p>
        </p:txBody>
      </p:sp>
      <p:sp>
        <p:nvSpPr>
          <p:cNvPr id="19" name="Text 17"/>
          <p:cNvSpPr txBox="1"/>
          <p:nvPr/>
        </p:nvSpPr>
        <p:spPr>
          <a:xfrm>
            <a:off x="685800" y="2734056"/>
            <a:ext cx="1371600" cy="566928"/>
          </a:xfrm>
          <a:prstGeom prst="rect">
            <a:avLst/>
          </a:prstGeom>
          <a:noFill/>
          <a:ln/>
        </p:spPr>
        <p:txBody>
          <a:bodyPr wrap="square" lIns="0" tIns="0" rIns="0" bIns="0" rtlCol="0" anchor="ctr"/>
          <a:lstStyle/>
          <a:p>
            <a:pPr marL="0" indent="0">
              <a:buNone/>
            </a:pPr>
            <a:r>
              <a:rPr lang="en-US" sz="1600" b="1" dirty="0">
                <a:solidFill>
                  <a:srgbClr val="17223B"/>
                </a:solidFill>
                <a:latin typeface="Courier New" pitchFamily="34" charset="0"/>
                <a:ea typeface="Courier New" pitchFamily="34" charset="-122"/>
                <a:cs typeface="Courier New" pitchFamily="34" charset="-120"/>
              </a:rPr>
              <a:t>./</a:t>
            </a:r>
            <a:endParaRPr lang="en-US" sz="1600" dirty="0"/>
          </a:p>
        </p:txBody>
      </p:sp>
      <p:sp>
        <p:nvSpPr>
          <p:cNvPr id="20" name="Shape 18"/>
          <p:cNvSpPr/>
          <p:nvPr/>
        </p:nvSpPr>
        <p:spPr>
          <a:xfrm>
            <a:off x="2194560" y="2734056"/>
            <a:ext cx="3931920" cy="566928"/>
          </a:xfrm>
          <a:prstGeom prst="rect">
            <a:avLst/>
          </a:prstGeom>
          <a:solidFill>
            <a:srgbClr val="E9EEF4"/>
          </a:solidFill>
          <a:ln w="6350">
            <a:solidFill>
              <a:srgbClr val="D7DEE7"/>
            </a:solidFill>
            <a:prstDash val="solid"/>
          </a:ln>
        </p:spPr>
        <p:txBody>
          <a:bodyPr/>
          <a:lstStyle/>
          <a:p>
            <a:endParaRPr lang="en-US" sz="1600"/>
          </a:p>
        </p:txBody>
      </p:sp>
      <p:sp>
        <p:nvSpPr>
          <p:cNvPr id="21" name="Text 19"/>
          <p:cNvSpPr txBox="1"/>
          <p:nvPr/>
        </p:nvSpPr>
        <p:spPr>
          <a:xfrm>
            <a:off x="2331720" y="2734056"/>
            <a:ext cx="3657600" cy="566928"/>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Element-wise divide</a:t>
            </a:r>
            <a:endParaRPr lang="en-US" sz="1600" dirty="0"/>
          </a:p>
        </p:txBody>
      </p:sp>
      <p:sp>
        <p:nvSpPr>
          <p:cNvPr id="22" name="Shape 20"/>
          <p:cNvSpPr/>
          <p:nvPr/>
        </p:nvSpPr>
        <p:spPr>
          <a:xfrm>
            <a:off x="6126480" y="2734056"/>
            <a:ext cx="5486400" cy="566928"/>
          </a:xfrm>
          <a:prstGeom prst="rect">
            <a:avLst/>
          </a:prstGeom>
          <a:solidFill>
            <a:srgbClr val="E9EEF4"/>
          </a:solidFill>
          <a:ln w="6350">
            <a:solidFill>
              <a:srgbClr val="D7DEE7"/>
            </a:solidFill>
            <a:prstDash val="solid"/>
          </a:ln>
        </p:spPr>
        <p:txBody>
          <a:bodyPr/>
          <a:lstStyle/>
          <a:p>
            <a:endParaRPr lang="en-US" sz="1600"/>
          </a:p>
        </p:txBody>
      </p:sp>
      <p:sp>
        <p:nvSpPr>
          <p:cNvPr id="23" name="Text 21"/>
          <p:cNvSpPr txBox="1"/>
          <p:nvPr/>
        </p:nvSpPr>
        <p:spPr>
          <a:xfrm>
            <a:off x="6263640" y="2734056"/>
            <a:ext cx="5212080" cy="566928"/>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A./B → [0.2 0.33; 0.43 0.5]</a:t>
            </a:r>
            <a:endParaRPr lang="en-US" sz="1600" dirty="0"/>
          </a:p>
        </p:txBody>
      </p:sp>
      <p:sp>
        <p:nvSpPr>
          <p:cNvPr id="24" name="Shape 22"/>
          <p:cNvSpPr/>
          <p:nvPr/>
        </p:nvSpPr>
        <p:spPr>
          <a:xfrm>
            <a:off x="548640" y="3300984"/>
            <a:ext cx="1645920" cy="566928"/>
          </a:xfrm>
          <a:prstGeom prst="rect">
            <a:avLst/>
          </a:prstGeom>
          <a:solidFill>
            <a:srgbClr val="FFFFFF"/>
          </a:solidFill>
          <a:ln w="6350">
            <a:solidFill>
              <a:srgbClr val="D7DEE7"/>
            </a:solidFill>
            <a:prstDash val="solid"/>
          </a:ln>
        </p:spPr>
        <p:txBody>
          <a:bodyPr/>
          <a:lstStyle/>
          <a:p>
            <a:endParaRPr lang="en-US" sz="1600"/>
          </a:p>
        </p:txBody>
      </p:sp>
      <p:sp>
        <p:nvSpPr>
          <p:cNvPr id="25" name="Text 23"/>
          <p:cNvSpPr txBox="1"/>
          <p:nvPr/>
        </p:nvSpPr>
        <p:spPr>
          <a:xfrm>
            <a:off x="685800" y="3300984"/>
            <a:ext cx="1371600" cy="566928"/>
          </a:xfrm>
          <a:prstGeom prst="rect">
            <a:avLst/>
          </a:prstGeom>
          <a:noFill/>
          <a:ln/>
        </p:spPr>
        <p:txBody>
          <a:bodyPr wrap="square" lIns="0" tIns="0" rIns="0" bIns="0" rtlCol="0" anchor="ctr"/>
          <a:lstStyle/>
          <a:p>
            <a:pPr marL="0" indent="0">
              <a:buNone/>
            </a:pPr>
            <a:r>
              <a:rPr lang="en-US" sz="1600" b="1" dirty="0">
                <a:solidFill>
                  <a:srgbClr val="17223B"/>
                </a:solidFill>
                <a:latin typeface="Courier New" pitchFamily="34" charset="0"/>
                <a:ea typeface="Courier New" pitchFamily="34" charset="-122"/>
                <a:cs typeface="Courier New" pitchFamily="34" charset="-120"/>
              </a:rPr>
              <a:t>.^</a:t>
            </a:r>
            <a:endParaRPr lang="en-US" sz="1600" dirty="0"/>
          </a:p>
        </p:txBody>
      </p:sp>
      <p:sp>
        <p:nvSpPr>
          <p:cNvPr id="26" name="Shape 24"/>
          <p:cNvSpPr/>
          <p:nvPr/>
        </p:nvSpPr>
        <p:spPr>
          <a:xfrm>
            <a:off x="2194560" y="3300984"/>
            <a:ext cx="3931920" cy="566928"/>
          </a:xfrm>
          <a:prstGeom prst="rect">
            <a:avLst/>
          </a:prstGeom>
          <a:solidFill>
            <a:srgbClr val="FFFFFF"/>
          </a:solidFill>
          <a:ln w="6350">
            <a:solidFill>
              <a:srgbClr val="D7DEE7"/>
            </a:solidFill>
            <a:prstDash val="solid"/>
          </a:ln>
        </p:spPr>
        <p:txBody>
          <a:bodyPr/>
          <a:lstStyle/>
          <a:p>
            <a:endParaRPr lang="en-US" sz="1600"/>
          </a:p>
        </p:txBody>
      </p:sp>
      <p:sp>
        <p:nvSpPr>
          <p:cNvPr id="27" name="Text 25"/>
          <p:cNvSpPr txBox="1"/>
          <p:nvPr/>
        </p:nvSpPr>
        <p:spPr>
          <a:xfrm>
            <a:off x="2331720" y="3300984"/>
            <a:ext cx="3657600" cy="566928"/>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Element-wise power</a:t>
            </a:r>
            <a:endParaRPr lang="en-US" sz="1600" dirty="0"/>
          </a:p>
        </p:txBody>
      </p:sp>
      <p:sp>
        <p:nvSpPr>
          <p:cNvPr id="28" name="Shape 26"/>
          <p:cNvSpPr/>
          <p:nvPr/>
        </p:nvSpPr>
        <p:spPr>
          <a:xfrm>
            <a:off x="6126480" y="3300984"/>
            <a:ext cx="5486400" cy="566928"/>
          </a:xfrm>
          <a:prstGeom prst="rect">
            <a:avLst/>
          </a:prstGeom>
          <a:solidFill>
            <a:srgbClr val="FFFFFF"/>
          </a:solidFill>
          <a:ln w="6350">
            <a:solidFill>
              <a:srgbClr val="D7DEE7"/>
            </a:solidFill>
            <a:prstDash val="solid"/>
          </a:ln>
        </p:spPr>
        <p:txBody>
          <a:bodyPr/>
          <a:lstStyle/>
          <a:p>
            <a:endParaRPr lang="en-US" sz="1600"/>
          </a:p>
        </p:txBody>
      </p:sp>
      <p:sp>
        <p:nvSpPr>
          <p:cNvPr id="29" name="Text 27"/>
          <p:cNvSpPr txBox="1"/>
          <p:nvPr/>
        </p:nvSpPr>
        <p:spPr>
          <a:xfrm>
            <a:off x="6263640" y="3300984"/>
            <a:ext cx="5212080" cy="566928"/>
          </a:xfrm>
          <a:prstGeom prst="rect">
            <a:avLst/>
          </a:prstGeom>
          <a:noFill/>
          <a:ln/>
        </p:spPr>
        <p:txBody>
          <a:bodyPr wrap="square" lIns="0" tIns="0" rIns="0" bIns="0" rtlCol="0" anchor="ctr"/>
          <a:lstStyle/>
          <a:p>
            <a:pPr marL="0" indent="0">
              <a:buNone/>
            </a:pPr>
            <a:r>
              <a:rPr lang="en-US" sz="1600" dirty="0">
                <a:solidFill>
                  <a:srgbClr val="17223B"/>
                </a:solidFill>
                <a:latin typeface="Calibri" pitchFamily="34" charset="0"/>
                <a:ea typeface="Calibri" pitchFamily="34" charset="-122"/>
                <a:cs typeface="Calibri" pitchFamily="34" charset="-120"/>
              </a:rPr>
              <a:t>A.^2 → [1 4; 9 16]</a:t>
            </a:r>
            <a:endParaRPr lang="en-US" sz="1600" dirty="0"/>
          </a:p>
        </p:txBody>
      </p:sp>
      <p:sp>
        <p:nvSpPr>
          <p:cNvPr id="30" name="Shape 28"/>
          <p:cNvSpPr/>
          <p:nvPr/>
        </p:nvSpPr>
        <p:spPr>
          <a:xfrm>
            <a:off x="548640" y="3867912"/>
            <a:ext cx="1645920" cy="566928"/>
          </a:xfrm>
          <a:prstGeom prst="rect">
            <a:avLst/>
          </a:prstGeom>
          <a:solidFill>
            <a:srgbClr val="FCEFCB"/>
          </a:solidFill>
          <a:ln w="6350">
            <a:solidFill>
              <a:srgbClr val="D7DEE7"/>
            </a:solidFill>
            <a:prstDash val="solid"/>
          </a:ln>
        </p:spPr>
        <p:txBody>
          <a:bodyPr/>
          <a:lstStyle/>
          <a:p>
            <a:endParaRPr lang="en-US" sz="1600"/>
          </a:p>
        </p:txBody>
      </p:sp>
      <p:sp>
        <p:nvSpPr>
          <p:cNvPr id="31" name="Text 29"/>
          <p:cNvSpPr txBox="1"/>
          <p:nvPr/>
        </p:nvSpPr>
        <p:spPr>
          <a:xfrm>
            <a:off x="685800" y="3867912"/>
            <a:ext cx="1371600" cy="566928"/>
          </a:xfrm>
          <a:prstGeom prst="rect">
            <a:avLst/>
          </a:prstGeom>
          <a:noFill/>
          <a:ln/>
        </p:spPr>
        <p:txBody>
          <a:bodyPr wrap="square" lIns="0" tIns="0" rIns="0" bIns="0" rtlCol="0" anchor="ctr"/>
          <a:lstStyle/>
          <a:p>
            <a:pPr marL="0" indent="0">
              <a:buNone/>
            </a:pPr>
            <a:r>
              <a:rPr lang="en-US" sz="1600" b="1" dirty="0">
                <a:solidFill>
                  <a:srgbClr val="7A5B00"/>
                </a:solidFill>
                <a:latin typeface="Courier New" pitchFamily="34" charset="0"/>
                <a:ea typeface="Courier New" pitchFamily="34" charset="-122"/>
                <a:cs typeface="Courier New" pitchFamily="34" charset="-120"/>
              </a:rPr>
              <a:t>*  /  ^</a:t>
            </a:r>
            <a:endParaRPr lang="en-US" sz="1600" dirty="0"/>
          </a:p>
        </p:txBody>
      </p:sp>
      <p:sp>
        <p:nvSpPr>
          <p:cNvPr id="32" name="Shape 30"/>
          <p:cNvSpPr/>
          <p:nvPr/>
        </p:nvSpPr>
        <p:spPr>
          <a:xfrm>
            <a:off x="2194560" y="3867912"/>
            <a:ext cx="3931920" cy="566928"/>
          </a:xfrm>
          <a:prstGeom prst="rect">
            <a:avLst/>
          </a:prstGeom>
          <a:solidFill>
            <a:srgbClr val="FCEFCB"/>
          </a:solidFill>
          <a:ln w="6350">
            <a:solidFill>
              <a:srgbClr val="D7DEE7"/>
            </a:solidFill>
            <a:prstDash val="solid"/>
          </a:ln>
        </p:spPr>
        <p:txBody>
          <a:bodyPr/>
          <a:lstStyle/>
          <a:p>
            <a:endParaRPr lang="en-US" sz="1600"/>
          </a:p>
        </p:txBody>
      </p:sp>
      <p:sp>
        <p:nvSpPr>
          <p:cNvPr id="33" name="Text 31"/>
          <p:cNvSpPr txBox="1"/>
          <p:nvPr/>
        </p:nvSpPr>
        <p:spPr>
          <a:xfrm>
            <a:off x="2331720" y="3867912"/>
            <a:ext cx="3657600" cy="566928"/>
          </a:xfrm>
          <a:prstGeom prst="rect">
            <a:avLst/>
          </a:prstGeom>
          <a:noFill/>
          <a:ln/>
        </p:spPr>
        <p:txBody>
          <a:bodyPr wrap="square" lIns="0" tIns="0" rIns="0" bIns="0" rtlCol="0" anchor="ctr"/>
          <a:lstStyle/>
          <a:p>
            <a:pPr marL="0" indent="0">
              <a:buNone/>
            </a:pPr>
            <a:r>
              <a:rPr lang="en-US" sz="1600" dirty="0">
                <a:solidFill>
                  <a:srgbClr val="7A5B00"/>
                </a:solidFill>
                <a:latin typeface="Calibri" pitchFamily="34" charset="0"/>
                <a:ea typeface="Calibri" pitchFamily="34" charset="-122"/>
                <a:cs typeface="Calibri" pitchFamily="34" charset="-120"/>
              </a:rPr>
              <a:t>Matrix (linear algebra) ops</a:t>
            </a:r>
            <a:endParaRPr lang="en-US" sz="1600" dirty="0"/>
          </a:p>
        </p:txBody>
      </p:sp>
      <p:sp>
        <p:nvSpPr>
          <p:cNvPr id="34" name="Shape 32"/>
          <p:cNvSpPr/>
          <p:nvPr/>
        </p:nvSpPr>
        <p:spPr>
          <a:xfrm>
            <a:off x="6126480" y="3867912"/>
            <a:ext cx="5486400" cy="566928"/>
          </a:xfrm>
          <a:prstGeom prst="rect">
            <a:avLst/>
          </a:prstGeom>
          <a:solidFill>
            <a:srgbClr val="FCEFCB"/>
          </a:solidFill>
          <a:ln w="6350">
            <a:solidFill>
              <a:srgbClr val="D7DEE7"/>
            </a:solidFill>
            <a:prstDash val="solid"/>
          </a:ln>
        </p:spPr>
        <p:txBody>
          <a:bodyPr/>
          <a:lstStyle/>
          <a:p>
            <a:endParaRPr lang="en-US" sz="1600"/>
          </a:p>
        </p:txBody>
      </p:sp>
      <p:sp>
        <p:nvSpPr>
          <p:cNvPr id="35" name="Text 33"/>
          <p:cNvSpPr txBox="1"/>
          <p:nvPr/>
        </p:nvSpPr>
        <p:spPr>
          <a:xfrm>
            <a:off x="6263640" y="3867912"/>
            <a:ext cx="5212080" cy="566928"/>
          </a:xfrm>
          <a:prstGeom prst="rect">
            <a:avLst/>
          </a:prstGeom>
          <a:noFill/>
          <a:ln/>
        </p:spPr>
        <p:txBody>
          <a:bodyPr wrap="square" lIns="0" tIns="0" rIns="0" bIns="0" rtlCol="0" anchor="ctr"/>
          <a:lstStyle/>
          <a:p>
            <a:pPr marL="0" indent="0">
              <a:buNone/>
            </a:pPr>
            <a:r>
              <a:rPr lang="en-US" sz="1600" dirty="0">
                <a:solidFill>
                  <a:srgbClr val="7A5B00"/>
                </a:solidFill>
                <a:latin typeface="Calibri" pitchFamily="34" charset="0"/>
                <a:ea typeface="Calibri" pitchFamily="34" charset="-122"/>
                <a:cs typeface="Calibri" pitchFamily="34" charset="-120"/>
              </a:rPr>
              <a:t>A*B, A/B, A^2 — different rules!</a:t>
            </a:r>
            <a:endParaRPr lang="en-US" sz="1600" dirty="0"/>
          </a:p>
        </p:txBody>
      </p:sp>
      <p:sp>
        <p:nvSpPr>
          <p:cNvPr id="36" name="Text 34"/>
          <p:cNvSpPr txBox="1"/>
          <p:nvPr/>
        </p:nvSpPr>
        <p:spPr>
          <a:xfrm>
            <a:off x="548640" y="4572000"/>
            <a:ext cx="11064240" cy="365760"/>
          </a:xfrm>
          <a:prstGeom prst="rect">
            <a:avLst/>
          </a:prstGeom>
          <a:noFill/>
          <a:ln/>
        </p:spPr>
        <p:txBody>
          <a:bodyPr wrap="square" lIns="0" tIns="0" rIns="0" bIns="0" rtlCol="0" anchor="ctr"/>
          <a:lstStyle/>
          <a:p>
            <a:pPr marL="0" indent="0">
              <a:buNone/>
            </a:pPr>
            <a:r>
              <a:rPr lang="en-US" sz="1600" i="1" dirty="0">
                <a:solidFill>
                  <a:srgbClr val="5C6B7A"/>
                </a:solidFill>
                <a:latin typeface="Calibri" pitchFamily="34" charset="0"/>
                <a:ea typeface="Calibri" pitchFamily="34" charset="-122"/>
                <a:cs typeface="Calibri" pitchFamily="34" charset="-120"/>
              </a:rPr>
              <a:t>Same-size rule still applies: A and B must match dimensions for .*, ./, .^ too</a:t>
            </a:r>
            <a:endParaRPr lang="en-US" sz="1600" dirty="0"/>
          </a:p>
        </p:txBody>
      </p:sp>
      <p:sp>
        <p:nvSpPr>
          <p:cNvPr id="37" name="Text 35"/>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38" name="Text 36"/>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MATRIX ALGEBRA</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Transpose Operator &amp; Matrix Powers</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3:05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 (prime) swaps rows and columns</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A^2 means A*A — requires A to be square</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A.^2 squares every element individually</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These give very different results — don't confuse them</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[1 2; 3 4];</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[1 3; 2 4]</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A^2     % A*A = [7 10; 15 22]</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A.^2    % [1 4; 9 16]</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Right Division vs. Left Division</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3:09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A./B  or  A/B  — right division: A divided by B</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A.\B  or  A\B — left division: B divided by A</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Right division: A/B = A * inv(B)</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Left division: A\B = inv(A) * B</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Solving Ax = B  →  simply type  x = A \ B</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[4 7; 2 6];  C = [1 0; 0 2];</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C   % right division (C must be square)</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equivalent to A * inv(C)</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b = [5; 1];</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b   % left division</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equivalent to inv(A) * b</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solves A*x = b  for x</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CONCATENATION</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Horizontal &amp; Vertical Concatenation</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3:13 PM</a:t>
            </a:r>
            <a:endParaRPr lang="en-US" sz="1150" dirty="0"/>
          </a:p>
        </p:txBody>
      </p:sp>
      <p:sp>
        <p:nvSpPr>
          <p:cNvPr id="6" name="Shape 4"/>
          <p:cNvSpPr/>
          <p:nvPr/>
        </p:nvSpPr>
        <p:spPr>
          <a:xfrm>
            <a:off x="548640" y="1600200"/>
            <a:ext cx="53949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7" name="Text 5"/>
          <p:cNvSpPr txBox="1"/>
          <p:nvPr/>
        </p:nvSpPr>
        <p:spPr>
          <a:xfrm>
            <a:off x="731520" y="1737360"/>
            <a:ext cx="5029200" cy="320040"/>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[A B]  — side by side (same rows)</a:t>
            </a:r>
            <a:endParaRPr lang="en-US" sz="1600" dirty="0"/>
          </a:p>
        </p:txBody>
      </p:sp>
      <p:sp>
        <p:nvSpPr>
          <p:cNvPr id="8" name="Shape 6"/>
          <p:cNvSpPr/>
          <p:nvPr/>
        </p:nvSpPr>
        <p:spPr>
          <a:xfrm>
            <a:off x="2148840" y="2240280"/>
            <a:ext cx="502920" cy="502920"/>
          </a:xfrm>
          <a:prstGeom prst="rect">
            <a:avLst/>
          </a:prstGeom>
          <a:solidFill>
            <a:srgbClr val="DCE6F0"/>
          </a:solidFill>
          <a:ln w="12700">
            <a:solidFill>
              <a:srgbClr val="1C7293"/>
            </a:solidFill>
            <a:prstDash val="solid"/>
          </a:ln>
        </p:spPr>
        <p:txBody>
          <a:bodyPr/>
          <a:lstStyle/>
          <a:p>
            <a:endParaRPr lang="en-US" sz="1600"/>
          </a:p>
        </p:txBody>
      </p:sp>
      <p:sp>
        <p:nvSpPr>
          <p:cNvPr id="9" name="Text 7"/>
          <p:cNvSpPr txBox="1"/>
          <p:nvPr/>
        </p:nvSpPr>
        <p:spPr>
          <a:xfrm>
            <a:off x="2148840" y="224028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1</a:t>
            </a:r>
            <a:endParaRPr lang="en-US" sz="1600" dirty="0"/>
          </a:p>
        </p:txBody>
      </p:sp>
      <p:sp>
        <p:nvSpPr>
          <p:cNvPr id="10" name="Shape 8"/>
          <p:cNvSpPr/>
          <p:nvPr/>
        </p:nvSpPr>
        <p:spPr>
          <a:xfrm>
            <a:off x="2697480" y="2240280"/>
            <a:ext cx="502920" cy="502920"/>
          </a:xfrm>
          <a:prstGeom prst="rect">
            <a:avLst/>
          </a:prstGeom>
          <a:solidFill>
            <a:srgbClr val="DCE6F0"/>
          </a:solidFill>
          <a:ln w="12700">
            <a:solidFill>
              <a:srgbClr val="1C7293"/>
            </a:solidFill>
            <a:prstDash val="solid"/>
          </a:ln>
        </p:spPr>
        <p:txBody>
          <a:bodyPr/>
          <a:lstStyle/>
          <a:p>
            <a:endParaRPr lang="en-US" sz="1600"/>
          </a:p>
        </p:txBody>
      </p:sp>
      <p:sp>
        <p:nvSpPr>
          <p:cNvPr id="11" name="Text 9"/>
          <p:cNvSpPr txBox="1"/>
          <p:nvPr/>
        </p:nvSpPr>
        <p:spPr>
          <a:xfrm>
            <a:off x="2697480" y="224028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2</a:t>
            </a:r>
            <a:endParaRPr lang="en-US" sz="1600" dirty="0"/>
          </a:p>
        </p:txBody>
      </p:sp>
      <p:sp>
        <p:nvSpPr>
          <p:cNvPr id="12" name="Shape 10"/>
          <p:cNvSpPr/>
          <p:nvPr/>
        </p:nvSpPr>
        <p:spPr>
          <a:xfrm>
            <a:off x="3246120" y="2240280"/>
            <a:ext cx="502920" cy="502920"/>
          </a:xfrm>
          <a:prstGeom prst="rect">
            <a:avLst/>
          </a:prstGeom>
          <a:solidFill>
            <a:srgbClr val="F3E7C1"/>
          </a:solidFill>
          <a:ln w="12700">
            <a:solidFill>
              <a:srgbClr val="1C7293"/>
            </a:solidFill>
            <a:prstDash val="solid"/>
          </a:ln>
        </p:spPr>
        <p:txBody>
          <a:bodyPr/>
          <a:lstStyle/>
          <a:p>
            <a:endParaRPr lang="en-US" sz="1600"/>
          </a:p>
        </p:txBody>
      </p:sp>
      <p:sp>
        <p:nvSpPr>
          <p:cNvPr id="13" name="Text 11"/>
          <p:cNvSpPr txBox="1"/>
          <p:nvPr/>
        </p:nvSpPr>
        <p:spPr>
          <a:xfrm>
            <a:off x="3246120" y="224028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5</a:t>
            </a:r>
            <a:endParaRPr lang="en-US" sz="1600" dirty="0"/>
          </a:p>
        </p:txBody>
      </p:sp>
      <p:sp>
        <p:nvSpPr>
          <p:cNvPr id="14" name="Shape 12"/>
          <p:cNvSpPr/>
          <p:nvPr/>
        </p:nvSpPr>
        <p:spPr>
          <a:xfrm>
            <a:off x="3794760" y="2240280"/>
            <a:ext cx="502920" cy="502920"/>
          </a:xfrm>
          <a:prstGeom prst="rect">
            <a:avLst/>
          </a:prstGeom>
          <a:solidFill>
            <a:srgbClr val="F3E7C1"/>
          </a:solidFill>
          <a:ln w="12700">
            <a:solidFill>
              <a:srgbClr val="1C7293"/>
            </a:solidFill>
            <a:prstDash val="solid"/>
          </a:ln>
        </p:spPr>
        <p:txBody>
          <a:bodyPr/>
          <a:lstStyle/>
          <a:p>
            <a:endParaRPr lang="en-US" sz="1600"/>
          </a:p>
        </p:txBody>
      </p:sp>
      <p:sp>
        <p:nvSpPr>
          <p:cNvPr id="15" name="Text 13"/>
          <p:cNvSpPr txBox="1"/>
          <p:nvPr/>
        </p:nvSpPr>
        <p:spPr>
          <a:xfrm>
            <a:off x="3794760" y="224028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6</a:t>
            </a:r>
            <a:endParaRPr lang="en-US" sz="1600" dirty="0"/>
          </a:p>
        </p:txBody>
      </p:sp>
      <p:sp>
        <p:nvSpPr>
          <p:cNvPr id="16" name="Shape 14"/>
          <p:cNvSpPr/>
          <p:nvPr/>
        </p:nvSpPr>
        <p:spPr>
          <a:xfrm>
            <a:off x="2148840" y="2788920"/>
            <a:ext cx="502920" cy="502920"/>
          </a:xfrm>
          <a:prstGeom prst="rect">
            <a:avLst/>
          </a:prstGeom>
          <a:solidFill>
            <a:srgbClr val="DCE6F0"/>
          </a:solidFill>
          <a:ln w="12700">
            <a:solidFill>
              <a:srgbClr val="1C7293"/>
            </a:solidFill>
            <a:prstDash val="solid"/>
          </a:ln>
        </p:spPr>
        <p:txBody>
          <a:bodyPr/>
          <a:lstStyle/>
          <a:p>
            <a:endParaRPr lang="en-US" sz="1600"/>
          </a:p>
        </p:txBody>
      </p:sp>
      <p:sp>
        <p:nvSpPr>
          <p:cNvPr id="17" name="Text 15"/>
          <p:cNvSpPr txBox="1"/>
          <p:nvPr/>
        </p:nvSpPr>
        <p:spPr>
          <a:xfrm>
            <a:off x="2148840" y="278892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3</a:t>
            </a:r>
            <a:endParaRPr lang="en-US" sz="1600" dirty="0"/>
          </a:p>
        </p:txBody>
      </p:sp>
      <p:sp>
        <p:nvSpPr>
          <p:cNvPr id="18" name="Shape 16"/>
          <p:cNvSpPr/>
          <p:nvPr/>
        </p:nvSpPr>
        <p:spPr>
          <a:xfrm>
            <a:off x="2697480" y="2788920"/>
            <a:ext cx="502920" cy="502920"/>
          </a:xfrm>
          <a:prstGeom prst="rect">
            <a:avLst/>
          </a:prstGeom>
          <a:solidFill>
            <a:srgbClr val="DCE6F0"/>
          </a:solidFill>
          <a:ln w="12700">
            <a:solidFill>
              <a:srgbClr val="1C7293"/>
            </a:solidFill>
            <a:prstDash val="solid"/>
          </a:ln>
        </p:spPr>
        <p:txBody>
          <a:bodyPr/>
          <a:lstStyle/>
          <a:p>
            <a:endParaRPr lang="en-US" sz="1600"/>
          </a:p>
        </p:txBody>
      </p:sp>
      <p:sp>
        <p:nvSpPr>
          <p:cNvPr id="19" name="Text 17"/>
          <p:cNvSpPr txBox="1"/>
          <p:nvPr/>
        </p:nvSpPr>
        <p:spPr>
          <a:xfrm>
            <a:off x="2697480" y="278892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4</a:t>
            </a:r>
            <a:endParaRPr lang="en-US" sz="1600" dirty="0"/>
          </a:p>
        </p:txBody>
      </p:sp>
      <p:sp>
        <p:nvSpPr>
          <p:cNvPr id="20" name="Shape 18"/>
          <p:cNvSpPr/>
          <p:nvPr/>
        </p:nvSpPr>
        <p:spPr>
          <a:xfrm>
            <a:off x="3246120" y="2788920"/>
            <a:ext cx="502920" cy="502920"/>
          </a:xfrm>
          <a:prstGeom prst="rect">
            <a:avLst/>
          </a:prstGeom>
          <a:solidFill>
            <a:srgbClr val="F3E7C1"/>
          </a:solidFill>
          <a:ln w="12700">
            <a:solidFill>
              <a:srgbClr val="1C7293"/>
            </a:solidFill>
            <a:prstDash val="solid"/>
          </a:ln>
        </p:spPr>
        <p:txBody>
          <a:bodyPr/>
          <a:lstStyle/>
          <a:p>
            <a:endParaRPr lang="en-US" sz="1600"/>
          </a:p>
        </p:txBody>
      </p:sp>
      <p:sp>
        <p:nvSpPr>
          <p:cNvPr id="21" name="Text 19"/>
          <p:cNvSpPr txBox="1"/>
          <p:nvPr/>
        </p:nvSpPr>
        <p:spPr>
          <a:xfrm>
            <a:off x="3246120" y="278892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7</a:t>
            </a:r>
            <a:endParaRPr lang="en-US" sz="1600" dirty="0"/>
          </a:p>
        </p:txBody>
      </p:sp>
      <p:sp>
        <p:nvSpPr>
          <p:cNvPr id="22" name="Shape 20"/>
          <p:cNvSpPr/>
          <p:nvPr/>
        </p:nvSpPr>
        <p:spPr>
          <a:xfrm>
            <a:off x="3794760" y="2788920"/>
            <a:ext cx="502920" cy="502920"/>
          </a:xfrm>
          <a:prstGeom prst="rect">
            <a:avLst/>
          </a:prstGeom>
          <a:solidFill>
            <a:srgbClr val="F3E7C1"/>
          </a:solidFill>
          <a:ln w="12700">
            <a:solidFill>
              <a:srgbClr val="1C7293"/>
            </a:solidFill>
            <a:prstDash val="solid"/>
          </a:ln>
        </p:spPr>
        <p:txBody>
          <a:bodyPr/>
          <a:lstStyle/>
          <a:p>
            <a:endParaRPr lang="en-US" sz="1600"/>
          </a:p>
        </p:txBody>
      </p:sp>
      <p:sp>
        <p:nvSpPr>
          <p:cNvPr id="23" name="Text 21"/>
          <p:cNvSpPr txBox="1"/>
          <p:nvPr/>
        </p:nvSpPr>
        <p:spPr>
          <a:xfrm>
            <a:off x="3794760" y="278892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8</a:t>
            </a:r>
            <a:endParaRPr lang="en-US" sz="1600" dirty="0"/>
          </a:p>
        </p:txBody>
      </p:sp>
      <p:sp>
        <p:nvSpPr>
          <p:cNvPr id="24" name="Text 22"/>
          <p:cNvSpPr txBox="1"/>
          <p:nvPr/>
        </p:nvSpPr>
        <p:spPr>
          <a:xfrm>
            <a:off x="731520" y="3520440"/>
            <a:ext cx="5029200" cy="365760"/>
          </a:xfrm>
          <a:prstGeom prst="rect">
            <a:avLst/>
          </a:prstGeom>
          <a:noFill/>
          <a:ln/>
        </p:spPr>
        <p:txBody>
          <a:bodyPr wrap="square" lIns="0" tIns="0" rIns="0" bIns="0" rtlCol="0" anchor="ctr"/>
          <a:lstStyle/>
          <a:p>
            <a:pPr marL="0" indent="0" algn="ctr">
              <a:buNone/>
            </a:pPr>
            <a:r>
              <a:rPr lang="en-US" sz="1600" i="1" dirty="0">
                <a:solidFill>
                  <a:srgbClr val="5C6B7A"/>
                </a:solidFill>
                <a:latin typeface="Calibri" pitchFamily="34" charset="0"/>
                <a:ea typeface="Calibri" pitchFamily="34" charset="-122"/>
                <a:cs typeface="Calibri" pitchFamily="34" charset="-120"/>
              </a:rPr>
              <a:t>Must have the same number of ROWS</a:t>
            </a:r>
            <a:endParaRPr lang="en-US" sz="1600" dirty="0"/>
          </a:p>
        </p:txBody>
      </p:sp>
      <p:sp>
        <p:nvSpPr>
          <p:cNvPr id="25" name="Shape 23"/>
          <p:cNvSpPr/>
          <p:nvPr/>
        </p:nvSpPr>
        <p:spPr>
          <a:xfrm>
            <a:off x="6217920" y="1600200"/>
            <a:ext cx="53949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26" name="Text 24"/>
          <p:cNvSpPr txBox="1"/>
          <p:nvPr/>
        </p:nvSpPr>
        <p:spPr>
          <a:xfrm>
            <a:off x="6400800" y="1737360"/>
            <a:ext cx="5029200" cy="320040"/>
          </a:xfrm>
          <a:prstGeom prst="rect">
            <a:avLst/>
          </a:prstGeom>
          <a:noFill/>
          <a:ln/>
        </p:spPr>
        <p:txBody>
          <a:bodyPr wrap="square" lIns="0" tIns="0" rIns="0" bIns="0" rtlCol="0" anchor="ctr"/>
          <a:lstStyle/>
          <a:p>
            <a:pPr marL="0" indent="0">
              <a:buNone/>
            </a:pPr>
            <a:r>
              <a:rPr lang="en-US" sz="1600" b="1" dirty="0">
                <a:solidFill>
                  <a:srgbClr val="0B2545"/>
                </a:solidFill>
                <a:latin typeface="Courier New" pitchFamily="34" charset="0"/>
                <a:ea typeface="Courier New" pitchFamily="34" charset="-122"/>
                <a:cs typeface="Courier New" pitchFamily="34" charset="-120"/>
              </a:rPr>
              <a:t>[A;B]  — stacked (same columns)</a:t>
            </a:r>
            <a:endParaRPr lang="en-US" sz="1600" dirty="0"/>
          </a:p>
        </p:txBody>
      </p:sp>
      <p:sp>
        <p:nvSpPr>
          <p:cNvPr id="27" name="Shape 25"/>
          <p:cNvSpPr/>
          <p:nvPr/>
        </p:nvSpPr>
        <p:spPr>
          <a:xfrm>
            <a:off x="8366760" y="2240280"/>
            <a:ext cx="502920" cy="502920"/>
          </a:xfrm>
          <a:prstGeom prst="rect">
            <a:avLst/>
          </a:prstGeom>
          <a:solidFill>
            <a:srgbClr val="DCE6F0"/>
          </a:solidFill>
          <a:ln w="12700">
            <a:solidFill>
              <a:srgbClr val="1C7293"/>
            </a:solidFill>
            <a:prstDash val="solid"/>
          </a:ln>
        </p:spPr>
        <p:txBody>
          <a:bodyPr/>
          <a:lstStyle/>
          <a:p>
            <a:endParaRPr lang="en-US" sz="1600"/>
          </a:p>
        </p:txBody>
      </p:sp>
      <p:sp>
        <p:nvSpPr>
          <p:cNvPr id="28" name="Text 26"/>
          <p:cNvSpPr txBox="1"/>
          <p:nvPr/>
        </p:nvSpPr>
        <p:spPr>
          <a:xfrm>
            <a:off x="8366760" y="224028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1</a:t>
            </a:r>
            <a:endParaRPr lang="en-US" sz="1600" dirty="0"/>
          </a:p>
        </p:txBody>
      </p:sp>
      <p:sp>
        <p:nvSpPr>
          <p:cNvPr id="29" name="Shape 27"/>
          <p:cNvSpPr/>
          <p:nvPr/>
        </p:nvSpPr>
        <p:spPr>
          <a:xfrm>
            <a:off x="8915400" y="2240280"/>
            <a:ext cx="502920" cy="502920"/>
          </a:xfrm>
          <a:prstGeom prst="rect">
            <a:avLst/>
          </a:prstGeom>
          <a:solidFill>
            <a:srgbClr val="DCE6F0"/>
          </a:solidFill>
          <a:ln w="12700">
            <a:solidFill>
              <a:srgbClr val="1C7293"/>
            </a:solidFill>
            <a:prstDash val="solid"/>
          </a:ln>
        </p:spPr>
        <p:txBody>
          <a:bodyPr/>
          <a:lstStyle/>
          <a:p>
            <a:endParaRPr lang="en-US" sz="1600"/>
          </a:p>
        </p:txBody>
      </p:sp>
      <p:sp>
        <p:nvSpPr>
          <p:cNvPr id="30" name="Text 28"/>
          <p:cNvSpPr txBox="1"/>
          <p:nvPr/>
        </p:nvSpPr>
        <p:spPr>
          <a:xfrm>
            <a:off x="8915400" y="224028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2</a:t>
            </a:r>
            <a:endParaRPr lang="en-US" sz="1600" dirty="0"/>
          </a:p>
        </p:txBody>
      </p:sp>
      <p:sp>
        <p:nvSpPr>
          <p:cNvPr id="31" name="Shape 29"/>
          <p:cNvSpPr/>
          <p:nvPr/>
        </p:nvSpPr>
        <p:spPr>
          <a:xfrm>
            <a:off x="8366760" y="2788920"/>
            <a:ext cx="502920" cy="502920"/>
          </a:xfrm>
          <a:prstGeom prst="rect">
            <a:avLst/>
          </a:prstGeom>
          <a:solidFill>
            <a:srgbClr val="DCE6F0"/>
          </a:solidFill>
          <a:ln w="12700">
            <a:solidFill>
              <a:srgbClr val="1C7293"/>
            </a:solidFill>
            <a:prstDash val="solid"/>
          </a:ln>
        </p:spPr>
        <p:txBody>
          <a:bodyPr/>
          <a:lstStyle/>
          <a:p>
            <a:endParaRPr lang="en-US" sz="1600"/>
          </a:p>
        </p:txBody>
      </p:sp>
      <p:sp>
        <p:nvSpPr>
          <p:cNvPr id="32" name="Text 30"/>
          <p:cNvSpPr txBox="1"/>
          <p:nvPr/>
        </p:nvSpPr>
        <p:spPr>
          <a:xfrm>
            <a:off x="8366760" y="278892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3</a:t>
            </a:r>
            <a:endParaRPr lang="en-US" sz="1600" dirty="0"/>
          </a:p>
        </p:txBody>
      </p:sp>
      <p:sp>
        <p:nvSpPr>
          <p:cNvPr id="33" name="Shape 31"/>
          <p:cNvSpPr/>
          <p:nvPr/>
        </p:nvSpPr>
        <p:spPr>
          <a:xfrm>
            <a:off x="8915400" y="2788920"/>
            <a:ext cx="502920" cy="502920"/>
          </a:xfrm>
          <a:prstGeom prst="rect">
            <a:avLst/>
          </a:prstGeom>
          <a:solidFill>
            <a:srgbClr val="DCE6F0"/>
          </a:solidFill>
          <a:ln w="12700">
            <a:solidFill>
              <a:srgbClr val="1C7293"/>
            </a:solidFill>
            <a:prstDash val="solid"/>
          </a:ln>
        </p:spPr>
        <p:txBody>
          <a:bodyPr/>
          <a:lstStyle/>
          <a:p>
            <a:endParaRPr lang="en-US" sz="1600"/>
          </a:p>
        </p:txBody>
      </p:sp>
      <p:sp>
        <p:nvSpPr>
          <p:cNvPr id="34" name="Text 32"/>
          <p:cNvSpPr txBox="1"/>
          <p:nvPr/>
        </p:nvSpPr>
        <p:spPr>
          <a:xfrm>
            <a:off x="8915400" y="278892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4</a:t>
            </a:r>
            <a:endParaRPr lang="en-US" sz="1600" dirty="0"/>
          </a:p>
        </p:txBody>
      </p:sp>
      <p:sp>
        <p:nvSpPr>
          <p:cNvPr id="35" name="Shape 33"/>
          <p:cNvSpPr/>
          <p:nvPr/>
        </p:nvSpPr>
        <p:spPr>
          <a:xfrm>
            <a:off x="8366760" y="3337560"/>
            <a:ext cx="502920" cy="502920"/>
          </a:xfrm>
          <a:prstGeom prst="rect">
            <a:avLst/>
          </a:prstGeom>
          <a:solidFill>
            <a:srgbClr val="F3E7C1"/>
          </a:solidFill>
          <a:ln w="12700">
            <a:solidFill>
              <a:srgbClr val="1C7293"/>
            </a:solidFill>
            <a:prstDash val="solid"/>
          </a:ln>
        </p:spPr>
        <p:txBody>
          <a:bodyPr/>
          <a:lstStyle/>
          <a:p>
            <a:endParaRPr lang="en-US" sz="1600"/>
          </a:p>
        </p:txBody>
      </p:sp>
      <p:sp>
        <p:nvSpPr>
          <p:cNvPr id="36" name="Text 34"/>
          <p:cNvSpPr txBox="1"/>
          <p:nvPr/>
        </p:nvSpPr>
        <p:spPr>
          <a:xfrm>
            <a:off x="8366760" y="333756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5</a:t>
            </a:r>
            <a:endParaRPr lang="en-US" sz="1600" dirty="0"/>
          </a:p>
        </p:txBody>
      </p:sp>
      <p:sp>
        <p:nvSpPr>
          <p:cNvPr id="37" name="Shape 35"/>
          <p:cNvSpPr/>
          <p:nvPr/>
        </p:nvSpPr>
        <p:spPr>
          <a:xfrm>
            <a:off x="8915400" y="3337560"/>
            <a:ext cx="502920" cy="502920"/>
          </a:xfrm>
          <a:prstGeom prst="rect">
            <a:avLst/>
          </a:prstGeom>
          <a:solidFill>
            <a:srgbClr val="F3E7C1"/>
          </a:solidFill>
          <a:ln w="12700">
            <a:solidFill>
              <a:srgbClr val="1C7293"/>
            </a:solidFill>
            <a:prstDash val="solid"/>
          </a:ln>
        </p:spPr>
        <p:txBody>
          <a:bodyPr/>
          <a:lstStyle/>
          <a:p>
            <a:endParaRPr lang="en-US" sz="1600"/>
          </a:p>
        </p:txBody>
      </p:sp>
      <p:sp>
        <p:nvSpPr>
          <p:cNvPr id="38" name="Text 36"/>
          <p:cNvSpPr txBox="1"/>
          <p:nvPr/>
        </p:nvSpPr>
        <p:spPr>
          <a:xfrm>
            <a:off x="8915400" y="333756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6</a:t>
            </a:r>
            <a:endParaRPr lang="en-US" sz="1600" dirty="0"/>
          </a:p>
        </p:txBody>
      </p:sp>
      <p:sp>
        <p:nvSpPr>
          <p:cNvPr id="39" name="Shape 37"/>
          <p:cNvSpPr/>
          <p:nvPr/>
        </p:nvSpPr>
        <p:spPr>
          <a:xfrm>
            <a:off x="8366760" y="3886200"/>
            <a:ext cx="502920" cy="502920"/>
          </a:xfrm>
          <a:prstGeom prst="rect">
            <a:avLst/>
          </a:prstGeom>
          <a:solidFill>
            <a:srgbClr val="F3E7C1"/>
          </a:solidFill>
          <a:ln w="12700">
            <a:solidFill>
              <a:srgbClr val="1C7293"/>
            </a:solidFill>
            <a:prstDash val="solid"/>
          </a:ln>
        </p:spPr>
        <p:txBody>
          <a:bodyPr/>
          <a:lstStyle/>
          <a:p>
            <a:endParaRPr lang="en-US" sz="1600"/>
          </a:p>
        </p:txBody>
      </p:sp>
      <p:sp>
        <p:nvSpPr>
          <p:cNvPr id="40" name="Text 38"/>
          <p:cNvSpPr txBox="1"/>
          <p:nvPr/>
        </p:nvSpPr>
        <p:spPr>
          <a:xfrm>
            <a:off x="8366760" y="388620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7</a:t>
            </a:r>
            <a:endParaRPr lang="en-US" sz="1600" dirty="0"/>
          </a:p>
        </p:txBody>
      </p:sp>
      <p:sp>
        <p:nvSpPr>
          <p:cNvPr id="41" name="Shape 39"/>
          <p:cNvSpPr/>
          <p:nvPr/>
        </p:nvSpPr>
        <p:spPr>
          <a:xfrm>
            <a:off x="8915400" y="3886200"/>
            <a:ext cx="502920" cy="502920"/>
          </a:xfrm>
          <a:prstGeom prst="rect">
            <a:avLst/>
          </a:prstGeom>
          <a:solidFill>
            <a:srgbClr val="F3E7C1"/>
          </a:solidFill>
          <a:ln w="12700">
            <a:solidFill>
              <a:srgbClr val="1C7293"/>
            </a:solidFill>
            <a:prstDash val="solid"/>
          </a:ln>
        </p:spPr>
        <p:txBody>
          <a:bodyPr/>
          <a:lstStyle/>
          <a:p>
            <a:endParaRPr lang="en-US" sz="1600"/>
          </a:p>
        </p:txBody>
      </p:sp>
      <p:sp>
        <p:nvSpPr>
          <p:cNvPr id="42" name="Text 40"/>
          <p:cNvSpPr txBox="1"/>
          <p:nvPr/>
        </p:nvSpPr>
        <p:spPr>
          <a:xfrm>
            <a:off x="8915400" y="3886200"/>
            <a:ext cx="502920" cy="502920"/>
          </a:xfrm>
          <a:prstGeom prst="rect">
            <a:avLst/>
          </a:prstGeom>
          <a:noFill/>
          <a:ln/>
        </p:spPr>
        <p:txBody>
          <a:bodyPr wrap="square" lIns="0" tIns="0" rIns="0" bIns="0" rtlCol="0" anchor="ctr"/>
          <a:lstStyle/>
          <a:p>
            <a:pPr marL="0" indent="0" algn="ctr">
              <a:buNone/>
            </a:pPr>
            <a:r>
              <a:rPr lang="en-US" sz="1600" b="1" dirty="0">
                <a:solidFill>
                  <a:srgbClr val="0B2545"/>
                </a:solidFill>
                <a:latin typeface="Courier New" pitchFamily="34" charset="0"/>
                <a:ea typeface="Courier New" pitchFamily="34" charset="-122"/>
                <a:cs typeface="Courier New" pitchFamily="34" charset="-120"/>
              </a:rPr>
              <a:t>8</a:t>
            </a:r>
            <a:endParaRPr lang="en-US" sz="1600" dirty="0"/>
          </a:p>
        </p:txBody>
      </p:sp>
      <p:sp>
        <p:nvSpPr>
          <p:cNvPr id="43" name="Text 41"/>
          <p:cNvSpPr txBox="1"/>
          <p:nvPr/>
        </p:nvSpPr>
        <p:spPr>
          <a:xfrm>
            <a:off x="6400800" y="4572000"/>
            <a:ext cx="5029200" cy="365760"/>
          </a:xfrm>
          <a:prstGeom prst="rect">
            <a:avLst/>
          </a:prstGeom>
          <a:noFill/>
          <a:ln/>
        </p:spPr>
        <p:txBody>
          <a:bodyPr wrap="square" lIns="0" tIns="0" rIns="0" bIns="0" rtlCol="0" anchor="ctr"/>
          <a:lstStyle/>
          <a:p>
            <a:pPr marL="0" indent="0" algn="ctr">
              <a:buNone/>
            </a:pPr>
            <a:r>
              <a:rPr lang="en-US" sz="1600" i="1" dirty="0">
                <a:solidFill>
                  <a:srgbClr val="5C6B7A"/>
                </a:solidFill>
                <a:latin typeface="Calibri" pitchFamily="34" charset="0"/>
                <a:ea typeface="Calibri" pitchFamily="34" charset="-122"/>
                <a:cs typeface="Calibri" pitchFamily="34" charset="-120"/>
              </a:rPr>
              <a:t>Must have the same number of COLUMNS</a:t>
            </a:r>
            <a:endParaRPr lang="en-US" sz="1600" dirty="0"/>
          </a:p>
        </p:txBody>
      </p:sp>
      <p:sp>
        <p:nvSpPr>
          <p:cNvPr id="44" name="Text 42"/>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45" name="Text 43"/>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CONCATENATION</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Concatenation Functions: horzcat, vertcat, cat</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3:17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horzcat(A, B) — identical to [A B]; needs same row count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vertcat(A, B) — identical to [A;B]; needs same column count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cat(dim, A, B) — general form, dim = 1 (rows) or 2 (columns)</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Row-count/column-count mismatch → dimension mismatch error</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Function form is useful inside scripts and loops</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[1 2; 3 4];</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B = [5 6; 7 8];</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horzcat(A, B)  % same as [A B]</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vertcat(A, B)  % same as [A;B]</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cat(1, A, B)   % vertical  (dim=1)</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cat(2, A, B)   % horizontal (dim=2)</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CONCATENATION</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Dimension Matching &amp; Common Errors</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3:21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The non-joining dimension must match exactly</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Mismatches throw: “Dimensions of matrices being concatenated are not consistent”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Always check size(A) and size(B) before joining</a:t>
            </a:r>
            <a:endParaRPr lang="en-US" sz="2000" dirty="0"/>
          </a:p>
        </p:txBody>
      </p:sp>
      <p:sp>
        <p:nvSpPr>
          <p:cNvPr id="7" name="Shape 5"/>
          <p:cNvSpPr/>
          <p:nvPr/>
        </p:nvSpPr>
        <p:spPr>
          <a:xfrm>
            <a:off x="6903720" y="1600200"/>
            <a:ext cx="2217420" cy="4526280"/>
          </a:xfrm>
          <a:prstGeom prst="roundRect">
            <a:avLst>
              <a:gd name="adj" fmla="val 4948"/>
            </a:avLst>
          </a:prstGeom>
          <a:solidFill>
            <a:srgbClr val="E4F1EA"/>
          </a:solidFill>
          <a:ln w="12700">
            <a:solidFill>
              <a:srgbClr val="D7DEE7"/>
            </a:solidFill>
            <a:prstDash val="solid"/>
          </a:ln>
        </p:spPr>
        <p:txBody>
          <a:bodyPr/>
          <a:lstStyle/>
          <a:p>
            <a:endParaRPr lang="en-US" sz="1600"/>
          </a:p>
        </p:txBody>
      </p:sp>
      <p:sp>
        <p:nvSpPr>
          <p:cNvPr id="8" name="Text 6"/>
          <p:cNvSpPr txBox="1"/>
          <p:nvPr/>
        </p:nvSpPr>
        <p:spPr>
          <a:xfrm>
            <a:off x="7132320" y="1783080"/>
            <a:ext cx="1760220" cy="365760"/>
          </a:xfrm>
          <a:prstGeom prst="rect">
            <a:avLst/>
          </a:prstGeom>
          <a:noFill/>
          <a:ln/>
        </p:spPr>
        <p:txBody>
          <a:bodyPr wrap="square" lIns="0" tIns="0" rIns="0" bIns="0" rtlCol="0" anchor="ctr"/>
          <a:lstStyle/>
          <a:p>
            <a:pPr marL="0" indent="0">
              <a:buNone/>
            </a:pPr>
            <a:r>
              <a:rPr lang="en-US" sz="1600" b="1" dirty="0">
                <a:solidFill>
                  <a:srgbClr val="1E7A46"/>
                </a:solidFill>
                <a:latin typeface="Calibri" pitchFamily="34" charset="0"/>
                <a:ea typeface="Calibri" pitchFamily="34" charset="-122"/>
                <a:cs typeface="Calibri" pitchFamily="34" charset="-120"/>
              </a:rPr>
              <a:t>✓ Valid</a:t>
            </a:r>
            <a:endParaRPr lang="en-US" sz="1600" dirty="0"/>
          </a:p>
        </p:txBody>
      </p:sp>
      <p:sp>
        <p:nvSpPr>
          <p:cNvPr id="9" name="Shape 7"/>
          <p:cNvSpPr/>
          <p:nvPr/>
        </p:nvSpPr>
        <p:spPr>
          <a:xfrm>
            <a:off x="7086600" y="2240280"/>
            <a:ext cx="1851660" cy="3703320"/>
          </a:xfrm>
          <a:prstGeom prst="roundRect">
            <a:avLst>
              <a:gd name="adj" fmla="val 5926"/>
            </a:avLst>
          </a:prstGeom>
          <a:solidFill>
            <a:srgbClr val="0F3D28"/>
          </a:solidFill>
          <a:ln w="12700">
            <a:solidFill>
              <a:srgbClr val="D7DEE7"/>
            </a:solidFill>
            <a:prstDash val="solid"/>
          </a:ln>
        </p:spPr>
        <p:txBody>
          <a:bodyPr/>
          <a:lstStyle/>
          <a:p>
            <a:endParaRPr lang="en-US" sz="1600"/>
          </a:p>
        </p:txBody>
      </p:sp>
      <p:sp>
        <p:nvSpPr>
          <p:cNvPr id="10" name="Text 8"/>
          <p:cNvSpPr txBox="1"/>
          <p:nvPr/>
        </p:nvSpPr>
        <p:spPr>
          <a:xfrm>
            <a:off x="7315200" y="2423160"/>
            <a:ext cx="1394460" cy="333756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[1 2; 3 4];  % 2x2</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C = [9 9; 8 8];  % 2x2</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C]  % rows match cols (2,2)</a:t>
            </a:r>
            <a:endParaRPr lang="en-US" sz="1600" dirty="0"/>
          </a:p>
        </p:txBody>
      </p:sp>
      <p:sp>
        <p:nvSpPr>
          <p:cNvPr id="11" name="Shape 9"/>
          <p:cNvSpPr/>
          <p:nvPr/>
        </p:nvSpPr>
        <p:spPr>
          <a:xfrm>
            <a:off x="9395460" y="1600200"/>
            <a:ext cx="2217420" cy="4526280"/>
          </a:xfrm>
          <a:prstGeom prst="roundRect">
            <a:avLst>
              <a:gd name="adj" fmla="val 4948"/>
            </a:avLst>
          </a:prstGeom>
          <a:solidFill>
            <a:srgbClr val="FBEAE7"/>
          </a:solidFill>
          <a:ln w="12700">
            <a:solidFill>
              <a:srgbClr val="D7DEE7"/>
            </a:solidFill>
            <a:prstDash val="solid"/>
          </a:ln>
        </p:spPr>
        <p:txBody>
          <a:bodyPr/>
          <a:lstStyle/>
          <a:p>
            <a:endParaRPr lang="en-US" sz="1600"/>
          </a:p>
        </p:txBody>
      </p:sp>
      <p:sp>
        <p:nvSpPr>
          <p:cNvPr id="12" name="Text 10"/>
          <p:cNvSpPr txBox="1"/>
          <p:nvPr/>
        </p:nvSpPr>
        <p:spPr>
          <a:xfrm>
            <a:off x="9624060" y="1783080"/>
            <a:ext cx="1760220" cy="365760"/>
          </a:xfrm>
          <a:prstGeom prst="rect">
            <a:avLst/>
          </a:prstGeom>
          <a:noFill/>
          <a:ln/>
        </p:spPr>
        <p:txBody>
          <a:bodyPr wrap="square" lIns="0" tIns="0" rIns="0" bIns="0" rtlCol="0" anchor="ctr"/>
          <a:lstStyle/>
          <a:p>
            <a:pPr marL="0" indent="0">
              <a:buNone/>
            </a:pPr>
            <a:r>
              <a:rPr lang="en-US" sz="1600" b="1" dirty="0">
                <a:solidFill>
                  <a:srgbClr val="A23B2E"/>
                </a:solidFill>
                <a:latin typeface="Calibri" pitchFamily="34" charset="0"/>
                <a:ea typeface="Calibri" pitchFamily="34" charset="-122"/>
                <a:cs typeface="Calibri" pitchFamily="34" charset="-120"/>
              </a:rPr>
              <a:t>✗ Invalid</a:t>
            </a:r>
            <a:endParaRPr lang="en-US" sz="1600" dirty="0"/>
          </a:p>
        </p:txBody>
      </p:sp>
      <p:sp>
        <p:nvSpPr>
          <p:cNvPr id="13" name="Shape 11"/>
          <p:cNvSpPr/>
          <p:nvPr/>
        </p:nvSpPr>
        <p:spPr>
          <a:xfrm>
            <a:off x="9578340" y="2240280"/>
            <a:ext cx="1851660" cy="3703320"/>
          </a:xfrm>
          <a:prstGeom prst="roundRect">
            <a:avLst>
              <a:gd name="adj" fmla="val 5926"/>
            </a:avLst>
          </a:prstGeom>
          <a:solidFill>
            <a:srgbClr val="3D1A16"/>
          </a:solidFill>
          <a:ln w="12700">
            <a:solidFill>
              <a:srgbClr val="D7DEE7"/>
            </a:solidFill>
            <a:prstDash val="solid"/>
          </a:ln>
        </p:spPr>
        <p:txBody>
          <a:bodyPr/>
          <a:lstStyle/>
          <a:p>
            <a:endParaRPr lang="en-US" sz="1600"/>
          </a:p>
        </p:txBody>
      </p:sp>
      <p:sp>
        <p:nvSpPr>
          <p:cNvPr id="14" name="Text 12"/>
          <p:cNvSpPr txBox="1"/>
          <p:nvPr/>
        </p:nvSpPr>
        <p:spPr>
          <a:xfrm>
            <a:off x="9806940" y="2423160"/>
            <a:ext cx="1394460" cy="333756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[1 2; 3 4];   % 2x2</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D = [1 2 3];      % 1x3</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D]  % Error: 2 cols vs 3</a:t>
            </a:r>
            <a:endParaRPr lang="en-US" sz="1600" dirty="0"/>
          </a:p>
        </p:txBody>
      </p:sp>
      <p:sp>
        <p:nvSpPr>
          <p:cNvPr id="15" name="Text 13"/>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6" name="Text 14"/>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IDENTITY &amp; CONCATENATION</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Identity, Zeros, Ones &amp; Diagonal Matrices</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3:25 PM</a:t>
            </a:r>
            <a:endParaRPr lang="en-US" sz="1150" dirty="0"/>
          </a:p>
        </p:txBody>
      </p:sp>
      <p:sp>
        <p:nvSpPr>
          <p:cNvPr id="6" name="Shape 4"/>
          <p:cNvSpPr/>
          <p:nvPr/>
        </p:nvSpPr>
        <p:spPr>
          <a:xfrm>
            <a:off x="548640" y="1600200"/>
            <a:ext cx="1993392" cy="4526280"/>
          </a:xfrm>
          <a:prstGeom prst="roundRect">
            <a:avLst>
              <a:gd name="adj" fmla="val 5505"/>
            </a:avLst>
          </a:prstGeom>
          <a:solidFill>
            <a:srgbClr val="E9EEF4"/>
          </a:solidFill>
          <a:ln w="12700">
            <a:solidFill>
              <a:srgbClr val="D7DEE7"/>
            </a:solidFill>
            <a:prstDash val="solid"/>
          </a:ln>
        </p:spPr>
        <p:txBody>
          <a:bodyPr/>
          <a:lstStyle/>
          <a:p>
            <a:endParaRPr lang="en-US"/>
          </a:p>
        </p:txBody>
      </p:sp>
      <p:sp>
        <p:nvSpPr>
          <p:cNvPr id="7" name="Text 5"/>
          <p:cNvSpPr txBox="1"/>
          <p:nvPr/>
        </p:nvSpPr>
        <p:spPr>
          <a:xfrm>
            <a:off x="548640" y="1783080"/>
            <a:ext cx="1993392" cy="32004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eye(3)</a:t>
            </a:r>
            <a:endParaRPr lang="en-US" dirty="0"/>
          </a:p>
        </p:txBody>
      </p:sp>
      <p:sp>
        <p:nvSpPr>
          <p:cNvPr id="8" name="Shape 6"/>
          <p:cNvSpPr/>
          <p:nvPr/>
        </p:nvSpPr>
        <p:spPr>
          <a:xfrm>
            <a:off x="859536" y="2377440"/>
            <a:ext cx="411480" cy="411480"/>
          </a:xfrm>
          <a:prstGeom prst="rect">
            <a:avLst/>
          </a:prstGeom>
          <a:solidFill>
            <a:srgbClr val="F3E7C1"/>
          </a:solidFill>
          <a:ln w="12700">
            <a:solidFill>
              <a:srgbClr val="1C7293"/>
            </a:solidFill>
            <a:prstDash val="solid"/>
          </a:ln>
        </p:spPr>
        <p:txBody>
          <a:bodyPr/>
          <a:lstStyle/>
          <a:p>
            <a:endParaRPr lang="en-US"/>
          </a:p>
        </p:txBody>
      </p:sp>
      <p:sp>
        <p:nvSpPr>
          <p:cNvPr id="9" name="Text 7"/>
          <p:cNvSpPr txBox="1"/>
          <p:nvPr/>
        </p:nvSpPr>
        <p:spPr>
          <a:xfrm>
            <a:off x="859536"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10" name="Shape 8"/>
          <p:cNvSpPr/>
          <p:nvPr/>
        </p:nvSpPr>
        <p:spPr>
          <a:xfrm>
            <a:off x="1316736" y="2377440"/>
            <a:ext cx="411480" cy="411480"/>
          </a:xfrm>
          <a:prstGeom prst="rect">
            <a:avLst/>
          </a:prstGeom>
          <a:solidFill>
            <a:srgbClr val="DCE6F0"/>
          </a:solidFill>
          <a:ln w="12700">
            <a:solidFill>
              <a:srgbClr val="1C7293"/>
            </a:solidFill>
            <a:prstDash val="solid"/>
          </a:ln>
        </p:spPr>
        <p:txBody>
          <a:bodyPr/>
          <a:lstStyle/>
          <a:p>
            <a:endParaRPr lang="en-US"/>
          </a:p>
        </p:txBody>
      </p:sp>
      <p:sp>
        <p:nvSpPr>
          <p:cNvPr id="11" name="Text 9"/>
          <p:cNvSpPr txBox="1"/>
          <p:nvPr/>
        </p:nvSpPr>
        <p:spPr>
          <a:xfrm>
            <a:off x="1316736"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12" name="Shape 10"/>
          <p:cNvSpPr/>
          <p:nvPr/>
        </p:nvSpPr>
        <p:spPr>
          <a:xfrm>
            <a:off x="1773936" y="2377440"/>
            <a:ext cx="411480" cy="411480"/>
          </a:xfrm>
          <a:prstGeom prst="rect">
            <a:avLst/>
          </a:prstGeom>
          <a:solidFill>
            <a:srgbClr val="DCE6F0"/>
          </a:solidFill>
          <a:ln w="12700">
            <a:solidFill>
              <a:srgbClr val="1C7293"/>
            </a:solidFill>
            <a:prstDash val="solid"/>
          </a:ln>
        </p:spPr>
        <p:txBody>
          <a:bodyPr/>
          <a:lstStyle/>
          <a:p>
            <a:endParaRPr lang="en-US"/>
          </a:p>
        </p:txBody>
      </p:sp>
      <p:sp>
        <p:nvSpPr>
          <p:cNvPr id="13" name="Text 11"/>
          <p:cNvSpPr txBox="1"/>
          <p:nvPr/>
        </p:nvSpPr>
        <p:spPr>
          <a:xfrm>
            <a:off x="1773936"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14" name="Shape 12"/>
          <p:cNvSpPr/>
          <p:nvPr/>
        </p:nvSpPr>
        <p:spPr>
          <a:xfrm>
            <a:off x="859536" y="2834640"/>
            <a:ext cx="411480" cy="411480"/>
          </a:xfrm>
          <a:prstGeom prst="rect">
            <a:avLst/>
          </a:prstGeom>
          <a:solidFill>
            <a:srgbClr val="DCE6F0"/>
          </a:solidFill>
          <a:ln w="12700">
            <a:solidFill>
              <a:srgbClr val="1C7293"/>
            </a:solidFill>
            <a:prstDash val="solid"/>
          </a:ln>
        </p:spPr>
        <p:txBody>
          <a:bodyPr/>
          <a:lstStyle/>
          <a:p>
            <a:endParaRPr lang="en-US"/>
          </a:p>
        </p:txBody>
      </p:sp>
      <p:sp>
        <p:nvSpPr>
          <p:cNvPr id="15" name="Text 13"/>
          <p:cNvSpPr txBox="1"/>
          <p:nvPr/>
        </p:nvSpPr>
        <p:spPr>
          <a:xfrm>
            <a:off x="859536"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16" name="Shape 14"/>
          <p:cNvSpPr/>
          <p:nvPr/>
        </p:nvSpPr>
        <p:spPr>
          <a:xfrm>
            <a:off x="1316736" y="2834640"/>
            <a:ext cx="411480" cy="411480"/>
          </a:xfrm>
          <a:prstGeom prst="rect">
            <a:avLst/>
          </a:prstGeom>
          <a:solidFill>
            <a:srgbClr val="F3E7C1"/>
          </a:solidFill>
          <a:ln w="12700">
            <a:solidFill>
              <a:srgbClr val="1C7293"/>
            </a:solidFill>
            <a:prstDash val="solid"/>
          </a:ln>
        </p:spPr>
        <p:txBody>
          <a:bodyPr/>
          <a:lstStyle/>
          <a:p>
            <a:endParaRPr lang="en-US"/>
          </a:p>
        </p:txBody>
      </p:sp>
      <p:sp>
        <p:nvSpPr>
          <p:cNvPr id="17" name="Text 15"/>
          <p:cNvSpPr txBox="1"/>
          <p:nvPr/>
        </p:nvSpPr>
        <p:spPr>
          <a:xfrm>
            <a:off x="1316736"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18" name="Shape 16"/>
          <p:cNvSpPr/>
          <p:nvPr/>
        </p:nvSpPr>
        <p:spPr>
          <a:xfrm>
            <a:off x="1773936" y="2834640"/>
            <a:ext cx="411480" cy="411480"/>
          </a:xfrm>
          <a:prstGeom prst="rect">
            <a:avLst/>
          </a:prstGeom>
          <a:solidFill>
            <a:srgbClr val="DCE6F0"/>
          </a:solidFill>
          <a:ln w="12700">
            <a:solidFill>
              <a:srgbClr val="1C7293"/>
            </a:solidFill>
            <a:prstDash val="solid"/>
          </a:ln>
        </p:spPr>
        <p:txBody>
          <a:bodyPr/>
          <a:lstStyle/>
          <a:p>
            <a:endParaRPr lang="en-US"/>
          </a:p>
        </p:txBody>
      </p:sp>
      <p:sp>
        <p:nvSpPr>
          <p:cNvPr id="19" name="Text 17"/>
          <p:cNvSpPr txBox="1"/>
          <p:nvPr/>
        </p:nvSpPr>
        <p:spPr>
          <a:xfrm>
            <a:off x="1773936"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20" name="Shape 18"/>
          <p:cNvSpPr/>
          <p:nvPr/>
        </p:nvSpPr>
        <p:spPr>
          <a:xfrm>
            <a:off x="859536" y="3291840"/>
            <a:ext cx="411480" cy="411480"/>
          </a:xfrm>
          <a:prstGeom prst="rect">
            <a:avLst/>
          </a:prstGeom>
          <a:solidFill>
            <a:srgbClr val="DCE6F0"/>
          </a:solidFill>
          <a:ln w="12700">
            <a:solidFill>
              <a:srgbClr val="1C7293"/>
            </a:solidFill>
            <a:prstDash val="solid"/>
          </a:ln>
        </p:spPr>
        <p:txBody>
          <a:bodyPr/>
          <a:lstStyle/>
          <a:p>
            <a:endParaRPr lang="en-US"/>
          </a:p>
        </p:txBody>
      </p:sp>
      <p:sp>
        <p:nvSpPr>
          <p:cNvPr id="21" name="Text 19"/>
          <p:cNvSpPr txBox="1"/>
          <p:nvPr/>
        </p:nvSpPr>
        <p:spPr>
          <a:xfrm>
            <a:off x="859536"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22" name="Shape 20"/>
          <p:cNvSpPr/>
          <p:nvPr/>
        </p:nvSpPr>
        <p:spPr>
          <a:xfrm>
            <a:off x="1316736" y="3291840"/>
            <a:ext cx="411480" cy="411480"/>
          </a:xfrm>
          <a:prstGeom prst="rect">
            <a:avLst/>
          </a:prstGeom>
          <a:solidFill>
            <a:srgbClr val="DCE6F0"/>
          </a:solidFill>
          <a:ln w="12700">
            <a:solidFill>
              <a:srgbClr val="1C7293"/>
            </a:solidFill>
            <a:prstDash val="solid"/>
          </a:ln>
        </p:spPr>
        <p:txBody>
          <a:bodyPr/>
          <a:lstStyle/>
          <a:p>
            <a:endParaRPr lang="en-US"/>
          </a:p>
        </p:txBody>
      </p:sp>
      <p:sp>
        <p:nvSpPr>
          <p:cNvPr id="23" name="Text 21"/>
          <p:cNvSpPr txBox="1"/>
          <p:nvPr/>
        </p:nvSpPr>
        <p:spPr>
          <a:xfrm>
            <a:off x="1316736"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24" name="Shape 22"/>
          <p:cNvSpPr/>
          <p:nvPr/>
        </p:nvSpPr>
        <p:spPr>
          <a:xfrm>
            <a:off x="1773936" y="3291840"/>
            <a:ext cx="411480" cy="411480"/>
          </a:xfrm>
          <a:prstGeom prst="rect">
            <a:avLst/>
          </a:prstGeom>
          <a:solidFill>
            <a:srgbClr val="F3E7C1"/>
          </a:solidFill>
          <a:ln w="12700">
            <a:solidFill>
              <a:srgbClr val="1C7293"/>
            </a:solidFill>
            <a:prstDash val="solid"/>
          </a:ln>
        </p:spPr>
        <p:txBody>
          <a:bodyPr/>
          <a:lstStyle/>
          <a:p>
            <a:endParaRPr lang="en-US"/>
          </a:p>
        </p:txBody>
      </p:sp>
      <p:sp>
        <p:nvSpPr>
          <p:cNvPr id="25" name="Text 23"/>
          <p:cNvSpPr txBox="1"/>
          <p:nvPr/>
        </p:nvSpPr>
        <p:spPr>
          <a:xfrm>
            <a:off x="1773936"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26" name="Shape 24"/>
          <p:cNvSpPr/>
          <p:nvPr/>
        </p:nvSpPr>
        <p:spPr>
          <a:xfrm>
            <a:off x="2816352" y="1600200"/>
            <a:ext cx="1993392" cy="4526280"/>
          </a:xfrm>
          <a:prstGeom prst="roundRect">
            <a:avLst>
              <a:gd name="adj" fmla="val 5505"/>
            </a:avLst>
          </a:prstGeom>
          <a:solidFill>
            <a:srgbClr val="E9EEF4"/>
          </a:solidFill>
          <a:ln w="12700">
            <a:solidFill>
              <a:srgbClr val="D7DEE7"/>
            </a:solidFill>
            <a:prstDash val="solid"/>
          </a:ln>
        </p:spPr>
        <p:txBody>
          <a:bodyPr/>
          <a:lstStyle/>
          <a:p>
            <a:endParaRPr lang="en-US"/>
          </a:p>
        </p:txBody>
      </p:sp>
      <p:sp>
        <p:nvSpPr>
          <p:cNvPr id="27" name="Text 25"/>
          <p:cNvSpPr txBox="1"/>
          <p:nvPr/>
        </p:nvSpPr>
        <p:spPr>
          <a:xfrm>
            <a:off x="2816352" y="1783080"/>
            <a:ext cx="1993392" cy="32004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eye(2,3)</a:t>
            </a:r>
            <a:endParaRPr lang="en-US" dirty="0"/>
          </a:p>
        </p:txBody>
      </p:sp>
      <p:sp>
        <p:nvSpPr>
          <p:cNvPr id="28" name="Shape 26"/>
          <p:cNvSpPr/>
          <p:nvPr/>
        </p:nvSpPr>
        <p:spPr>
          <a:xfrm>
            <a:off x="3127248" y="2377440"/>
            <a:ext cx="411480" cy="411480"/>
          </a:xfrm>
          <a:prstGeom prst="rect">
            <a:avLst/>
          </a:prstGeom>
          <a:solidFill>
            <a:srgbClr val="F3E7C1"/>
          </a:solidFill>
          <a:ln w="12700">
            <a:solidFill>
              <a:srgbClr val="1C7293"/>
            </a:solidFill>
            <a:prstDash val="solid"/>
          </a:ln>
        </p:spPr>
        <p:txBody>
          <a:bodyPr/>
          <a:lstStyle/>
          <a:p>
            <a:endParaRPr lang="en-US"/>
          </a:p>
        </p:txBody>
      </p:sp>
      <p:sp>
        <p:nvSpPr>
          <p:cNvPr id="29" name="Text 27"/>
          <p:cNvSpPr txBox="1"/>
          <p:nvPr/>
        </p:nvSpPr>
        <p:spPr>
          <a:xfrm>
            <a:off x="3127248"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30" name="Shape 28"/>
          <p:cNvSpPr/>
          <p:nvPr/>
        </p:nvSpPr>
        <p:spPr>
          <a:xfrm>
            <a:off x="3584448" y="2377440"/>
            <a:ext cx="411480" cy="411480"/>
          </a:xfrm>
          <a:prstGeom prst="rect">
            <a:avLst/>
          </a:prstGeom>
          <a:solidFill>
            <a:srgbClr val="DCE6F0"/>
          </a:solidFill>
          <a:ln w="12700">
            <a:solidFill>
              <a:srgbClr val="1C7293"/>
            </a:solidFill>
            <a:prstDash val="solid"/>
          </a:ln>
        </p:spPr>
        <p:txBody>
          <a:bodyPr/>
          <a:lstStyle/>
          <a:p>
            <a:endParaRPr lang="en-US"/>
          </a:p>
        </p:txBody>
      </p:sp>
      <p:sp>
        <p:nvSpPr>
          <p:cNvPr id="31" name="Text 29"/>
          <p:cNvSpPr txBox="1"/>
          <p:nvPr/>
        </p:nvSpPr>
        <p:spPr>
          <a:xfrm>
            <a:off x="3584448"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32" name="Shape 30"/>
          <p:cNvSpPr/>
          <p:nvPr/>
        </p:nvSpPr>
        <p:spPr>
          <a:xfrm>
            <a:off x="4041648" y="2377440"/>
            <a:ext cx="411480" cy="411480"/>
          </a:xfrm>
          <a:prstGeom prst="rect">
            <a:avLst/>
          </a:prstGeom>
          <a:solidFill>
            <a:srgbClr val="DCE6F0"/>
          </a:solidFill>
          <a:ln w="12700">
            <a:solidFill>
              <a:srgbClr val="1C7293"/>
            </a:solidFill>
            <a:prstDash val="solid"/>
          </a:ln>
        </p:spPr>
        <p:txBody>
          <a:bodyPr/>
          <a:lstStyle/>
          <a:p>
            <a:endParaRPr lang="en-US"/>
          </a:p>
        </p:txBody>
      </p:sp>
      <p:sp>
        <p:nvSpPr>
          <p:cNvPr id="33" name="Text 31"/>
          <p:cNvSpPr txBox="1"/>
          <p:nvPr/>
        </p:nvSpPr>
        <p:spPr>
          <a:xfrm>
            <a:off x="4041648"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34" name="Shape 32"/>
          <p:cNvSpPr/>
          <p:nvPr/>
        </p:nvSpPr>
        <p:spPr>
          <a:xfrm>
            <a:off x="3127248" y="2834640"/>
            <a:ext cx="411480" cy="411480"/>
          </a:xfrm>
          <a:prstGeom prst="rect">
            <a:avLst/>
          </a:prstGeom>
          <a:solidFill>
            <a:srgbClr val="DCE6F0"/>
          </a:solidFill>
          <a:ln w="12700">
            <a:solidFill>
              <a:srgbClr val="1C7293"/>
            </a:solidFill>
            <a:prstDash val="solid"/>
          </a:ln>
        </p:spPr>
        <p:txBody>
          <a:bodyPr/>
          <a:lstStyle/>
          <a:p>
            <a:endParaRPr lang="en-US"/>
          </a:p>
        </p:txBody>
      </p:sp>
      <p:sp>
        <p:nvSpPr>
          <p:cNvPr id="35" name="Text 33"/>
          <p:cNvSpPr txBox="1"/>
          <p:nvPr/>
        </p:nvSpPr>
        <p:spPr>
          <a:xfrm>
            <a:off x="3127248"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36" name="Shape 34"/>
          <p:cNvSpPr/>
          <p:nvPr/>
        </p:nvSpPr>
        <p:spPr>
          <a:xfrm>
            <a:off x="3584448" y="2834640"/>
            <a:ext cx="411480" cy="411480"/>
          </a:xfrm>
          <a:prstGeom prst="rect">
            <a:avLst/>
          </a:prstGeom>
          <a:solidFill>
            <a:srgbClr val="F3E7C1"/>
          </a:solidFill>
          <a:ln w="12700">
            <a:solidFill>
              <a:srgbClr val="1C7293"/>
            </a:solidFill>
            <a:prstDash val="solid"/>
          </a:ln>
        </p:spPr>
        <p:txBody>
          <a:bodyPr/>
          <a:lstStyle/>
          <a:p>
            <a:endParaRPr lang="en-US"/>
          </a:p>
        </p:txBody>
      </p:sp>
      <p:sp>
        <p:nvSpPr>
          <p:cNvPr id="37" name="Text 35"/>
          <p:cNvSpPr txBox="1"/>
          <p:nvPr/>
        </p:nvSpPr>
        <p:spPr>
          <a:xfrm>
            <a:off x="3584448"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38" name="Shape 36"/>
          <p:cNvSpPr/>
          <p:nvPr/>
        </p:nvSpPr>
        <p:spPr>
          <a:xfrm>
            <a:off x="4041648" y="2834640"/>
            <a:ext cx="411480" cy="411480"/>
          </a:xfrm>
          <a:prstGeom prst="rect">
            <a:avLst/>
          </a:prstGeom>
          <a:solidFill>
            <a:srgbClr val="DCE6F0"/>
          </a:solidFill>
          <a:ln w="12700">
            <a:solidFill>
              <a:srgbClr val="1C7293"/>
            </a:solidFill>
            <a:prstDash val="solid"/>
          </a:ln>
        </p:spPr>
        <p:txBody>
          <a:bodyPr/>
          <a:lstStyle/>
          <a:p>
            <a:endParaRPr lang="en-US"/>
          </a:p>
        </p:txBody>
      </p:sp>
      <p:sp>
        <p:nvSpPr>
          <p:cNvPr id="39" name="Text 37"/>
          <p:cNvSpPr txBox="1"/>
          <p:nvPr/>
        </p:nvSpPr>
        <p:spPr>
          <a:xfrm>
            <a:off x="4041648"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40" name="Shape 38"/>
          <p:cNvSpPr/>
          <p:nvPr/>
        </p:nvSpPr>
        <p:spPr>
          <a:xfrm>
            <a:off x="5084064" y="1600200"/>
            <a:ext cx="1993392" cy="4526280"/>
          </a:xfrm>
          <a:prstGeom prst="roundRect">
            <a:avLst>
              <a:gd name="adj" fmla="val 5505"/>
            </a:avLst>
          </a:prstGeom>
          <a:solidFill>
            <a:srgbClr val="E9EEF4"/>
          </a:solidFill>
          <a:ln w="12700">
            <a:solidFill>
              <a:srgbClr val="D7DEE7"/>
            </a:solidFill>
            <a:prstDash val="solid"/>
          </a:ln>
        </p:spPr>
        <p:txBody>
          <a:bodyPr/>
          <a:lstStyle/>
          <a:p>
            <a:endParaRPr lang="en-US"/>
          </a:p>
        </p:txBody>
      </p:sp>
      <p:sp>
        <p:nvSpPr>
          <p:cNvPr id="41" name="Text 39"/>
          <p:cNvSpPr txBox="1"/>
          <p:nvPr/>
        </p:nvSpPr>
        <p:spPr>
          <a:xfrm>
            <a:off x="5084064" y="1783080"/>
            <a:ext cx="1993392" cy="32004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zeros(3)</a:t>
            </a:r>
            <a:endParaRPr lang="en-US" dirty="0"/>
          </a:p>
        </p:txBody>
      </p:sp>
      <p:sp>
        <p:nvSpPr>
          <p:cNvPr id="42" name="Shape 40"/>
          <p:cNvSpPr/>
          <p:nvPr/>
        </p:nvSpPr>
        <p:spPr>
          <a:xfrm>
            <a:off x="5394960" y="2377440"/>
            <a:ext cx="411480" cy="411480"/>
          </a:xfrm>
          <a:prstGeom prst="rect">
            <a:avLst/>
          </a:prstGeom>
          <a:solidFill>
            <a:srgbClr val="DCE6F0"/>
          </a:solidFill>
          <a:ln w="12700">
            <a:solidFill>
              <a:srgbClr val="1C7293"/>
            </a:solidFill>
            <a:prstDash val="solid"/>
          </a:ln>
        </p:spPr>
        <p:txBody>
          <a:bodyPr/>
          <a:lstStyle/>
          <a:p>
            <a:endParaRPr lang="en-US"/>
          </a:p>
        </p:txBody>
      </p:sp>
      <p:sp>
        <p:nvSpPr>
          <p:cNvPr id="43" name="Text 41"/>
          <p:cNvSpPr txBox="1"/>
          <p:nvPr/>
        </p:nvSpPr>
        <p:spPr>
          <a:xfrm>
            <a:off x="5394960"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44" name="Shape 42"/>
          <p:cNvSpPr/>
          <p:nvPr/>
        </p:nvSpPr>
        <p:spPr>
          <a:xfrm>
            <a:off x="5852160" y="2377440"/>
            <a:ext cx="411480" cy="411480"/>
          </a:xfrm>
          <a:prstGeom prst="rect">
            <a:avLst/>
          </a:prstGeom>
          <a:solidFill>
            <a:srgbClr val="DCE6F0"/>
          </a:solidFill>
          <a:ln w="12700">
            <a:solidFill>
              <a:srgbClr val="1C7293"/>
            </a:solidFill>
            <a:prstDash val="solid"/>
          </a:ln>
        </p:spPr>
        <p:txBody>
          <a:bodyPr/>
          <a:lstStyle/>
          <a:p>
            <a:endParaRPr lang="en-US"/>
          </a:p>
        </p:txBody>
      </p:sp>
      <p:sp>
        <p:nvSpPr>
          <p:cNvPr id="45" name="Text 43"/>
          <p:cNvSpPr txBox="1"/>
          <p:nvPr/>
        </p:nvSpPr>
        <p:spPr>
          <a:xfrm>
            <a:off x="5852160"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46" name="Shape 44"/>
          <p:cNvSpPr/>
          <p:nvPr/>
        </p:nvSpPr>
        <p:spPr>
          <a:xfrm>
            <a:off x="6309360" y="2377440"/>
            <a:ext cx="411480" cy="411480"/>
          </a:xfrm>
          <a:prstGeom prst="rect">
            <a:avLst/>
          </a:prstGeom>
          <a:solidFill>
            <a:srgbClr val="DCE6F0"/>
          </a:solidFill>
          <a:ln w="12700">
            <a:solidFill>
              <a:srgbClr val="1C7293"/>
            </a:solidFill>
            <a:prstDash val="solid"/>
          </a:ln>
        </p:spPr>
        <p:txBody>
          <a:bodyPr/>
          <a:lstStyle/>
          <a:p>
            <a:endParaRPr lang="en-US"/>
          </a:p>
        </p:txBody>
      </p:sp>
      <p:sp>
        <p:nvSpPr>
          <p:cNvPr id="47" name="Text 45"/>
          <p:cNvSpPr txBox="1"/>
          <p:nvPr/>
        </p:nvSpPr>
        <p:spPr>
          <a:xfrm>
            <a:off x="6309360"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48" name="Shape 46"/>
          <p:cNvSpPr/>
          <p:nvPr/>
        </p:nvSpPr>
        <p:spPr>
          <a:xfrm>
            <a:off x="5394960" y="2834640"/>
            <a:ext cx="411480" cy="411480"/>
          </a:xfrm>
          <a:prstGeom prst="rect">
            <a:avLst/>
          </a:prstGeom>
          <a:solidFill>
            <a:srgbClr val="DCE6F0"/>
          </a:solidFill>
          <a:ln w="12700">
            <a:solidFill>
              <a:srgbClr val="1C7293"/>
            </a:solidFill>
            <a:prstDash val="solid"/>
          </a:ln>
        </p:spPr>
        <p:txBody>
          <a:bodyPr/>
          <a:lstStyle/>
          <a:p>
            <a:endParaRPr lang="en-US"/>
          </a:p>
        </p:txBody>
      </p:sp>
      <p:sp>
        <p:nvSpPr>
          <p:cNvPr id="49" name="Text 47"/>
          <p:cNvSpPr txBox="1"/>
          <p:nvPr/>
        </p:nvSpPr>
        <p:spPr>
          <a:xfrm>
            <a:off x="5394960"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50" name="Shape 48"/>
          <p:cNvSpPr/>
          <p:nvPr/>
        </p:nvSpPr>
        <p:spPr>
          <a:xfrm>
            <a:off x="5852160" y="2834640"/>
            <a:ext cx="411480" cy="411480"/>
          </a:xfrm>
          <a:prstGeom prst="rect">
            <a:avLst/>
          </a:prstGeom>
          <a:solidFill>
            <a:srgbClr val="DCE6F0"/>
          </a:solidFill>
          <a:ln w="12700">
            <a:solidFill>
              <a:srgbClr val="1C7293"/>
            </a:solidFill>
            <a:prstDash val="solid"/>
          </a:ln>
        </p:spPr>
        <p:txBody>
          <a:bodyPr/>
          <a:lstStyle/>
          <a:p>
            <a:endParaRPr lang="en-US"/>
          </a:p>
        </p:txBody>
      </p:sp>
      <p:sp>
        <p:nvSpPr>
          <p:cNvPr id="51" name="Text 49"/>
          <p:cNvSpPr txBox="1"/>
          <p:nvPr/>
        </p:nvSpPr>
        <p:spPr>
          <a:xfrm>
            <a:off x="5852160"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52" name="Shape 50"/>
          <p:cNvSpPr/>
          <p:nvPr/>
        </p:nvSpPr>
        <p:spPr>
          <a:xfrm>
            <a:off x="6309360" y="2834640"/>
            <a:ext cx="411480" cy="411480"/>
          </a:xfrm>
          <a:prstGeom prst="rect">
            <a:avLst/>
          </a:prstGeom>
          <a:solidFill>
            <a:srgbClr val="DCE6F0"/>
          </a:solidFill>
          <a:ln w="12700">
            <a:solidFill>
              <a:srgbClr val="1C7293"/>
            </a:solidFill>
            <a:prstDash val="solid"/>
          </a:ln>
        </p:spPr>
        <p:txBody>
          <a:bodyPr/>
          <a:lstStyle/>
          <a:p>
            <a:endParaRPr lang="en-US"/>
          </a:p>
        </p:txBody>
      </p:sp>
      <p:sp>
        <p:nvSpPr>
          <p:cNvPr id="53" name="Text 51"/>
          <p:cNvSpPr txBox="1"/>
          <p:nvPr/>
        </p:nvSpPr>
        <p:spPr>
          <a:xfrm>
            <a:off x="6309360"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54" name="Shape 52"/>
          <p:cNvSpPr/>
          <p:nvPr/>
        </p:nvSpPr>
        <p:spPr>
          <a:xfrm>
            <a:off x="5394960" y="3291840"/>
            <a:ext cx="411480" cy="411480"/>
          </a:xfrm>
          <a:prstGeom prst="rect">
            <a:avLst/>
          </a:prstGeom>
          <a:solidFill>
            <a:srgbClr val="DCE6F0"/>
          </a:solidFill>
          <a:ln w="12700">
            <a:solidFill>
              <a:srgbClr val="1C7293"/>
            </a:solidFill>
            <a:prstDash val="solid"/>
          </a:ln>
        </p:spPr>
        <p:txBody>
          <a:bodyPr/>
          <a:lstStyle/>
          <a:p>
            <a:endParaRPr lang="en-US"/>
          </a:p>
        </p:txBody>
      </p:sp>
      <p:sp>
        <p:nvSpPr>
          <p:cNvPr id="55" name="Text 53"/>
          <p:cNvSpPr txBox="1"/>
          <p:nvPr/>
        </p:nvSpPr>
        <p:spPr>
          <a:xfrm>
            <a:off x="5394960"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56" name="Shape 54"/>
          <p:cNvSpPr/>
          <p:nvPr/>
        </p:nvSpPr>
        <p:spPr>
          <a:xfrm>
            <a:off x="5852160" y="3291840"/>
            <a:ext cx="411480" cy="411480"/>
          </a:xfrm>
          <a:prstGeom prst="rect">
            <a:avLst/>
          </a:prstGeom>
          <a:solidFill>
            <a:srgbClr val="DCE6F0"/>
          </a:solidFill>
          <a:ln w="12700">
            <a:solidFill>
              <a:srgbClr val="1C7293"/>
            </a:solidFill>
            <a:prstDash val="solid"/>
          </a:ln>
        </p:spPr>
        <p:txBody>
          <a:bodyPr/>
          <a:lstStyle/>
          <a:p>
            <a:endParaRPr lang="en-US"/>
          </a:p>
        </p:txBody>
      </p:sp>
      <p:sp>
        <p:nvSpPr>
          <p:cNvPr id="57" name="Text 55"/>
          <p:cNvSpPr txBox="1"/>
          <p:nvPr/>
        </p:nvSpPr>
        <p:spPr>
          <a:xfrm>
            <a:off x="5852160"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58" name="Shape 56"/>
          <p:cNvSpPr/>
          <p:nvPr/>
        </p:nvSpPr>
        <p:spPr>
          <a:xfrm>
            <a:off x="6309360" y="3291840"/>
            <a:ext cx="411480" cy="411480"/>
          </a:xfrm>
          <a:prstGeom prst="rect">
            <a:avLst/>
          </a:prstGeom>
          <a:solidFill>
            <a:srgbClr val="DCE6F0"/>
          </a:solidFill>
          <a:ln w="12700">
            <a:solidFill>
              <a:srgbClr val="1C7293"/>
            </a:solidFill>
            <a:prstDash val="solid"/>
          </a:ln>
        </p:spPr>
        <p:txBody>
          <a:bodyPr/>
          <a:lstStyle/>
          <a:p>
            <a:endParaRPr lang="en-US"/>
          </a:p>
        </p:txBody>
      </p:sp>
      <p:sp>
        <p:nvSpPr>
          <p:cNvPr id="59" name="Text 57"/>
          <p:cNvSpPr txBox="1"/>
          <p:nvPr/>
        </p:nvSpPr>
        <p:spPr>
          <a:xfrm>
            <a:off x="6309360"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60" name="Shape 58"/>
          <p:cNvSpPr/>
          <p:nvPr/>
        </p:nvSpPr>
        <p:spPr>
          <a:xfrm>
            <a:off x="7351776" y="1600200"/>
            <a:ext cx="1993392" cy="4526280"/>
          </a:xfrm>
          <a:prstGeom prst="roundRect">
            <a:avLst>
              <a:gd name="adj" fmla="val 5505"/>
            </a:avLst>
          </a:prstGeom>
          <a:solidFill>
            <a:srgbClr val="E9EEF4"/>
          </a:solidFill>
          <a:ln w="12700">
            <a:solidFill>
              <a:srgbClr val="D7DEE7"/>
            </a:solidFill>
            <a:prstDash val="solid"/>
          </a:ln>
        </p:spPr>
        <p:txBody>
          <a:bodyPr/>
          <a:lstStyle/>
          <a:p>
            <a:endParaRPr lang="en-US"/>
          </a:p>
        </p:txBody>
      </p:sp>
      <p:sp>
        <p:nvSpPr>
          <p:cNvPr id="61" name="Text 59"/>
          <p:cNvSpPr txBox="1"/>
          <p:nvPr/>
        </p:nvSpPr>
        <p:spPr>
          <a:xfrm>
            <a:off x="7351776" y="1783080"/>
            <a:ext cx="1993392" cy="32004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ones(3)</a:t>
            </a:r>
            <a:endParaRPr lang="en-US" dirty="0"/>
          </a:p>
        </p:txBody>
      </p:sp>
      <p:sp>
        <p:nvSpPr>
          <p:cNvPr id="62" name="Shape 60"/>
          <p:cNvSpPr/>
          <p:nvPr/>
        </p:nvSpPr>
        <p:spPr>
          <a:xfrm>
            <a:off x="7662672" y="2377440"/>
            <a:ext cx="411480" cy="411480"/>
          </a:xfrm>
          <a:prstGeom prst="rect">
            <a:avLst/>
          </a:prstGeom>
          <a:solidFill>
            <a:srgbClr val="F3E7C1"/>
          </a:solidFill>
          <a:ln w="12700">
            <a:solidFill>
              <a:srgbClr val="1C7293"/>
            </a:solidFill>
            <a:prstDash val="solid"/>
          </a:ln>
        </p:spPr>
        <p:txBody>
          <a:bodyPr/>
          <a:lstStyle/>
          <a:p>
            <a:endParaRPr lang="en-US"/>
          </a:p>
        </p:txBody>
      </p:sp>
      <p:sp>
        <p:nvSpPr>
          <p:cNvPr id="63" name="Text 61"/>
          <p:cNvSpPr txBox="1"/>
          <p:nvPr/>
        </p:nvSpPr>
        <p:spPr>
          <a:xfrm>
            <a:off x="7662672"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64" name="Shape 62"/>
          <p:cNvSpPr/>
          <p:nvPr/>
        </p:nvSpPr>
        <p:spPr>
          <a:xfrm>
            <a:off x="8119872" y="2377440"/>
            <a:ext cx="411480" cy="411480"/>
          </a:xfrm>
          <a:prstGeom prst="rect">
            <a:avLst/>
          </a:prstGeom>
          <a:solidFill>
            <a:srgbClr val="F3E7C1"/>
          </a:solidFill>
          <a:ln w="12700">
            <a:solidFill>
              <a:srgbClr val="1C7293"/>
            </a:solidFill>
            <a:prstDash val="solid"/>
          </a:ln>
        </p:spPr>
        <p:txBody>
          <a:bodyPr/>
          <a:lstStyle/>
          <a:p>
            <a:endParaRPr lang="en-US"/>
          </a:p>
        </p:txBody>
      </p:sp>
      <p:sp>
        <p:nvSpPr>
          <p:cNvPr id="65" name="Text 63"/>
          <p:cNvSpPr txBox="1"/>
          <p:nvPr/>
        </p:nvSpPr>
        <p:spPr>
          <a:xfrm>
            <a:off x="8119872"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66" name="Shape 64"/>
          <p:cNvSpPr/>
          <p:nvPr/>
        </p:nvSpPr>
        <p:spPr>
          <a:xfrm>
            <a:off x="8577072" y="2377440"/>
            <a:ext cx="411480" cy="411480"/>
          </a:xfrm>
          <a:prstGeom prst="rect">
            <a:avLst/>
          </a:prstGeom>
          <a:solidFill>
            <a:srgbClr val="F3E7C1"/>
          </a:solidFill>
          <a:ln w="12700">
            <a:solidFill>
              <a:srgbClr val="1C7293"/>
            </a:solidFill>
            <a:prstDash val="solid"/>
          </a:ln>
        </p:spPr>
        <p:txBody>
          <a:bodyPr/>
          <a:lstStyle/>
          <a:p>
            <a:endParaRPr lang="en-US"/>
          </a:p>
        </p:txBody>
      </p:sp>
      <p:sp>
        <p:nvSpPr>
          <p:cNvPr id="67" name="Text 65"/>
          <p:cNvSpPr txBox="1"/>
          <p:nvPr/>
        </p:nvSpPr>
        <p:spPr>
          <a:xfrm>
            <a:off x="8577072"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68" name="Shape 66"/>
          <p:cNvSpPr/>
          <p:nvPr/>
        </p:nvSpPr>
        <p:spPr>
          <a:xfrm>
            <a:off x="7662672" y="2834640"/>
            <a:ext cx="411480" cy="411480"/>
          </a:xfrm>
          <a:prstGeom prst="rect">
            <a:avLst/>
          </a:prstGeom>
          <a:solidFill>
            <a:srgbClr val="F3E7C1"/>
          </a:solidFill>
          <a:ln w="12700">
            <a:solidFill>
              <a:srgbClr val="1C7293"/>
            </a:solidFill>
            <a:prstDash val="solid"/>
          </a:ln>
        </p:spPr>
        <p:txBody>
          <a:bodyPr/>
          <a:lstStyle/>
          <a:p>
            <a:endParaRPr lang="en-US"/>
          </a:p>
        </p:txBody>
      </p:sp>
      <p:sp>
        <p:nvSpPr>
          <p:cNvPr id="69" name="Text 67"/>
          <p:cNvSpPr txBox="1"/>
          <p:nvPr/>
        </p:nvSpPr>
        <p:spPr>
          <a:xfrm>
            <a:off x="7662672"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70" name="Shape 68"/>
          <p:cNvSpPr/>
          <p:nvPr/>
        </p:nvSpPr>
        <p:spPr>
          <a:xfrm>
            <a:off x="8119872" y="2834640"/>
            <a:ext cx="411480" cy="411480"/>
          </a:xfrm>
          <a:prstGeom prst="rect">
            <a:avLst/>
          </a:prstGeom>
          <a:solidFill>
            <a:srgbClr val="F3E7C1"/>
          </a:solidFill>
          <a:ln w="12700">
            <a:solidFill>
              <a:srgbClr val="1C7293"/>
            </a:solidFill>
            <a:prstDash val="solid"/>
          </a:ln>
        </p:spPr>
        <p:txBody>
          <a:bodyPr/>
          <a:lstStyle/>
          <a:p>
            <a:endParaRPr lang="en-US"/>
          </a:p>
        </p:txBody>
      </p:sp>
      <p:sp>
        <p:nvSpPr>
          <p:cNvPr id="71" name="Text 69"/>
          <p:cNvSpPr txBox="1"/>
          <p:nvPr/>
        </p:nvSpPr>
        <p:spPr>
          <a:xfrm>
            <a:off x="8119872"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72" name="Shape 70"/>
          <p:cNvSpPr/>
          <p:nvPr/>
        </p:nvSpPr>
        <p:spPr>
          <a:xfrm>
            <a:off x="8577072" y="2834640"/>
            <a:ext cx="411480" cy="411480"/>
          </a:xfrm>
          <a:prstGeom prst="rect">
            <a:avLst/>
          </a:prstGeom>
          <a:solidFill>
            <a:srgbClr val="F3E7C1"/>
          </a:solidFill>
          <a:ln w="12700">
            <a:solidFill>
              <a:srgbClr val="1C7293"/>
            </a:solidFill>
            <a:prstDash val="solid"/>
          </a:ln>
        </p:spPr>
        <p:txBody>
          <a:bodyPr/>
          <a:lstStyle/>
          <a:p>
            <a:endParaRPr lang="en-US"/>
          </a:p>
        </p:txBody>
      </p:sp>
      <p:sp>
        <p:nvSpPr>
          <p:cNvPr id="73" name="Text 71"/>
          <p:cNvSpPr txBox="1"/>
          <p:nvPr/>
        </p:nvSpPr>
        <p:spPr>
          <a:xfrm>
            <a:off x="8577072"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74" name="Shape 72"/>
          <p:cNvSpPr/>
          <p:nvPr/>
        </p:nvSpPr>
        <p:spPr>
          <a:xfrm>
            <a:off x="7662672" y="3291840"/>
            <a:ext cx="411480" cy="411480"/>
          </a:xfrm>
          <a:prstGeom prst="rect">
            <a:avLst/>
          </a:prstGeom>
          <a:solidFill>
            <a:srgbClr val="F3E7C1"/>
          </a:solidFill>
          <a:ln w="12700">
            <a:solidFill>
              <a:srgbClr val="1C7293"/>
            </a:solidFill>
            <a:prstDash val="solid"/>
          </a:ln>
        </p:spPr>
        <p:txBody>
          <a:bodyPr/>
          <a:lstStyle/>
          <a:p>
            <a:endParaRPr lang="en-US"/>
          </a:p>
        </p:txBody>
      </p:sp>
      <p:sp>
        <p:nvSpPr>
          <p:cNvPr id="75" name="Text 73"/>
          <p:cNvSpPr txBox="1"/>
          <p:nvPr/>
        </p:nvSpPr>
        <p:spPr>
          <a:xfrm>
            <a:off x="7662672"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76" name="Shape 74"/>
          <p:cNvSpPr/>
          <p:nvPr/>
        </p:nvSpPr>
        <p:spPr>
          <a:xfrm>
            <a:off x="8119872" y="3291840"/>
            <a:ext cx="411480" cy="411480"/>
          </a:xfrm>
          <a:prstGeom prst="rect">
            <a:avLst/>
          </a:prstGeom>
          <a:solidFill>
            <a:srgbClr val="F3E7C1"/>
          </a:solidFill>
          <a:ln w="12700">
            <a:solidFill>
              <a:srgbClr val="1C7293"/>
            </a:solidFill>
            <a:prstDash val="solid"/>
          </a:ln>
        </p:spPr>
        <p:txBody>
          <a:bodyPr/>
          <a:lstStyle/>
          <a:p>
            <a:endParaRPr lang="en-US"/>
          </a:p>
        </p:txBody>
      </p:sp>
      <p:sp>
        <p:nvSpPr>
          <p:cNvPr id="77" name="Text 75"/>
          <p:cNvSpPr txBox="1"/>
          <p:nvPr/>
        </p:nvSpPr>
        <p:spPr>
          <a:xfrm>
            <a:off x="8119872"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78" name="Shape 76"/>
          <p:cNvSpPr/>
          <p:nvPr/>
        </p:nvSpPr>
        <p:spPr>
          <a:xfrm>
            <a:off x="8577072" y="3291840"/>
            <a:ext cx="411480" cy="411480"/>
          </a:xfrm>
          <a:prstGeom prst="rect">
            <a:avLst/>
          </a:prstGeom>
          <a:solidFill>
            <a:srgbClr val="F3E7C1"/>
          </a:solidFill>
          <a:ln w="12700">
            <a:solidFill>
              <a:srgbClr val="1C7293"/>
            </a:solidFill>
            <a:prstDash val="solid"/>
          </a:ln>
        </p:spPr>
        <p:txBody>
          <a:bodyPr/>
          <a:lstStyle/>
          <a:p>
            <a:endParaRPr lang="en-US"/>
          </a:p>
        </p:txBody>
      </p:sp>
      <p:sp>
        <p:nvSpPr>
          <p:cNvPr id="79" name="Text 77"/>
          <p:cNvSpPr txBox="1"/>
          <p:nvPr/>
        </p:nvSpPr>
        <p:spPr>
          <a:xfrm>
            <a:off x="8577072"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80" name="Shape 78"/>
          <p:cNvSpPr/>
          <p:nvPr/>
        </p:nvSpPr>
        <p:spPr>
          <a:xfrm>
            <a:off x="9619488" y="1600200"/>
            <a:ext cx="1993392" cy="4526280"/>
          </a:xfrm>
          <a:prstGeom prst="roundRect">
            <a:avLst>
              <a:gd name="adj" fmla="val 5505"/>
            </a:avLst>
          </a:prstGeom>
          <a:solidFill>
            <a:srgbClr val="E9EEF4"/>
          </a:solidFill>
          <a:ln w="12700">
            <a:solidFill>
              <a:srgbClr val="D7DEE7"/>
            </a:solidFill>
            <a:prstDash val="solid"/>
          </a:ln>
        </p:spPr>
        <p:txBody>
          <a:bodyPr/>
          <a:lstStyle/>
          <a:p>
            <a:endParaRPr lang="en-US"/>
          </a:p>
        </p:txBody>
      </p:sp>
      <p:sp>
        <p:nvSpPr>
          <p:cNvPr id="81" name="Text 79"/>
          <p:cNvSpPr txBox="1"/>
          <p:nvPr/>
        </p:nvSpPr>
        <p:spPr>
          <a:xfrm>
            <a:off x="9619488" y="1783080"/>
            <a:ext cx="1993392" cy="32004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diag([1 2 3])</a:t>
            </a:r>
            <a:endParaRPr lang="en-US" dirty="0"/>
          </a:p>
        </p:txBody>
      </p:sp>
      <p:sp>
        <p:nvSpPr>
          <p:cNvPr id="82" name="Shape 80"/>
          <p:cNvSpPr/>
          <p:nvPr/>
        </p:nvSpPr>
        <p:spPr>
          <a:xfrm>
            <a:off x="9930384" y="2377440"/>
            <a:ext cx="411480" cy="411480"/>
          </a:xfrm>
          <a:prstGeom prst="rect">
            <a:avLst/>
          </a:prstGeom>
          <a:solidFill>
            <a:srgbClr val="F3E7C1"/>
          </a:solidFill>
          <a:ln w="12700">
            <a:solidFill>
              <a:srgbClr val="1C7293"/>
            </a:solidFill>
            <a:prstDash val="solid"/>
          </a:ln>
        </p:spPr>
        <p:txBody>
          <a:bodyPr/>
          <a:lstStyle/>
          <a:p>
            <a:endParaRPr lang="en-US"/>
          </a:p>
        </p:txBody>
      </p:sp>
      <p:sp>
        <p:nvSpPr>
          <p:cNvPr id="83" name="Text 81"/>
          <p:cNvSpPr txBox="1"/>
          <p:nvPr/>
        </p:nvSpPr>
        <p:spPr>
          <a:xfrm>
            <a:off x="9930384"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1</a:t>
            </a:r>
            <a:endParaRPr lang="en-US" dirty="0"/>
          </a:p>
        </p:txBody>
      </p:sp>
      <p:sp>
        <p:nvSpPr>
          <p:cNvPr id="84" name="Shape 82"/>
          <p:cNvSpPr/>
          <p:nvPr/>
        </p:nvSpPr>
        <p:spPr>
          <a:xfrm>
            <a:off x="10387584" y="2377440"/>
            <a:ext cx="411480" cy="411480"/>
          </a:xfrm>
          <a:prstGeom prst="rect">
            <a:avLst/>
          </a:prstGeom>
          <a:solidFill>
            <a:srgbClr val="DCE6F0"/>
          </a:solidFill>
          <a:ln w="12700">
            <a:solidFill>
              <a:srgbClr val="1C7293"/>
            </a:solidFill>
            <a:prstDash val="solid"/>
          </a:ln>
        </p:spPr>
        <p:txBody>
          <a:bodyPr/>
          <a:lstStyle/>
          <a:p>
            <a:endParaRPr lang="en-US"/>
          </a:p>
        </p:txBody>
      </p:sp>
      <p:sp>
        <p:nvSpPr>
          <p:cNvPr id="85" name="Text 83"/>
          <p:cNvSpPr txBox="1"/>
          <p:nvPr/>
        </p:nvSpPr>
        <p:spPr>
          <a:xfrm>
            <a:off x="10387584"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86" name="Shape 84"/>
          <p:cNvSpPr/>
          <p:nvPr/>
        </p:nvSpPr>
        <p:spPr>
          <a:xfrm>
            <a:off x="10844784" y="2377440"/>
            <a:ext cx="411480" cy="411480"/>
          </a:xfrm>
          <a:prstGeom prst="rect">
            <a:avLst/>
          </a:prstGeom>
          <a:solidFill>
            <a:srgbClr val="DCE6F0"/>
          </a:solidFill>
          <a:ln w="12700">
            <a:solidFill>
              <a:srgbClr val="1C7293"/>
            </a:solidFill>
            <a:prstDash val="solid"/>
          </a:ln>
        </p:spPr>
        <p:txBody>
          <a:bodyPr/>
          <a:lstStyle/>
          <a:p>
            <a:endParaRPr lang="en-US"/>
          </a:p>
        </p:txBody>
      </p:sp>
      <p:sp>
        <p:nvSpPr>
          <p:cNvPr id="87" name="Text 85"/>
          <p:cNvSpPr txBox="1"/>
          <p:nvPr/>
        </p:nvSpPr>
        <p:spPr>
          <a:xfrm>
            <a:off x="10844784" y="23774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88" name="Shape 86"/>
          <p:cNvSpPr/>
          <p:nvPr/>
        </p:nvSpPr>
        <p:spPr>
          <a:xfrm>
            <a:off x="9930384" y="2834640"/>
            <a:ext cx="411480" cy="411480"/>
          </a:xfrm>
          <a:prstGeom prst="rect">
            <a:avLst/>
          </a:prstGeom>
          <a:solidFill>
            <a:srgbClr val="DCE6F0"/>
          </a:solidFill>
          <a:ln w="12700">
            <a:solidFill>
              <a:srgbClr val="1C7293"/>
            </a:solidFill>
            <a:prstDash val="solid"/>
          </a:ln>
        </p:spPr>
        <p:txBody>
          <a:bodyPr/>
          <a:lstStyle/>
          <a:p>
            <a:endParaRPr lang="en-US"/>
          </a:p>
        </p:txBody>
      </p:sp>
      <p:sp>
        <p:nvSpPr>
          <p:cNvPr id="89" name="Text 87"/>
          <p:cNvSpPr txBox="1"/>
          <p:nvPr/>
        </p:nvSpPr>
        <p:spPr>
          <a:xfrm>
            <a:off x="9930384"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90" name="Shape 88"/>
          <p:cNvSpPr/>
          <p:nvPr/>
        </p:nvSpPr>
        <p:spPr>
          <a:xfrm>
            <a:off x="10387584" y="2834640"/>
            <a:ext cx="411480" cy="411480"/>
          </a:xfrm>
          <a:prstGeom prst="rect">
            <a:avLst/>
          </a:prstGeom>
          <a:solidFill>
            <a:srgbClr val="F3E7C1"/>
          </a:solidFill>
          <a:ln w="12700">
            <a:solidFill>
              <a:srgbClr val="1C7293"/>
            </a:solidFill>
            <a:prstDash val="solid"/>
          </a:ln>
        </p:spPr>
        <p:txBody>
          <a:bodyPr/>
          <a:lstStyle/>
          <a:p>
            <a:endParaRPr lang="en-US"/>
          </a:p>
        </p:txBody>
      </p:sp>
      <p:sp>
        <p:nvSpPr>
          <p:cNvPr id="91" name="Text 89"/>
          <p:cNvSpPr txBox="1"/>
          <p:nvPr/>
        </p:nvSpPr>
        <p:spPr>
          <a:xfrm>
            <a:off x="10387584"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2</a:t>
            </a:r>
            <a:endParaRPr lang="en-US" dirty="0"/>
          </a:p>
        </p:txBody>
      </p:sp>
      <p:sp>
        <p:nvSpPr>
          <p:cNvPr id="92" name="Shape 90"/>
          <p:cNvSpPr/>
          <p:nvPr/>
        </p:nvSpPr>
        <p:spPr>
          <a:xfrm>
            <a:off x="10844784" y="2834640"/>
            <a:ext cx="411480" cy="411480"/>
          </a:xfrm>
          <a:prstGeom prst="rect">
            <a:avLst/>
          </a:prstGeom>
          <a:solidFill>
            <a:srgbClr val="DCE6F0"/>
          </a:solidFill>
          <a:ln w="12700">
            <a:solidFill>
              <a:srgbClr val="1C7293"/>
            </a:solidFill>
            <a:prstDash val="solid"/>
          </a:ln>
        </p:spPr>
        <p:txBody>
          <a:bodyPr/>
          <a:lstStyle/>
          <a:p>
            <a:endParaRPr lang="en-US"/>
          </a:p>
        </p:txBody>
      </p:sp>
      <p:sp>
        <p:nvSpPr>
          <p:cNvPr id="93" name="Text 91"/>
          <p:cNvSpPr txBox="1"/>
          <p:nvPr/>
        </p:nvSpPr>
        <p:spPr>
          <a:xfrm>
            <a:off x="10844784" y="28346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94" name="Shape 92"/>
          <p:cNvSpPr/>
          <p:nvPr/>
        </p:nvSpPr>
        <p:spPr>
          <a:xfrm>
            <a:off x="9930384" y="3291840"/>
            <a:ext cx="411480" cy="411480"/>
          </a:xfrm>
          <a:prstGeom prst="rect">
            <a:avLst/>
          </a:prstGeom>
          <a:solidFill>
            <a:srgbClr val="DCE6F0"/>
          </a:solidFill>
          <a:ln w="12700">
            <a:solidFill>
              <a:srgbClr val="1C7293"/>
            </a:solidFill>
            <a:prstDash val="solid"/>
          </a:ln>
        </p:spPr>
        <p:txBody>
          <a:bodyPr/>
          <a:lstStyle/>
          <a:p>
            <a:endParaRPr lang="en-US"/>
          </a:p>
        </p:txBody>
      </p:sp>
      <p:sp>
        <p:nvSpPr>
          <p:cNvPr id="95" name="Text 93"/>
          <p:cNvSpPr txBox="1"/>
          <p:nvPr/>
        </p:nvSpPr>
        <p:spPr>
          <a:xfrm>
            <a:off x="9930384"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96" name="Shape 94"/>
          <p:cNvSpPr/>
          <p:nvPr/>
        </p:nvSpPr>
        <p:spPr>
          <a:xfrm>
            <a:off x="10387584" y="3291840"/>
            <a:ext cx="411480" cy="411480"/>
          </a:xfrm>
          <a:prstGeom prst="rect">
            <a:avLst/>
          </a:prstGeom>
          <a:solidFill>
            <a:srgbClr val="DCE6F0"/>
          </a:solidFill>
          <a:ln w="12700">
            <a:solidFill>
              <a:srgbClr val="1C7293"/>
            </a:solidFill>
            <a:prstDash val="solid"/>
          </a:ln>
        </p:spPr>
        <p:txBody>
          <a:bodyPr/>
          <a:lstStyle/>
          <a:p>
            <a:endParaRPr lang="en-US"/>
          </a:p>
        </p:txBody>
      </p:sp>
      <p:sp>
        <p:nvSpPr>
          <p:cNvPr id="97" name="Text 95"/>
          <p:cNvSpPr txBox="1"/>
          <p:nvPr/>
        </p:nvSpPr>
        <p:spPr>
          <a:xfrm>
            <a:off x="10387584"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0</a:t>
            </a:r>
            <a:endParaRPr lang="en-US" dirty="0"/>
          </a:p>
        </p:txBody>
      </p:sp>
      <p:sp>
        <p:nvSpPr>
          <p:cNvPr id="98" name="Shape 96"/>
          <p:cNvSpPr/>
          <p:nvPr/>
        </p:nvSpPr>
        <p:spPr>
          <a:xfrm>
            <a:off x="10844784" y="3291840"/>
            <a:ext cx="411480" cy="411480"/>
          </a:xfrm>
          <a:prstGeom prst="rect">
            <a:avLst/>
          </a:prstGeom>
          <a:solidFill>
            <a:srgbClr val="F3E7C1"/>
          </a:solidFill>
          <a:ln w="12700">
            <a:solidFill>
              <a:srgbClr val="1C7293"/>
            </a:solidFill>
            <a:prstDash val="solid"/>
          </a:ln>
        </p:spPr>
        <p:txBody>
          <a:bodyPr/>
          <a:lstStyle/>
          <a:p>
            <a:endParaRPr lang="en-US"/>
          </a:p>
        </p:txBody>
      </p:sp>
      <p:sp>
        <p:nvSpPr>
          <p:cNvPr id="99" name="Text 97"/>
          <p:cNvSpPr txBox="1"/>
          <p:nvPr/>
        </p:nvSpPr>
        <p:spPr>
          <a:xfrm>
            <a:off x="10844784" y="3291840"/>
            <a:ext cx="411480" cy="411480"/>
          </a:xfrm>
          <a:prstGeom prst="rect">
            <a:avLst/>
          </a:prstGeom>
          <a:noFill/>
          <a:ln/>
        </p:spPr>
        <p:txBody>
          <a:bodyPr wrap="square" lIns="0" tIns="0" rIns="0" bIns="0" rtlCol="0" anchor="ctr"/>
          <a:lstStyle/>
          <a:p>
            <a:pPr marL="0" indent="0" algn="ctr">
              <a:buNone/>
            </a:pPr>
            <a:r>
              <a:rPr lang="en-US" b="1" dirty="0">
                <a:solidFill>
                  <a:srgbClr val="0B2545"/>
                </a:solidFill>
                <a:latin typeface="Courier New" pitchFamily="34" charset="0"/>
                <a:ea typeface="Courier New" pitchFamily="34" charset="-122"/>
                <a:cs typeface="Courier New" pitchFamily="34" charset="-120"/>
              </a:rPr>
              <a:t>3</a:t>
            </a:r>
            <a:endParaRPr lang="en-US" dirty="0"/>
          </a:p>
        </p:txBody>
      </p:sp>
      <p:sp>
        <p:nvSpPr>
          <p:cNvPr id="100" name="Text 98"/>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1" name="Text 99"/>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2545"/>
        </a:solidFill>
        <a:effectLst/>
      </p:bgPr>
    </p:bg>
    <p:spTree>
      <p:nvGrpSpPr>
        <p:cNvPr id="1" name=""/>
        <p:cNvGrpSpPr/>
        <p:nvPr/>
      </p:nvGrpSpPr>
      <p:grpSpPr>
        <a:xfrm>
          <a:off x="0" y="0"/>
          <a:ext cx="0" cy="0"/>
          <a:chOff x="0" y="0"/>
          <a:chExt cx="0" cy="0"/>
        </a:xfrm>
      </p:grpSpPr>
      <p:sp>
        <p:nvSpPr>
          <p:cNvPr id="2" name="Shape 0"/>
          <p:cNvSpPr/>
          <p:nvPr/>
        </p:nvSpPr>
        <p:spPr>
          <a:xfrm>
            <a:off x="10134295" y="365760"/>
            <a:ext cx="1508760" cy="365760"/>
          </a:xfrm>
          <a:prstGeom prst="roundRect">
            <a:avLst>
              <a:gd name="adj" fmla="val 50000"/>
            </a:avLst>
          </a:prstGeom>
          <a:solidFill>
            <a:srgbClr val="12335A"/>
          </a:solidFill>
          <a:ln w="12700">
            <a:solidFill>
              <a:srgbClr val="C9A227"/>
            </a:solidFill>
            <a:prstDash val="solid"/>
          </a:ln>
        </p:spPr>
        <p:txBody>
          <a:bodyPr/>
          <a:lstStyle/>
          <a:p>
            <a:endParaRPr lang="en-US"/>
          </a:p>
        </p:txBody>
      </p:sp>
      <p:sp>
        <p:nvSpPr>
          <p:cNvPr id="3" name="Text 1"/>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C9A227"/>
                </a:solidFill>
                <a:latin typeface="Calibri" pitchFamily="34" charset="0"/>
                <a:ea typeface="Calibri" pitchFamily="34" charset="-122"/>
                <a:cs typeface="Calibri" pitchFamily="34" charset="-120"/>
              </a:rPr>
              <a:t>⏱  3:30 PM</a:t>
            </a:r>
            <a:endParaRPr lang="en-US" sz="1150" dirty="0"/>
          </a:p>
        </p:txBody>
      </p:sp>
      <p:sp>
        <p:nvSpPr>
          <p:cNvPr id="4" name="Text 2"/>
          <p:cNvSpPr txBox="1"/>
          <p:nvPr/>
        </p:nvSpPr>
        <p:spPr>
          <a:xfrm>
            <a:off x="0" y="1920240"/>
            <a:ext cx="12191695" cy="1280160"/>
          </a:xfrm>
          <a:prstGeom prst="rect">
            <a:avLst/>
          </a:prstGeom>
          <a:noFill/>
          <a:ln/>
        </p:spPr>
        <p:txBody>
          <a:bodyPr wrap="square" lIns="0" tIns="0" rIns="0" bIns="0" rtlCol="0" anchor="ctr"/>
          <a:lstStyle/>
          <a:p>
            <a:pPr marL="0" indent="0" algn="ctr">
              <a:buNone/>
            </a:pPr>
            <a:r>
              <a:rPr lang="en-US" sz="6000" dirty="0">
                <a:solidFill>
                  <a:srgbClr val="C9A227"/>
                </a:solidFill>
                <a:latin typeface="Calibri" pitchFamily="34" charset="0"/>
                <a:ea typeface="Calibri" pitchFamily="34" charset="-122"/>
                <a:cs typeface="Calibri" pitchFamily="34" charset="-120"/>
              </a:rPr>
              <a:t>☕</a:t>
            </a:r>
            <a:endParaRPr lang="en-US" sz="6000" dirty="0"/>
          </a:p>
        </p:txBody>
      </p:sp>
      <p:sp>
        <p:nvSpPr>
          <p:cNvPr id="5" name="Text 3"/>
          <p:cNvSpPr txBox="1"/>
          <p:nvPr/>
        </p:nvSpPr>
        <p:spPr>
          <a:xfrm>
            <a:off x="0" y="3246120"/>
            <a:ext cx="12191695" cy="640080"/>
          </a:xfrm>
          <a:prstGeom prst="rect">
            <a:avLst/>
          </a:prstGeom>
          <a:noFill/>
          <a:ln/>
        </p:spPr>
        <p:txBody>
          <a:bodyPr wrap="square" lIns="0" tIns="0" rIns="0" bIns="0"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10-MINUTE BREAK</a:t>
            </a:r>
            <a:endParaRPr lang="en-US" sz="3400" dirty="0"/>
          </a:p>
        </p:txBody>
      </p:sp>
      <p:sp>
        <p:nvSpPr>
          <p:cNvPr id="6" name="Text 4"/>
          <p:cNvSpPr txBox="1"/>
          <p:nvPr/>
        </p:nvSpPr>
        <p:spPr>
          <a:xfrm>
            <a:off x="0" y="3931920"/>
            <a:ext cx="12191695" cy="457200"/>
          </a:xfrm>
          <a:prstGeom prst="rect">
            <a:avLst/>
          </a:prstGeom>
          <a:noFill/>
          <a:ln/>
        </p:spPr>
        <p:txBody>
          <a:bodyPr wrap="square" lIns="0" tIns="0" rIns="0" bIns="0" rtlCol="0" anchor="ctr"/>
          <a:lstStyle/>
          <a:p>
            <a:pPr marL="0" indent="0" algn="ctr">
              <a:buNone/>
            </a:pPr>
            <a:r>
              <a:rPr lang="en-US" sz="1500" i="1" dirty="0">
                <a:solidFill>
                  <a:srgbClr val="C7D4E3"/>
                </a:solidFill>
                <a:latin typeface="Calibri" pitchFamily="34" charset="0"/>
                <a:ea typeface="Calibri" pitchFamily="34" charset="-122"/>
                <a:cs typeface="Calibri" pitchFamily="34" charset="-120"/>
              </a:rPr>
              <a:t>Back at 3:40 PM — we'll pick up with determinants, inverses &amp; solving systems</a:t>
            </a:r>
            <a:endParaRPr lang="en-US" sz="1500" dirty="0"/>
          </a:p>
        </p:txBody>
      </p:sp>
      <p:sp>
        <p:nvSpPr>
          <p:cNvPr id="7" name="Text 5"/>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8" name="Text 6"/>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Determinant &amp; Inverse</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3:40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det(A) — a single number describing a square matrix</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For 2×2 [a b; c d]: det(A) = ad − bc</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det(A) = 0 means A is singular (no inverse exists)</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inv(A) — the matrix inverse, only for square, non-singular A</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 * inv(A) = the identity matrix</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[4 7; 2 6];</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det(A)</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4*6 - 7*2 = 10</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inv(A)</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[0.6 -0.7; -0.2 0.4]</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inv(A)  % identity matrix</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Solving Linear Systems with the Backslash</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3:44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Ax = b  →  solve for x with x = A\b</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Backslash is more accurate and efficient than inv(A)*b</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Works even when inv(A) would be numerically unstable</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x + 2y = 5</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3x -  y = 1</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A = [1 2; 3 -1];</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b = [5; 1];</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x = A \ b</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  % [1; 2]  -&gt;  x=1, y=2</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FROM THE TEXTBOOK — PRACTICE</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Working Practice: Array vs. Matrix Mult. by Hand</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3:48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Attaway, Ch. 2, Practice 2.5</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 and B are the same size AND square</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So both A.*B and A*B (and B*A) are legal to compute</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Work them out by hand first, then verify in MATLAB</a:t>
            </a:r>
            <a:endParaRPr lang="en-US" sz="2000" dirty="0"/>
          </a:p>
        </p:txBody>
      </p:sp>
      <p:sp>
        <p:nvSpPr>
          <p:cNvPr id="7" name="Shape 5"/>
          <p:cNvSpPr/>
          <p:nvPr/>
        </p:nvSpPr>
        <p:spPr>
          <a:xfrm>
            <a:off x="6903720" y="1600200"/>
            <a:ext cx="4709160" cy="4526280"/>
          </a:xfrm>
          <a:prstGeom prst="roundRect">
            <a:avLst>
              <a:gd name="adj" fmla="val 2424"/>
            </a:avLst>
          </a:prstGeom>
          <a:solidFill>
            <a:srgbClr val="E9EEF4"/>
          </a:solidFill>
          <a:ln w="12700">
            <a:solidFill>
              <a:srgbClr val="D7DEE7"/>
            </a:solidFill>
            <a:prstDash val="solid"/>
          </a:ln>
        </p:spPr>
        <p:txBody>
          <a:bodyPr/>
          <a:lstStyle/>
          <a:p>
            <a:endParaRPr lang="en-US"/>
          </a:p>
        </p:txBody>
      </p:sp>
      <p:sp>
        <p:nvSpPr>
          <p:cNvPr id="8" name="Text 6"/>
          <p:cNvSpPr txBox="1"/>
          <p:nvPr/>
        </p:nvSpPr>
        <p:spPr>
          <a:xfrm>
            <a:off x="7178040" y="1874520"/>
            <a:ext cx="4160520" cy="365760"/>
          </a:xfrm>
          <a:prstGeom prst="rect">
            <a:avLst/>
          </a:prstGeom>
          <a:noFill/>
          <a:ln/>
        </p:spPr>
        <p:txBody>
          <a:bodyPr wrap="square" lIns="0" tIns="0" rIns="0" bIns="0" rtlCol="0" anchor="ctr"/>
          <a:lstStyle/>
          <a:p>
            <a:pPr marL="0" indent="0">
              <a:buNone/>
            </a:pPr>
            <a:r>
              <a:rPr lang="en-US" sz="1350" b="1" dirty="0">
                <a:solidFill>
                  <a:srgbClr val="0B2545"/>
                </a:solidFill>
                <a:latin typeface="Courier New" pitchFamily="34" charset="0"/>
                <a:ea typeface="Courier New" pitchFamily="34" charset="-122"/>
                <a:cs typeface="Courier New" pitchFamily="34" charset="-120"/>
              </a:rPr>
              <a:t>A = [1 4; 3 3]      B = [-2 -1; 1 2]</a:t>
            </a:r>
            <a:endParaRPr lang="en-US" sz="1350" dirty="0"/>
          </a:p>
        </p:txBody>
      </p:sp>
      <p:sp>
        <p:nvSpPr>
          <p:cNvPr id="9" name="Shape 7"/>
          <p:cNvSpPr/>
          <p:nvPr/>
        </p:nvSpPr>
        <p:spPr>
          <a:xfrm>
            <a:off x="7086600" y="2377440"/>
            <a:ext cx="4343400" cy="3474720"/>
          </a:xfrm>
          <a:prstGeom prst="roundRect">
            <a:avLst>
              <a:gd name="adj" fmla="val 3158"/>
            </a:avLst>
          </a:prstGeom>
          <a:solidFill>
            <a:srgbClr val="071A33"/>
          </a:solidFill>
          <a:ln w="12700">
            <a:solidFill>
              <a:srgbClr val="D7DEE7"/>
            </a:solidFill>
            <a:prstDash val="solid"/>
          </a:ln>
        </p:spPr>
        <p:txBody>
          <a:bodyPr/>
          <a:lstStyle/>
          <a:p>
            <a:endParaRPr lang="en-US"/>
          </a:p>
        </p:txBody>
      </p:sp>
      <p:sp>
        <p:nvSpPr>
          <p:cNvPr id="10" name="Text 8"/>
          <p:cNvSpPr txBox="1"/>
          <p:nvPr/>
        </p:nvSpPr>
        <p:spPr>
          <a:xfrm>
            <a:off x="7315200" y="2560320"/>
            <a:ext cx="3886200" cy="3108960"/>
          </a:xfrm>
          <a:prstGeom prst="rect">
            <a:avLst/>
          </a:prstGeom>
          <a:noFill/>
          <a:ln/>
        </p:spPr>
        <p:txBody>
          <a:bodyPr wrap="square" lIns="0" tIns="0" rIns="0" bIns="0" rtlCol="0" anchor="t"/>
          <a:lstStyle/>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A .* B   % element-wise, by hand:</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  % [1*-2 4*-1; 3*1 3*2] = [-2 -4; 3 6]</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A * B    % matrix mult, by hand:</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  % [1*-2+4*1  1*-1+4*2 ; 3*-2+3*1  3*-1+3*2]</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  %  = [2 7; -3 3]</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B * A    % try it — does B*A = A*B ?</a:t>
            </a:r>
            <a:endParaRPr lang="en-US" sz="1400" dirty="0"/>
          </a:p>
        </p:txBody>
      </p:sp>
      <p:sp>
        <p:nvSpPr>
          <p:cNvPr id="11" name="Text 9"/>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2" name="Text 10"/>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FROM THE TEXTBOOK — EXERCISE 45</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Tricky Practice: Which Multiplications Are Even Valid?</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3:52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Attaway, Ch. 2, End-of-Chapter Exercise 45</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Given A (2×2), B (3×2), C (2×2) — check dimensions first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3*A is always valid (scalar × matrix)</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A*C is valid: A is 2×2, C is 2×2 → inner dims match</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The 'trick': is B*A or A*B also valid? Check inner dims!</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A = [1 4; 3 2];      % 2x2</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B = [2 1; 3 5; 6 0]; % 3x2 &lt;- not square!</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C = [3 2; 4 1];      % 2x2</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3*A        % OK  -&gt; 2x2</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A*C        % OK  -&gt; 2x2 (cols A=2 = rows C=2)</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B*A        % OK  -&gt; 3x2 (cols B=2 = rows A=2)</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A*B        % ERROR: cols A=2, rows B=3  (mismatch)</a:t>
            </a:r>
            <a:endParaRPr lang="en-US" sz="14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GEOPHYSICS APPLICATION</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Merging Multiple Borehole &amp; Station Datasets</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3:57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Each survey station produces its own small matrix</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Stack matching-column datasets with vertcat / [A;B]</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Builds one master dataset from many field stations</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 [depth, gravity] per station</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station1 = [120 5.2; 125 5.4; 130 5.1];</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station2 = [200 4.8; 205 4.9];</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all_stations = [station1; station2];</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  % combined 5x2 survey dataset</a:t>
            </a:r>
            <a:endParaRPr lang="en-US" sz="14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GEOPHYSICS APPLICATION</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Combining Gravity &amp; Magnetic Readings</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4:02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Two same-size vectors: one per instrument, per station</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Element-wise operations combine them per station</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Example: total field magnitude from two components</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gravity  = [5.2 5.4 5.1 4.8 4.9];</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magnetic = [40.1 40.5 40.3 39.8 40.0];</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total_field = ...</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    sqrt(gravity.^2 + magnetic.^2);</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  % element-wise per station</a:t>
            </a:r>
            <a:endParaRPr lang="en-US" sz="14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FROM THE TEXTBOOK — EXERCISE 44</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Enjoyable Practice: Instrument Calibration by Array Math</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4:07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Attaway, Ch. 2, End-of-Chapter Exercise 44 (adapted)</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8 repeated field measurements of radius r and height h</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Volume of a cylinder: V = π·r²·h  (element-wise, no loop!)</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First validate: keep only measurements where r &gt; 0 and h &gt; 0</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Combines Week 2's logical indexing with this week's .^ / .*</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r = [5.499 5.498 5.5 5.5 5.52 5.51 5.5 5.48];</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h = [11.1 11.12 11.09 11.11 11.11 11.1 11.08 11.11];</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valid = (r &gt; 0) &amp; (h &gt; 0);   % logical indexing</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r = r(valid);  h = h(valid);</a:t>
            </a:r>
            <a:endParaRPr lang="en-US" sz="1600" dirty="0"/>
          </a:p>
          <a:p>
            <a:pPr marL="0" indent="0">
              <a:spcAft>
                <a:spcPts val="400"/>
              </a:spcAft>
              <a:buNone/>
            </a:pP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V = pi * r.^2 .* h;   % element-wise, one line</a:t>
            </a:r>
            <a:endParaRPr lang="en-US" sz="1600" dirty="0"/>
          </a:p>
          <a:p>
            <a:pPr marL="0" indent="0">
              <a:spcAft>
                <a:spcPts val="400"/>
              </a:spcAft>
              <a:buNone/>
            </a:pPr>
            <a:r>
              <a:rPr lang="en-US" sz="1600" dirty="0">
                <a:solidFill>
                  <a:srgbClr val="D8E6F2"/>
                </a:solidFill>
                <a:latin typeface="Courier New" pitchFamily="34" charset="0"/>
                <a:ea typeface="Courier New" pitchFamily="34" charset="-122"/>
                <a:cs typeface="Courier New" pitchFamily="34" charset="-120"/>
              </a:rPr>
              <a:t>mean(V)               % average calibrated volume</a:t>
            </a:r>
            <a:endParaRPr lang="en-US" sz="16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HANDS-ON LAB</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Lab 1: Concatenating Station Datasets</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4:11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Create two station matrices with matching columns</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Vertically concatenate them into one master dataset</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Verify the combined size with size()</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clc; clear;</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stationA = [10 2.1; 20 2.3; 30 2.0];</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stationB = [40 1.9; 50 2.2];</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survey = [stationA; stationB]</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[rows, cols] = size(survey)</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  % rows = 5, cols = 2</a:t>
            </a:r>
            <a:endParaRPr lang="en-US" sz="14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HANDS-ON LAB</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Lab 2: Element-Wise Operations Practice</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4:15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Given two equal-length reading vectors</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Compute their element-wise product and ratio</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Compute the element-wise squared difference</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clc; clear;</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g = [5.2 5.4 5.1 4.8];</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m = [40.1 40.5 40.3 39.8];</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prod_gm = g .* m</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ratio_gm = g ./ m</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sq_diff = (g - m).^2</a:t>
            </a:r>
            <a:endParaRPr lang="en-US" sz="14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HANDS-ON LAB</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0B2545"/>
                </a:solidFill>
                <a:latin typeface="Cambria" pitchFamily="34" charset="0"/>
                <a:ea typeface="Cambria" pitchFamily="34" charset="-122"/>
                <a:cs typeface="Cambria" pitchFamily="34" charset="-120"/>
              </a:rPr>
              <a:t>Lab 3: Matrix Algebra Practice</a:t>
            </a:r>
            <a:endParaRPr lang="en-US" sz="2800" dirty="0"/>
          </a:p>
        </p:txBody>
      </p:sp>
      <p:sp>
        <p:nvSpPr>
          <p:cNvPr id="4" name="Shape 2"/>
          <p:cNvSpPr/>
          <p:nvPr/>
        </p:nvSpPr>
        <p:spPr>
          <a:xfrm>
            <a:off x="10134295" y="365760"/>
            <a:ext cx="1508760" cy="365760"/>
          </a:xfrm>
          <a:prstGeom prst="roundRect">
            <a:avLst>
              <a:gd name="adj" fmla="val 50000"/>
            </a:avLst>
          </a:prstGeom>
          <a:solidFill>
            <a:srgbClr val="E9EEF4"/>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0B2545"/>
                </a:solidFill>
                <a:latin typeface="Calibri" pitchFamily="34" charset="0"/>
                <a:ea typeface="Calibri" pitchFamily="34" charset="-122"/>
                <a:cs typeface="Calibri" pitchFamily="34" charset="-120"/>
              </a:rPr>
              <a:t>⏱  4:19 PM</a:t>
            </a:r>
            <a:endParaRPr lang="en-US" sz="1150" dirty="0"/>
          </a:p>
        </p:txBody>
      </p:sp>
      <p:sp>
        <p:nvSpPr>
          <p:cNvPr id="6" name="Text 4"/>
          <p:cNvSpPr txBox="1"/>
          <p:nvPr/>
        </p:nvSpPr>
        <p:spPr>
          <a:xfrm>
            <a:off x="548640" y="1600200"/>
            <a:ext cx="6035040" cy="4526280"/>
          </a:xfrm>
          <a:prstGeom prst="rect">
            <a:avLst/>
          </a:prstGeom>
          <a:noFill/>
          <a:ln/>
        </p:spPr>
        <p:txBody>
          <a:bodyPr wrap="square" lIns="0" tIns="0" rIns="0" bIns="0" rtlCol="0" anchor="t"/>
          <a:lstStyle/>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Build a 3x3 identity and a diagonal matrix</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Compute determinant &amp; inverse of a 2x2 matrix</a:t>
            </a:r>
            <a:endParaRPr lang="en-US" sz="2000" dirty="0"/>
          </a:p>
          <a:p>
            <a:pPr marL="228600" indent="-228600">
              <a:spcAft>
                <a:spcPts val="1300"/>
              </a:spcAft>
              <a:buSzPct val="100000"/>
              <a:buChar char="▪"/>
            </a:pPr>
            <a:r>
              <a:rPr lang="en-US" sz="2000" dirty="0">
                <a:solidFill>
                  <a:srgbClr val="17223B"/>
                </a:solidFill>
                <a:latin typeface="Calibri" pitchFamily="34" charset="0"/>
                <a:ea typeface="Calibri" pitchFamily="34" charset="-122"/>
                <a:cs typeface="Calibri" pitchFamily="34" charset="-120"/>
              </a:rPr>
              <a:t>Solve a small linear system with backslash</a:t>
            </a:r>
            <a:endParaRPr lang="en-US" sz="2000" dirty="0"/>
          </a:p>
        </p:txBody>
      </p:sp>
      <p:sp>
        <p:nvSpPr>
          <p:cNvPr id="7" name="Shape 5"/>
          <p:cNvSpPr/>
          <p:nvPr/>
        </p:nvSpPr>
        <p:spPr>
          <a:xfrm>
            <a:off x="6903720" y="1600200"/>
            <a:ext cx="4709160" cy="4526280"/>
          </a:xfrm>
          <a:prstGeom prst="roundRect">
            <a:avLst>
              <a:gd name="adj" fmla="val 2424"/>
            </a:avLst>
          </a:prstGeom>
          <a:solidFill>
            <a:srgbClr val="071A33"/>
          </a:solidFill>
          <a:ln w="12700">
            <a:solidFill>
              <a:srgbClr val="D7DEE7"/>
            </a:solidFill>
            <a:prstDash val="solid"/>
          </a:ln>
        </p:spPr>
        <p:txBody>
          <a:bodyPr/>
          <a:lstStyle/>
          <a:p>
            <a:endParaRPr lang="en-US"/>
          </a:p>
        </p:txBody>
      </p:sp>
      <p:sp>
        <p:nvSpPr>
          <p:cNvPr id="8" name="Text 6"/>
          <p:cNvSpPr txBox="1"/>
          <p:nvPr/>
        </p:nvSpPr>
        <p:spPr>
          <a:xfrm>
            <a:off x="7132320" y="1783080"/>
            <a:ext cx="4251960" cy="4160520"/>
          </a:xfrm>
          <a:prstGeom prst="rect">
            <a:avLst/>
          </a:prstGeom>
          <a:noFill/>
          <a:ln/>
        </p:spPr>
        <p:txBody>
          <a:bodyPr wrap="square" lIns="0" tIns="0" rIns="0" bIns="0" rtlCol="0" anchor="t"/>
          <a:lstStyle/>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clc; clear;</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I3 = eye(3);</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D = diag([2 4 6]);</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A = [4 7; 2 6];</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detA = det(A);  invA = inv(A);</a:t>
            </a:r>
            <a:endParaRPr lang="en-US" sz="1400" dirty="0"/>
          </a:p>
          <a:p>
            <a:pPr marL="0" indent="0">
              <a:spcAft>
                <a:spcPts val="400"/>
              </a:spcAft>
              <a:buNone/>
            </a:pP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b = [5; 1];</a:t>
            </a:r>
            <a:endParaRPr lang="en-US" sz="1400" dirty="0"/>
          </a:p>
          <a:p>
            <a:pPr marL="0" indent="0">
              <a:spcAft>
                <a:spcPts val="400"/>
              </a:spcAft>
              <a:buNone/>
            </a:pPr>
            <a:r>
              <a:rPr lang="en-US" sz="1400" dirty="0">
                <a:solidFill>
                  <a:srgbClr val="D8E6F2"/>
                </a:solidFill>
                <a:latin typeface="Courier New" pitchFamily="34" charset="0"/>
                <a:ea typeface="Courier New" pitchFamily="34" charset="-122"/>
                <a:cs typeface="Courier New" pitchFamily="34" charset="-120"/>
              </a:rPr>
              <a:t>x = [1 2; 3 -1] \ b</a:t>
            </a:r>
            <a:endParaRPr lang="en-US" sz="1400" dirty="0"/>
          </a:p>
        </p:txBody>
      </p:sp>
      <p:sp>
        <p:nvSpPr>
          <p:cNvPr id="9" name="Text 7"/>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10" name="Text 8"/>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B2545"/>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7772400" cy="292608"/>
          </a:xfrm>
          <a:prstGeom prst="rect">
            <a:avLst/>
          </a:prstGeom>
          <a:noFill/>
          <a:ln/>
        </p:spPr>
        <p:txBody>
          <a:bodyPr wrap="square" lIns="0" tIns="0" rIns="0" bIns="0" rtlCol="0" anchor="ctr"/>
          <a:lstStyle/>
          <a:p>
            <a:pPr marL="0" indent="0">
              <a:buNone/>
            </a:pPr>
            <a:r>
              <a:rPr lang="en-US" sz="1300" b="1" kern="0" spc="200" dirty="0">
                <a:solidFill>
                  <a:srgbClr val="C9A227"/>
                </a:solidFill>
                <a:latin typeface="Calibri" pitchFamily="34" charset="0"/>
                <a:ea typeface="Calibri" pitchFamily="34" charset="-122"/>
                <a:cs typeface="Calibri" pitchFamily="34" charset="-120"/>
              </a:rPr>
              <a:t>WRAP-UP</a:t>
            </a:r>
            <a:endParaRPr lang="en-US" sz="1300" dirty="0"/>
          </a:p>
        </p:txBody>
      </p:sp>
      <p:sp>
        <p:nvSpPr>
          <p:cNvPr id="3" name="Text 1"/>
          <p:cNvSpPr txBox="1"/>
          <p:nvPr/>
        </p:nvSpPr>
        <p:spPr>
          <a:xfrm>
            <a:off x="548640" y="676656"/>
            <a:ext cx="10607040" cy="777240"/>
          </a:xfrm>
          <a:prstGeom prst="rect">
            <a:avLst/>
          </a:prstGeom>
          <a:noFill/>
          <a:ln/>
        </p:spPr>
        <p:txBody>
          <a:bodyPr wrap="square" lIns="0" tIns="0" rIns="0" bIns="0"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Week 3 Summary &amp; Lab Deliverables</a:t>
            </a:r>
            <a:endParaRPr lang="en-US" sz="2800" dirty="0"/>
          </a:p>
        </p:txBody>
      </p:sp>
      <p:sp>
        <p:nvSpPr>
          <p:cNvPr id="4" name="Shape 2"/>
          <p:cNvSpPr/>
          <p:nvPr/>
        </p:nvSpPr>
        <p:spPr>
          <a:xfrm>
            <a:off x="10134295" y="365760"/>
            <a:ext cx="1508760" cy="365760"/>
          </a:xfrm>
          <a:prstGeom prst="roundRect">
            <a:avLst>
              <a:gd name="adj" fmla="val 50000"/>
            </a:avLst>
          </a:prstGeom>
          <a:solidFill>
            <a:srgbClr val="12335A"/>
          </a:solidFill>
          <a:ln w="12700">
            <a:solidFill>
              <a:srgbClr val="C9A227"/>
            </a:solidFill>
            <a:prstDash val="solid"/>
          </a:ln>
        </p:spPr>
        <p:txBody>
          <a:bodyPr/>
          <a:lstStyle/>
          <a:p>
            <a:endParaRPr lang="en-US"/>
          </a:p>
        </p:txBody>
      </p:sp>
      <p:sp>
        <p:nvSpPr>
          <p:cNvPr id="5" name="Text 3"/>
          <p:cNvSpPr txBox="1"/>
          <p:nvPr/>
        </p:nvSpPr>
        <p:spPr>
          <a:xfrm>
            <a:off x="10134295" y="365760"/>
            <a:ext cx="1508760" cy="365760"/>
          </a:xfrm>
          <a:prstGeom prst="rect">
            <a:avLst/>
          </a:prstGeom>
          <a:noFill/>
          <a:ln/>
        </p:spPr>
        <p:txBody>
          <a:bodyPr wrap="square" lIns="0" tIns="0" rIns="0" bIns="0" rtlCol="0" anchor="ctr"/>
          <a:lstStyle/>
          <a:p>
            <a:pPr marL="0" indent="0" algn="ctr">
              <a:buNone/>
            </a:pPr>
            <a:r>
              <a:rPr lang="en-US" sz="1150" b="1" dirty="0">
                <a:solidFill>
                  <a:srgbClr val="C9A227"/>
                </a:solidFill>
                <a:latin typeface="Calibri" pitchFamily="34" charset="0"/>
                <a:ea typeface="Calibri" pitchFamily="34" charset="-122"/>
                <a:cs typeface="Calibri" pitchFamily="34" charset="-120"/>
              </a:rPr>
              <a:t>⏱  4:24 PM</a:t>
            </a:r>
            <a:endParaRPr lang="en-US" sz="1150" dirty="0"/>
          </a:p>
        </p:txBody>
      </p:sp>
      <p:sp>
        <p:nvSpPr>
          <p:cNvPr id="6" name="Shape 4"/>
          <p:cNvSpPr/>
          <p:nvPr/>
        </p:nvSpPr>
        <p:spPr>
          <a:xfrm>
            <a:off x="548640" y="1600200"/>
            <a:ext cx="11064240" cy="795528"/>
          </a:xfrm>
          <a:prstGeom prst="roundRect">
            <a:avLst>
              <a:gd name="adj" fmla="val 11494"/>
            </a:avLst>
          </a:prstGeom>
          <a:solidFill>
            <a:srgbClr val="12335A"/>
          </a:solidFill>
          <a:ln/>
        </p:spPr>
        <p:txBody>
          <a:bodyPr/>
          <a:lstStyle/>
          <a:p>
            <a:endParaRPr lang="en-US" sz="1600"/>
          </a:p>
        </p:txBody>
      </p:sp>
      <p:sp>
        <p:nvSpPr>
          <p:cNvPr id="7" name="Shape 5"/>
          <p:cNvSpPr/>
          <p:nvPr/>
        </p:nvSpPr>
        <p:spPr>
          <a:xfrm>
            <a:off x="713232" y="1796796"/>
            <a:ext cx="402336" cy="402336"/>
          </a:xfrm>
          <a:prstGeom prst="ellipse">
            <a:avLst/>
          </a:prstGeom>
          <a:solidFill>
            <a:srgbClr val="C9A227"/>
          </a:solidFill>
          <a:ln/>
        </p:spPr>
        <p:txBody>
          <a:bodyPr/>
          <a:lstStyle/>
          <a:p>
            <a:endParaRPr lang="en-US" sz="1600"/>
          </a:p>
        </p:txBody>
      </p:sp>
      <p:sp>
        <p:nvSpPr>
          <p:cNvPr id="8" name="Text 6"/>
          <p:cNvSpPr txBox="1"/>
          <p:nvPr/>
        </p:nvSpPr>
        <p:spPr>
          <a:xfrm>
            <a:off x="713232" y="1796796"/>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9" name="Text 7"/>
          <p:cNvSpPr txBox="1"/>
          <p:nvPr/>
        </p:nvSpPr>
        <p:spPr>
          <a:xfrm>
            <a:off x="1280160" y="1600200"/>
            <a:ext cx="10149840" cy="7955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Add/subtract need equal size; multiplication needs matching inner dimensions</a:t>
            </a:r>
            <a:endParaRPr lang="en-US" sz="1600" dirty="0"/>
          </a:p>
        </p:txBody>
      </p:sp>
      <p:sp>
        <p:nvSpPr>
          <p:cNvPr id="10" name="Shape 8"/>
          <p:cNvSpPr/>
          <p:nvPr/>
        </p:nvSpPr>
        <p:spPr>
          <a:xfrm>
            <a:off x="548640" y="2505456"/>
            <a:ext cx="11064240" cy="795528"/>
          </a:xfrm>
          <a:prstGeom prst="roundRect">
            <a:avLst>
              <a:gd name="adj" fmla="val 11494"/>
            </a:avLst>
          </a:prstGeom>
          <a:solidFill>
            <a:srgbClr val="12335A"/>
          </a:solidFill>
          <a:ln/>
        </p:spPr>
        <p:txBody>
          <a:bodyPr/>
          <a:lstStyle/>
          <a:p>
            <a:endParaRPr lang="en-US" sz="1600"/>
          </a:p>
        </p:txBody>
      </p:sp>
      <p:sp>
        <p:nvSpPr>
          <p:cNvPr id="11" name="Shape 9"/>
          <p:cNvSpPr/>
          <p:nvPr/>
        </p:nvSpPr>
        <p:spPr>
          <a:xfrm>
            <a:off x="713232" y="2702052"/>
            <a:ext cx="402336" cy="402336"/>
          </a:xfrm>
          <a:prstGeom prst="ellipse">
            <a:avLst/>
          </a:prstGeom>
          <a:solidFill>
            <a:srgbClr val="C9A227"/>
          </a:solidFill>
          <a:ln/>
        </p:spPr>
        <p:txBody>
          <a:bodyPr/>
          <a:lstStyle/>
          <a:p>
            <a:endParaRPr lang="en-US" sz="1600"/>
          </a:p>
        </p:txBody>
      </p:sp>
      <p:sp>
        <p:nvSpPr>
          <p:cNvPr id="12" name="Text 10"/>
          <p:cNvSpPr txBox="1"/>
          <p:nvPr/>
        </p:nvSpPr>
        <p:spPr>
          <a:xfrm>
            <a:off x="713232" y="2702052"/>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3" name="Text 11"/>
          <p:cNvSpPr txBox="1"/>
          <p:nvPr/>
        </p:nvSpPr>
        <p:spPr>
          <a:xfrm>
            <a:off x="1280160" y="2505456"/>
            <a:ext cx="10149840" cy="7955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Dot operators (.*, ./, .^) act element-by-element — not linear algebra</a:t>
            </a:r>
            <a:endParaRPr lang="en-US" sz="1600" dirty="0"/>
          </a:p>
        </p:txBody>
      </p:sp>
      <p:sp>
        <p:nvSpPr>
          <p:cNvPr id="14" name="Shape 12"/>
          <p:cNvSpPr/>
          <p:nvPr/>
        </p:nvSpPr>
        <p:spPr>
          <a:xfrm>
            <a:off x="548640" y="3410712"/>
            <a:ext cx="11064240" cy="795528"/>
          </a:xfrm>
          <a:prstGeom prst="roundRect">
            <a:avLst>
              <a:gd name="adj" fmla="val 11494"/>
            </a:avLst>
          </a:prstGeom>
          <a:solidFill>
            <a:srgbClr val="12335A"/>
          </a:solidFill>
          <a:ln/>
        </p:spPr>
        <p:txBody>
          <a:bodyPr/>
          <a:lstStyle/>
          <a:p>
            <a:endParaRPr lang="en-US" sz="1600"/>
          </a:p>
        </p:txBody>
      </p:sp>
      <p:sp>
        <p:nvSpPr>
          <p:cNvPr id="15" name="Shape 13"/>
          <p:cNvSpPr/>
          <p:nvPr/>
        </p:nvSpPr>
        <p:spPr>
          <a:xfrm>
            <a:off x="713232" y="3607308"/>
            <a:ext cx="402336" cy="402336"/>
          </a:xfrm>
          <a:prstGeom prst="ellipse">
            <a:avLst/>
          </a:prstGeom>
          <a:solidFill>
            <a:srgbClr val="C9A227"/>
          </a:solidFill>
          <a:ln/>
        </p:spPr>
        <p:txBody>
          <a:bodyPr/>
          <a:lstStyle/>
          <a:p>
            <a:endParaRPr lang="en-US" sz="1600"/>
          </a:p>
        </p:txBody>
      </p:sp>
      <p:sp>
        <p:nvSpPr>
          <p:cNvPr id="16" name="Text 14"/>
          <p:cNvSpPr txBox="1"/>
          <p:nvPr/>
        </p:nvSpPr>
        <p:spPr>
          <a:xfrm>
            <a:off x="713232" y="3607308"/>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17" name="Text 15"/>
          <p:cNvSpPr txBox="1"/>
          <p:nvPr/>
        </p:nvSpPr>
        <p:spPr>
          <a:xfrm>
            <a:off x="1280160" y="3410712"/>
            <a:ext cx="10149840" cy="7955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[A B] / [A;B] and horzcat/vertcat/cat join matrices together</a:t>
            </a:r>
            <a:endParaRPr lang="en-US" sz="1600" dirty="0"/>
          </a:p>
        </p:txBody>
      </p:sp>
      <p:sp>
        <p:nvSpPr>
          <p:cNvPr id="18" name="Shape 16"/>
          <p:cNvSpPr/>
          <p:nvPr/>
        </p:nvSpPr>
        <p:spPr>
          <a:xfrm>
            <a:off x="548640" y="4315968"/>
            <a:ext cx="11064240" cy="795528"/>
          </a:xfrm>
          <a:prstGeom prst="roundRect">
            <a:avLst>
              <a:gd name="adj" fmla="val 11494"/>
            </a:avLst>
          </a:prstGeom>
          <a:solidFill>
            <a:srgbClr val="12335A"/>
          </a:solidFill>
          <a:ln/>
        </p:spPr>
        <p:txBody>
          <a:bodyPr/>
          <a:lstStyle/>
          <a:p>
            <a:endParaRPr lang="en-US" sz="1600"/>
          </a:p>
        </p:txBody>
      </p:sp>
      <p:sp>
        <p:nvSpPr>
          <p:cNvPr id="19" name="Shape 17"/>
          <p:cNvSpPr/>
          <p:nvPr/>
        </p:nvSpPr>
        <p:spPr>
          <a:xfrm>
            <a:off x="713232" y="4512564"/>
            <a:ext cx="402336" cy="402336"/>
          </a:xfrm>
          <a:prstGeom prst="ellipse">
            <a:avLst/>
          </a:prstGeom>
          <a:solidFill>
            <a:srgbClr val="C9A227"/>
          </a:solidFill>
          <a:ln/>
        </p:spPr>
        <p:txBody>
          <a:bodyPr/>
          <a:lstStyle/>
          <a:p>
            <a:endParaRPr lang="en-US" sz="1600"/>
          </a:p>
        </p:txBody>
      </p:sp>
      <p:sp>
        <p:nvSpPr>
          <p:cNvPr id="20" name="Text 18"/>
          <p:cNvSpPr txBox="1"/>
          <p:nvPr/>
        </p:nvSpPr>
        <p:spPr>
          <a:xfrm>
            <a:off x="713232" y="4512564"/>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1" name="Text 19"/>
          <p:cNvSpPr txBox="1"/>
          <p:nvPr/>
        </p:nvSpPr>
        <p:spPr>
          <a:xfrm>
            <a:off x="1280160" y="4315968"/>
            <a:ext cx="10149840" cy="7955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det(), inv(), and A\b cover core matrix algebra &amp; linear systems</a:t>
            </a:r>
            <a:endParaRPr lang="en-US" sz="1600" dirty="0"/>
          </a:p>
        </p:txBody>
      </p:sp>
      <p:sp>
        <p:nvSpPr>
          <p:cNvPr id="22" name="Shape 20"/>
          <p:cNvSpPr/>
          <p:nvPr/>
        </p:nvSpPr>
        <p:spPr>
          <a:xfrm>
            <a:off x="548640" y="5221224"/>
            <a:ext cx="11064240" cy="795528"/>
          </a:xfrm>
          <a:prstGeom prst="roundRect">
            <a:avLst>
              <a:gd name="adj" fmla="val 11494"/>
            </a:avLst>
          </a:prstGeom>
          <a:solidFill>
            <a:srgbClr val="12335A"/>
          </a:solidFill>
          <a:ln/>
        </p:spPr>
        <p:txBody>
          <a:bodyPr/>
          <a:lstStyle/>
          <a:p>
            <a:endParaRPr lang="en-US" sz="1600"/>
          </a:p>
        </p:txBody>
      </p:sp>
      <p:sp>
        <p:nvSpPr>
          <p:cNvPr id="23" name="Shape 21"/>
          <p:cNvSpPr/>
          <p:nvPr/>
        </p:nvSpPr>
        <p:spPr>
          <a:xfrm>
            <a:off x="713232" y="5417820"/>
            <a:ext cx="402336" cy="402336"/>
          </a:xfrm>
          <a:prstGeom prst="ellipse">
            <a:avLst/>
          </a:prstGeom>
          <a:solidFill>
            <a:srgbClr val="C9A227"/>
          </a:solidFill>
          <a:ln/>
        </p:spPr>
        <p:txBody>
          <a:bodyPr/>
          <a:lstStyle/>
          <a:p>
            <a:endParaRPr lang="en-US" sz="1600"/>
          </a:p>
        </p:txBody>
      </p:sp>
      <p:sp>
        <p:nvSpPr>
          <p:cNvPr id="24" name="Text 22"/>
          <p:cNvSpPr txBox="1"/>
          <p:nvPr/>
        </p:nvSpPr>
        <p:spPr>
          <a:xfrm>
            <a:off x="713232" y="5417820"/>
            <a:ext cx="402336" cy="402336"/>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a:t>
            </a:r>
            <a:endParaRPr lang="en-US" sz="1600" dirty="0"/>
          </a:p>
        </p:txBody>
      </p:sp>
      <p:sp>
        <p:nvSpPr>
          <p:cNvPr id="25" name="Text 23"/>
          <p:cNvSpPr txBox="1"/>
          <p:nvPr/>
        </p:nvSpPr>
        <p:spPr>
          <a:xfrm>
            <a:off x="1280160" y="5221224"/>
            <a:ext cx="10149840" cy="795528"/>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Submit Labs 1, 2 &amp; 3 — next week: 2D Plotting of geophysics data</a:t>
            </a:r>
            <a:endParaRPr lang="en-US" sz="1600" dirty="0"/>
          </a:p>
        </p:txBody>
      </p:sp>
      <p:sp>
        <p:nvSpPr>
          <p:cNvPr id="26" name="Text 24"/>
          <p:cNvSpPr txBox="1"/>
          <p:nvPr/>
        </p:nvSpPr>
        <p:spPr>
          <a:xfrm>
            <a:off x="548640" y="6547104"/>
            <a:ext cx="7315200" cy="256032"/>
          </a:xfrm>
          <a:prstGeom prst="rect">
            <a:avLst/>
          </a:prstGeom>
          <a:noFill/>
          <a:ln/>
        </p:spPr>
        <p:txBody>
          <a:bodyPr wrap="square" lIns="0" tIns="0" rIns="0" bIns="0" rtlCol="0" anchor="ctr"/>
          <a:lstStyle/>
          <a:p>
            <a:pPr marL="0" indent="0">
              <a:buNone/>
            </a:pPr>
            <a:r>
              <a:rPr lang="en-US" sz="900" dirty="0">
                <a:solidFill>
                  <a:srgbClr val="5C6B7A"/>
                </a:solidFill>
                <a:latin typeface="Calibri" pitchFamily="34" charset="0"/>
                <a:ea typeface="Calibri" pitchFamily="34" charset="-122"/>
                <a:cs typeface="Calibri" pitchFamily="34" charset="-120"/>
              </a:rPr>
              <a:t>Bahria University  •  GEO 321 / GEL 321  •  Computing with MATLAB</a:t>
            </a:r>
            <a:endParaRPr lang="en-US" sz="900" dirty="0"/>
          </a:p>
        </p:txBody>
      </p:sp>
      <p:sp>
        <p:nvSpPr>
          <p:cNvPr id="27" name="Text 25"/>
          <p:cNvSpPr txBox="1"/>
          <p:nvPr/>
        </p:nvSpPr>
        <p:spPr>
          <a:xfrm>
            <a:off x="10241280" y="6547104"/>
            <a:ext cx="1417320" cy="256032"/>
          </a:xfrm>
          <a:prstGeom prst="rect">
            <a:avLst/>
          </a:prstGeom>
          <a:noFill/>
          <a:ln/>
        </p:spPr>
        <p:txBody>
          <a:bodyPr wrap="square" lIns="0" tIns="0" rIns="0" bIns="0" rtlCol="0" anchor="ctr"/>
          <a:lstStyle/>
          <a:p>
            <a:pPr marL="0" indent="0" algn="r">
              <a:buNone/>
            </a:pPr>
            <a:r>
              <a:rPr lang="en-US" sz="900" dirty="0">
                <a:solidFill>
                  <a:srgbClr val="5C6B7A"/>
                </a:solidFill>
                <a:latin typeface="Calibri" pitchFamily="34" charset="0"/>
                <a:ea typeface="Calibri" pitchFamily="34" charset="-122"/>
                <a:cs typeface="Calibri" pitchFamily="34" charset="-120"/>
              </a:rPr>
              <a:t>Week 3  |  27</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TotalTime>
  <Words>5186</Words>
  <Application>Microsoft Office PowerPoint</Application>
  <PresentationFormat>Widescreen</PresentationFormat>
  <Paragraphs>571</Paragraphs>
  <Slides>27</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FAHEEM SHAUKAT</cp:lastModifiedBy>
  <cp:revision>8</cp:revision>
  <dcterms:created xsi:type="dcterms:W3CDTF">2026-09-17T15:09:48Z</dcterms:created>
  <dcterms:modified xsi:type="dcterms:W3CDTF">2026-09-17T19:18:16Z</dcterms:modified>
</cp:coreProperties>
</file>